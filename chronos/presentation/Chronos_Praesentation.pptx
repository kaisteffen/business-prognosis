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  <p:sldMasterId id="2147483663" r:id="rId3"/>
  </p:sldMasterIdLst>
  <p:notesMasterIdLst>
    <p:notesMasterId r:id="rId31"/>
  </p:notesMasterIdLst>
  <p:sldIdLst>
    <p:sldId id="283" r:id="rId4"/>
    <p:sldId id="301" r:id="rId5"/>
    <p:sldId id="258" r:id="rId6"/>
    <p:sldId id="260" r:id="rId7"/>
    <p:sldId id="300" r:id="rId8"/>
    <p:sldId id="261" r:id="rId9"/>
    <p:sldId id="324" r:id="rId10"/>
    <p:sldId id="262" r:id="rId11"/>
    <p:sldId id="325" r:id="rId12"/>
    <p:sldId id="307" r:id="rId13"/>
    <p:sldId id="269" r:id="rId14"/>
    <p:sldId id="312" r:id="rId15"/>
    <p:sldId id="316" r:id="rId16"/>
    <p:sldId id="291" r:id="rId17"/>
    <p:sldId id="272" r:id="rId18"/>
    <p:sldId id="317" r:id="rId19"/>
    <p:sldId id="309" r:id="rId20"/>
    <p:sldId id="276" r:id="rId21"/>
    <p:sldId id="320" r:id="rId22"/>
    <p:sldId id="321" r:id="rId23"/>
    <p:sldId id="322" r:id="rId24"/>
    <p:sldId id="302" r:id="rId25"/>
    <p:sldId id="280" r:id="rId26"/>
    <p:sldId id="327" r:id="rId27"/>
    <p:sldId id="328" r:id="rId28"/>
    <p:sldId id="326" r:id="rId29"/>
    <p:sldId id="304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22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tableStyles" Target="tableStyles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4125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Willkommen. Chronos – benannt nach dem griechischen Titan der Zeit. Das Paper erschien 2024 in den Transactions on Machine Learning Research und stammt von AWS AI Labs.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Kurze Agenda-Übersicht. Wir werden sowohl die Theorie als auch praktische Ergebnisse besprechen.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zentrale Frage des Papers: Kann man ein Sprachmodell direkt für Zeitreihen nutzen, ohne zeitreihen-spezifische Modifikationen?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Kerndiagramm aus dem Paper. Links Tokenisierung, Mitte Training mit Cross-Entropy, rechts autoregressive Inferenz mit Sampling.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Sample-Pfade werden autoregressiv generiert. Daraus schätzen wir Quantile für WQL-Bewertung und Median als Punktprognose für MASE.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Benchmark II: 27 Datensätze, die Chronos nie gesehen hat. Dennoch deutlich besser als lokale Modelle und vergleichbar mit besten task-spezifischen DL-Modellen. Moirai könnte Vorteil haben, da Benchmark-II-Daten teils in dessen Pretraining-Corpus waren.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zentrale Stärken. Besonders bemerkenswert: Das Skalierungsgesetz — Modell-Performance verbessert sich konsistent mit Größe und Training, genau wie bei Sprachmodellen.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43A56-BC33-8CCD-0C6D-9496062C5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E2A345-4FCB-62CA-2FD3-6B7F5F4344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C7C5B4-B793-BFAE-A908-E6BE46F38F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189E77-D1DF-47A3-E4DA-186202A056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5636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C0B74-8BFE-8136-3C03-279DA1CDB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A1A520-2C37-EC58-1864-46B29DE2D5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E9E041-09F1-0E76-F93C-CAF3884A47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Benchmark II: 27 Datensätze, die Chronos nie gesehen hat. Dennoch deutlich besser als lokale Modelle und vergleichbar mit besten task-spezifischen DL-Modellen. Moirai könnte Vorteil haben, da Benchmark-II-Daten teils in dessen Pretraining-Corpus waren.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6BDFBC-FE78-6DE8-CF43-7B7A738D76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9524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Die Stärke von Chronos liegt nicht in einer ausgeklügelten Zeitreihen-Architektur, sondern in der cleveren Tokenisierung und dem Skalieren auf viele Datensätze.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60B3E-1CF2-28A4-0A27-61DA36DE8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C13126-2BEC-532F-5C3E-02A5437705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7087B0-327D-AB68-0207-CDE2945F99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Die Stärke von Chronos liegt nicht in einer ausgeklügelten Zeitreihen-Architektur, sondern in der cleveren Tokenisierung und dem Skalieren auf viele Datensätze.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70237-91F4-7C23-418A-F5A43A0AEC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8418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68EBEE-FA85-B190-B4E5-DCDBE4DD20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E0291A2-CFF7-FB3F-A35B-4EE5C3F907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BFBC51F-7143-44FA-1AD8-B8139CBB3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AF921-6E6A-493E-B856-FABFF2D39F88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03096A-B3E3-B5D0-81EA-9BD66625D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773F02D-22FB-3B18-8EE7-805D3699C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1F16F-0DEC-49C4-846A-91711B7A4C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7975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1283BC-BBE9-1026-E891-7A7A74CEC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69CBE7-10BF-9587-1110-61DFDF9D7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D3D3DF-3041-F9CB-8BAF-34955E5C5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AF921-6E6A-493E-B856-FABFF2D39F88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CF5446-48FE-E6F4-48B1-D274BDD96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206627-3F60-66B8-5A01-278142AC9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1F16F-0DEC-49C4-846A-91711B7A4C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2631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CBE23F-37D9-CE51-3DEE-6E0E4ABB7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6A2883F-43A3-8E23-00BB-7A0DDFA04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4D444D5-34F0-4422-79F8-628C6A7BC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AF921-6E6A-493E-B856-FABFF2D39F88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EB04D15-E7A8-D992-FF86-2471D8626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48B3A5A-0602-C589-B55F-E15EA6ACA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1F16F-0DEC-49C4-846A-91711B7A4C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2918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481088-C8F1-821D-5F6D-F4A139563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6E64E18-3361-B6E8-B3B0-E570E5DCC6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52B453F-8BBC-298D-5F04-D31839DF63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6733C3A-CBFE-C02F-1E4D-6CB27C413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AF921-6E6A-493E-B856-FABFF2D39F88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66C0061-99AB-E380-0B80-5CF1556D4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798CDA4-28D3-AF5A-3B6D-A64E607AE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1F16F-0DEC-49C4-846A-91711B7A4C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2951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B30657-F731-DDE0-0984-F41BC2660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48ADE8D-1C69-BBC3-3970-A9580940EA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DAA03D3-1475-6C26-3079-DADAFAECC0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CDC8EDF-7E48-D49C-04A4-04C1131FA3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AA96C88-7DC9-9974-B11E-31DECBD200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AA70E0D-0F25-B212-B420-0C186E830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AF921-6E6A-493E-B856-FABFF2D39F88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EE9930F-B317-0A7F-1B58-F0AAC89D3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EBB5283-F5D1-95B8-E435-6BC248969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1F16F-0DEC-49C4-846A-91711B7A4C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9858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F57039-16CF-D7F6-1CCF-9F96941E1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D9B3A7C-4E6A-0BAE-7EEE-D1FCE0F5A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AF921-6E6A-493E-B856-FABFF2D39F88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96DFFB8-98C4-32B9-B9F4-2FFFEB8D3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E6EA058-9C0D-9CC8-1841-4E89C09AB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1F16F-0DEC-49C4-846A-91711B7A4C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2829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1362F62-1381-B257-16B8-29FDA2D15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AF921-6E6A-493E-B856-FABFF2D39F88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47C0CDE-9BD7-1B71-D0D3-EE01FD2F6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5693B61-58B1-A9A8-9D4D-9C49E2D7B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1F16F-0DEC-49C4-846A-91711B7A4C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1370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8F7DF3-11EA-CB60-DDBA-2EEA97B53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CB7AC85-1F5E-4EA0-F24D-043DED1DF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A8C93BD-256B-70FD-5211-4246DB3A72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D8250F-E919-10B7-726F-6825D7245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AF921-6E6A-493E-B856-FABFF2D39F88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D51EAE0-9097-34D0-08A6-795FE45B0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0291CB1-1E04-1194-F77B-D987DD7A5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1F16F-0DEC-49C4-846A-91711B7A4C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7386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AB9140-CF22-6639-B8F2-BD71EAC28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7919F94-3AFE-E4EF-1113-28AB39D98C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E9A6D56-F94F-4001-8146-D24942C51B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6FD8B37-DEC7-A65D-764E-CA3A0A163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AF921-6E6A-493E-B856-FABFF2D39F88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C231117-372B-9018-6947-E167A03F7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4B234F9-5F58-5EF4-342F-F0CF2467B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1F16F-0DEC-49C4-846A-91711B7A4C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5896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596E91-FF7D-FB7B-9349-13D55F115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AA0EAA3-472A-FB56-3845-0091D53819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CDDD5F-E734-3000-D8F0-5FF22EB31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AF921-6E6A-493E-B856-FABFF2D39F88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559D468-61DF-47CC-D382-DA8C81102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241999C-28CF-544A-6EB2-B5842E079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1F16F-0DEC-49C4-846A-91711B7A4C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56078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F0DE8DA-EEAC-C22E-323E-6A92CB89D4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480C891-2F8D-DB45-CA1A-CBFB017AA6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18B2254-AA50-7AC1-E40F-43FA5B163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AF921-6E6A-493E-B856-FABFF2D39F88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ECA47FC-98E6-6014-76BE-4F55CE147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CA998A2-F49C-9103-F403-56E2B1EB7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1F16F-0DEC-49C4-846A-91711B7A4C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7117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70141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4975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7689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3080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4888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3387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4765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0580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7806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670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0683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233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095D9CD-E560-1ED8-147D-01604C363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77086FD-58DD-8854-7D1D-5022295BD9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136C1DF-8590-8FE8-993C-39FE3AB361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9AF921-6E6A-493E-B856-FABFF2D39F88}" type="datetimeFigureOut">
              <a:rPr lang="de-DE" smtClean="0"/>
              <a:t>09.07.2026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FA8A66C-058A-C059-D716-265CD3CD91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08A4988-9138-2FC6-2B52-39EF851709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B1F16F-0DEC-49C4-846A-91711B7A4C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1178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427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457200"/>
            <a:ext cx="3657600" cy="36576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223760" y="2560320"/>
            <a:ext cx="2286000" cy="2286000"/>
          </a:xfrm>
          <a:prstGeom prst="ellipse">
            <a:avLst/>
          </a:prstGeom>
          <a:solidFill>
            <a:srgbClr val="00B4D8">
              <a:alpha val="20000"/>
            </a:srgbClr>
          </a:solidFill>
          <a:ln w="635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Χρόνος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90E0E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»Zeit« — der griechische Gott der Zeit und des Wandels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0" cap="none" spc="8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CHRONOS</a:t>
            </a: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7315200" cy="8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90E0E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Wie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90E0E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Zeitreihen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90E0E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90E0E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zu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90E0E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90E0E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Vokabeln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90E0E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90E0E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werden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48CAE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Zero-Shot Performance auf </a:t>
            </a:r>
            <a:r>
              <a:rPr kumimoji="0" lang="en-US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48CAE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ungesehenen</a:t>
            </a: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48CAE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48CAE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Daten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3420000"/>
            <a:ext cx="502920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36000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Kai Steffen  ·  Bettina Gertjerenken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 for Business Prognosis  ·  SoSe 2026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Graduate Campus, Hochschule Aalen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5060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Ansari et al. (2024) — Transactions on Machine Learning Research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82880" y="489204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Chronos | AI for Business Prognosis | SoSe 2026 | Graduate Campus, HS Aalen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D76B5585-79F8-F0BC-44C7-11DB037683A7}"/>
              </a:ext>
            </a:extLst>
          </p:cNvPr>
          <p:cNvGrpSpPr/>
          <p:nvPr/>
        </p:nvGrpSpPr>
        <p:grpSpPr>
          <a:xfrm>
            <a:off x="2491740" y="685800"/>
            <a:ext cx="4160520" cy="4145760"/>
            <a:chOff x="365760" y="685800"/>
            <a:chExt cx="4160520" cy="4145760"/>
          </a:xfrm>
        </p:grpSpPr>
        <p:sp>
          <p:nvSpPr>
            <p:cNvPr id="180" name="Card 9"/>
            <p:cNvSpPr/>
            <p:nvPr/>
          </p:nvSpPr>
          <p:spPr>
            <a:xfrm>
              <a:off x="365760" y="4075560"/>
              <a:ext cx="4160520" cy="756000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outerShdw blurRad="63500" dist="25400" dir="27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DAC30D23-93B7-5FD4-CF09-0720D42940A6}"/>
                </a:ext>
              </a:extLst>
            </p:cNvPr>
            <p:cNvGrpSpPr/>
            <p:nvPr/>
          </p:nvGrpSpPr>
          <p:grpSpPr>
            <a:xfrm>
              <a:off x="365760" y="685800"/>
              <a:ext cx="4160520" cy="3922110"/>
              <a:chOff x="365760" y="685800"/>
              <a:chExt cx="4160520" cy="3922110"/>
            </a:xfrm>
          </p:grpSpPr>
          <p:sp>
            <p:nvSpPr>
              <p:cNvPr id="100" name="Card 1"/>
              <p:cNvSpPr/>
              <p:nvPr/>
            </p:nvSpPr>
            <p:spPr>
              <a:xfrm>
                <a:off x="365760" y="685800"/>
                <a:ext cx="4160520" cy="756000"/>
              </a:xfrm>
              <a:prstGeom prst="roundRect">
                <a:avLst>
                  <a:gd name="adj" fmla="val 7368"/>
                </a:avLst>
              </a:prstGeom>
              <a:solidFill>
                <a:srgbClr val="FFFFFF"/>
              </a:solidFill>
              <a:ln w="6350">
                <a:solidFill>
                  <a:srgbClr val="E2E8F0"/>
                </a:solidFill>
                <a:prstDash val="solid"/>
              </a:ln>
              <a:effectLst>
                <a:outerShdw blurRad="63500" dist="25400" dir="2700000" algn="bl" rotWithShape="0">
                  <a:srgbClr val="000000">
                    <a:alpha val="8000"/>
                  </a:srgb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1" name="Num 1"/>
              <p:cNvSpPr/>
              <p:nvPr/>
            </p:nvSpPr>
            <p:spPr>
              <a:xfrm>
                <a:off x="457200" y="806670"/>
                <a:ext cx="411480" cy="4114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4D8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02" name="Title 1"/>
              <p:cNvSpPr/>
              <p:nvPr/>
            </p:nvSpPr>
            <p:spPr>
              <a:xfrm>
                <a:off x="960120" y="836923"/>
                <a:ext cx="3474720" cy="37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DE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D1B2A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+mn-cs"/>
                  </a:rPr>
                  <a:t>Motivation &amp; Problemstellung</a:t>
                </a:r>
              </a:p>
            </p:txBody>
          </p:sp>
          <p:sp>
            <p:nvSpPr>
              <p:cNvPr id="120" name="Card 3"/>
              <p:cNvSpPr/>
              <p:nvPr/>
            </p:nvSpPr>
            <p:spPr>
              <a:xfrm>
                <a:off x="365760" y="1533240"/>
                <a:ext cx="4160520" cy="756000"/>
              </a:xfrm>
              <a:prstGeom prst="roundRect">
                <a:avLst>
                  <a:gd name="adj" fmla="val 7368"/>
                </a:avLst>
              </a:prstGeom>
              <a:solidFill>
                <a:srgbClr val="FFFFFF"/>
              </a:solidFill>
              <a:ln w="6350">
                <a:solidFill>
                  <a:srgbClr val="E2E8F0"/>
                </a:solidFill>
                <a:prstDash val="solid"/>
              </a:ln>
              <a:effectLst>
                <a:outerShdw blurRad="63500" dist="25400" dir="2700000" algn="bl" rotWithShape="0">
                  <a:srgbClr val="000000">
                    <a:alpha val="8000"/>
                  </a:srgb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1" name="Num 3"/>
              <p:cNvSpPr/>
              <p:nvPr/>
            </p:nvSpPr>
            <p:spPr>
              <a:xfrm>
                <a:off x="457200" y="1654110"/>
                <a:ext cx="411480" cy="4114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4D8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22" name="Title 3"/>
              <p:cNvSpPr/>
              <p:nvPr/>
            </p:nvSpPr>
            <p:spPr>
              <a:xfrm>
                <a:off x="960120" y="1670850"/>
                <a:ext cx="3474720" cy="37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DE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D1B2A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+mn-cs"/>
                  </a:rPr>
                  <a:t>Chronos-Framework</a:t>
                </a:r>
              </a:p>
            </p:txBody>
          </p:sp>
          <p:sp>
            <p:nvSpPr>
              <p:cNvPr id="140" name="Card 5"/>
              <p:cNvSpPr/>
              <p:nvPr/>
            </p:nvSpPr>
            <p:spPr>
              <a:xfrm>
                <a:off x="365760" y="2380680"/>
                <a:ext cx="4160520" cy="756000"/>
              </a:xfrm>
              <a:prstGeom prst="roundRect">
                <a:avLst>
                  <a:gd name="adj" fmla="val 7368"/>
                </a:avLst>
              </a:prstGeom>
              <a:solidFill>
                <a:srgbClr val="FFFFFF"/>
              </a:solidFill>
              <a:ln w="6350">
                <a:solidFill>
                  <a:srgbClr val="E2E8F0"/>
                </a:solidFill>
                <a:prstDash val="solid"/>
              </a:ln>
              <a:effectLst>
                <a:outerShdw blurRad="63500" dist="25400" dir="2700000" algn="bl" rotWithShape="0">
                  <a:srgbClr val="000000">
                    <a:alpha val="8000"/>
                  </a:srgb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1" name="Num 5"/>
              <p:cNvSpPr/>
              <p:nvPr/>
            </p:nvSpPr>
            <p:spPr>
              <a:xfrm>
                <a:off x="457200" y="2501550"/>
                <a:ext cx="411480" cy="4114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4D8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142" name="Title 5"/>
              <p:cNvSpPr/>
              <p:nvPr/>
            </p:nvSpPr>
            <p:spPr>
              <a:xfrm>
                <a:off x="960120" y="2518290"/>
                <a:ext cx="3474720" cy="37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DE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D1B2A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+mn-cs"/>
                  </a:rPr>
                  <a:t>Anwendung und Benchmarking</a:t>
                </a:r>
              </a:p>
            </p:txBody>
          </p:sp>
          <p:sp>
            <p:nvSpPr>
              <p:cNvPr id="160" name="Card 7"/>
              <p:cNvSpPr/>
              <p:nvPr/>
            </p:nvSpPr>
            <p:spPr>
              <a:xfrm>
                <a:off x="365760" y="3228120"/>
                <a:ext cx="4160520" cy="756000"/>
              </a:xfrm>
              <a:prstGeom prst="roundRect">
                <a:avLst>
                  <a:gd name="adj" fmla="val 7368"/>
                </a:avLst>
              </a:prstGeom>
              <a:solidFill>
                <a:srgbClr val="FFFFFF"/>
              </a:solidFill>
              <a:ln w="6350">
                <a:solidFill>
                  <a:srgbClr val="E2E8F0"/>
                </a:solidFill>
                <a:prstDash val="solid"/>
              </a:ln>
              <a:effectLst>
                <a:outerShdw blurRad="63500" dist="25400" dir="2700000" algn="bl" rotWithShape="0">
                  <a:srgbClr val="000000">
                    <a:alpha val="8000"/>
                  </a:srgb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1" name="Num 7"/>
              <p:cNvSpPr/>
              <p:nvPr/>
            </p:nvSpPr>
            <p:spPr>
              <a:xfrm>
                <a:off x="457200" y="3348990"/>
                <a:ext cx="411480" cy="4114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600" b="1" dirty="0">
                    <a:solidFill>
                      <a:srgbClr val="00B4D8"/>
                    </a:solidFill>
                    <a:latin typeface="Calibri" pitchFamily="34" charset="0"/>
                  </a:rPr>
                  <a:t>4</a:t>
                </a:r>
                <a:endPara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B4D8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62" name="Title 7"/>
              <p:cNvSpPr/>
              <p:nvPr/>
            </p:nvSpPr>
            <p:spPr>
              <a:xfrm>
                <a:off x="960120" y="3365730"/>
                <a:ext cx="3474720" cy="37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DE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D1B2A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+mn-cs"/>
                  </a:rPr>
                  <a:t>Von Chronos zu Chronos-2</a:t>
                </a:r>
              </a:p>
            </p:txBody>
          </p:sp>
          <p:sp>
            <p:nvSpPr>
              <p:cNvPr id="163" name="Sub 7"/>
              <p:cNvSpPr/>
              <p:nvPr/>
            </p:nvSpPr>
            <p:spPr>
              <a:xfrm>
                <a:off x="960120" y="3725520"/>
                <a:ext cx="3474720" cy="25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1" name="Num 9"/>
              <p:cNvSpPr/>
              <p:nvPr/>
            </p:nvSpPr>
            <p:spPr>
              <a:xfrm>
                <a:off x="457200" y="4196430"/>
                <a:ext cx="411480" cy="4114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4D8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182" name="Title 9"/>
              <p:cNvSpPr/>
              <p:nvPr/>
            </p:nvSpPr>
            <p:spPr>
              <a:xfrm>
                <a:off x="960120" y="4229910"/>
                <a:ext cx="3474720" cy="37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DE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D1B2A"/>
                    </a:solidFill>
                    <a:effectLst/>
                    <a:uLnTx/>
                    <a:uFillTx/>
                    <a:latin typeface="Calibri" pitchFamily="34" charset="0"/>
                    <a:ea typeface="+mn-ea"/>
                    <a:cs typeface="+mn-cs"/>
                  </a:rPr>
                  <a:t>Zusammenfassung</a:t>
                </a: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731520"/>
            <a:ext cx="3200400" cy="3200400"/>
          </a:xfrm>
          <a:prstGeom prst="ellipse">
            <a:avLst/>
          </a:prstGeom>
          <a:solidFill>
            <a:srgbClr val="00B4D8">
              <a:alpha val="15000"/>
            </a:srgbClr>
          </a:solidFill>
          <a:ln w="635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9144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 &amp; Problemstellung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 </a:t>
            </a:r>
            <a:r>
              <a:rPr lang="en-US" sz="1600" i="1" dirty="0" err="1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statt</a:t>
            </a:r>
            <a:r>
              <a:rPr lang="en-US" sz="16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problemspezifisches</a:t>
            </a:r>
            <a:r>
              <a:rPr lang="en-US" sz="16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Training</a:t>
            </a:r>
            <a:endParaRPr lang="en-US" sz="1600" i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Vision: Foundation Models für Zeitreihen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82880" y="489204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 | AI for Business Prognosis | SoSe 2026 | Graduate Campus, HS Aalen</a:t>
            </a:r>
            <a:endParaRPr lang="en-US" sz="800" dirty="0"/>
          </a:p>
        </p:txBody>
      </p: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7665C3CC-4C8C-D15C-E625-4FA358DE03CB}"/>
              </a:ext>
            </a:extLst>
          </p:cNvPr>
          <p:cNvGrpSpPr/>
          <p:nvPr/>
        </p:nvGrpSpPr>
        <p:grpSpPr>
          <a:xfrm>
            <a:off x="1805940" y="2011680"/>
            <a:ext cx="2651760" cy="2651760"/>
            <a:chOff x="320040" y="1280160"/>
            <a:chExt cx="2651760" cy="2651760"/>
          </a:xfrm>
        </p:grpSpPr>
        <p:sp>
          <p:nvSpPr>
            <p:cNvPr id="6" name="Shape 4"/>
            <p:cNvSpPr/>
            <p:nvPr/>
          </p:nvSpPr>
          <p:spPr>
            <a:xfrm>
              <a:off x="320040" y="1280160"/>
              <a:ext cx="2651760" cy="2475411"/>
            </a:xfrm>
            <a:prstGeom prst="roundRect">
              <a:avLst>
                <a:gd name="adj" fmla="val 3448"/>
              </a:avLst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outerShdw blurRad="101600" dist="381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de-DE"/>
            </a:p>
          </p:txBody>
        </p:sp>
        <p:sp>
          <p:nvSpPr>
            <p:cNvPr id="8" name="Text 6"/>
            <p:cNvSpPr/>
            <p:nvPr/>
          </p:nvSpPr>
          <p:spPr>
            <a:xfrm>
              <a:off x="411480" y="1947999"/>
              <a:ext cx="24688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 err="1">
                  <a:solidFill>
                    <a:srgbClr val="00B4D8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Einmal</a:t>
              </a:r>
              <a:r>
                <a:rPr lang="en-US" sz="1500" b="1" dirty="0">
                  <a:solidFill>
                    <a:srgbClr val="00B4D8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 </a:t>
              </a:r>
              <a:r>
                <a:rPr lang="en-US" sz="1500" b="1" dirty="0" err="1">
                  <a:solidFill>
                    <a:srgbClr val="00B4D8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trainiert</a:t>
              </a:r>
              <a:endParaRPr lang="en-US" sz="15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571500" y="2011680"/>
              <a:ext cx="2308860" cy="1920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Modell auf vielen Zeitreihen </a:t>
              </a:r>
              <a:r>
                <a:rPr lang="en-US" sz="1100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aus</a:t>
              </a:r>
              <a:r>
                <a:rPr lang="en-US" sz="11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00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unterschiedlichen</a:t>
              </a:r>
              <a:r>
                <a:rPr lang="en-US" sz="11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00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Domänen</a:t>
              </a:r>
              <a:r>
                <a:rPr lang="en-US" sz="11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00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vortrainiert</a:t>
              </a:r>
              <a:r>
                <a:rPr lang="en-US" sz="11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(</a:t>
              </a:r>
              <a:r>
                <a:rPr lang="en-US" sz="1100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Umsatzprognosen</a:t>
              </a:r>
              <a:r>
                <a:rPr lang="en-US" sz="11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, </a:t>
              </a:r>
              <a:r>
                <a:rPr lang="en-US" sz="1100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Finanzen</a:t>
              </a:r>
              <a:r>
                <a:rPr lang="en-US" sz="11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, Klima, …)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von Amazon </a:t>
              </a:r>
              <a:r>
                <a:rPr lang="en-US" sz="1100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als</a:t>
              </a:r>
              <a:r>
                <a:rPr lang="en-US" sz="11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Open-Source </a:t>
              </a:r>
              <a:r>
                <a:rPr lang="en-US" sz="1100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bereitgestellt</a:t>
              </a:r>
              <a:endParaRPr lang="en-US" sz="1100" dirty="0"/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F0409D5A-2011-2D40-0F41-6232FB240AFF}"/>
              </a:ext>
            </a:extLst>
          </p:cNvPr>
          <p:cNvGrpSpPr/>
          <p:nvPr/>
        </p:nvGrpSpPr>
        <p:grpSpPr>
          <a:xfrm>
            <a:off x="4686300" y="2011680"/>
            <a:ext cx="2651760" cy="2591671"/>
            <a:chOff x="3200400" y="1280160"/>
            <a:chExt cx="2651760" cy="2591671"/>
          </a:xfrm>
        </p:grpSpPr>
        <p:sp>
          <p:nvSpPr>
            <p:cNvPr id="10" name="Shape 8"/>
            <p:cNvSpPr/>
            <p:nvPr/>
          </p:nvSpPr>
          <p:spPr>
            <a:xfrm>
              <a:off x="3200400" y="1280160"/>
              <a:ext cx="2651760" cy="2475411"/>
            </a:xfrm>
            <a:prstGeom prst="roundRect">
              <a:avLst>
                <a:gd name="adj" fmla="val 3448"/>
              </a:avLst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outerShdw blurRad="101600" dist="381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de-DE"/>
            </a:p>
          </p:txBody>
        </p:sp>
        <p:sp>
          <p:nvSpPr>
            <p:cNvPr id="11" name="Text 9"/>
            <p:cNvSpPr/>
            <p:nvPr/>
          </p:nvSpPr>
          <p:spPr>
            <a:xfrm>
              <a:off x="3200400" y="1417320"/>
              <a:ext cx="265176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000" dirty="0">
                  <a:solidFill>
                    <a:srgbClr val="000000"/>
                  </a:solidFill>
                </a:rPr>
                <a:t>⚡</a:t>
              </a:r>
              <a:endParaRPr lang="en-US" sz="30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3291840" y="1947999"/>
              <a:ext cx="24688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00B4D8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Zero-Shot </a:t>
              </a:r>
              <a:r>
                <a:rPr lang="en-US" sz="1500" b="1" dirty="0" err="1">
                  <a:solidFill>
                    <a:srgbClr val="00B4D8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Anwendung</a:t>
              </a:r>
              <a:endParaRPr lang="en-US" sz="15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337560" y="1951591"/>
              <a:ext cx="2377440" cy="1920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Universelles</a:t>
              </a:r>
              <a:r>
                <a:rPr lang="en-US" sz="11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Modell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kein</a:t>
              </a:r>
              <a:r>
                <a:rPr lang="en-US" sz="11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00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weiteres</a:t>
              </a:r>
              <a:r>
                <a:rPr lang="en-US" sz="11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Training </a:t>
              </a:r>
              <a:r>
                <a:rPr lang="en-US" sz="1100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erforderlich</a:t>
              </a:r>
              <a:endPara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direkt</a:t>
              </a:r>
              <a:r>
                <a:rPr lang="en-US" sz="11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auf </a:t>
              </a:r>
              <a:r>
                <a:rPr lang="en-US" sz="1100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neue</a:t>
              </a:r>
              <a:r>
                <a:rPr lang="en-US" sz="11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, </a:t>
              </a:r>
              <a:r>
                <a:rPr lang="en-US" sz="1100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ungesehene</a:t>
              </a:r>
              <a:r>
                <a:rPr lang="en-US" sz="11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00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Datensätze</a:t>
              </a:r>
              <a:r>
                <a:rPr lang="en-US" sz="11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00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anwendbar</a:t>
              </a:r>
              <a:endPara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</p:txBody>
        </p:sp>
      </p:grpSp>
      <p:sp>
        <p:nvSpPr>
          <p:cNvPr id="18" name="Text 16"/>
          <p:cNvSpPr/>
          <p:nvPr/>
        </p:nvSpPr>
        <p:spPr>
          <a:xfrm>
            <a:off x="1982289" y="926156"/>
            <a:ext cx="517942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"Shouldn't good language models just work on time series?" — Ansari et al. (2024)</a:t>
            </a:r>
            <a:endParaRPr lang="en-US" sz="1200" dirty="0"/>
          </a:p>
        </p:txBody>
      </p:sp>
      <p:sp>
        <p:nvSpPr>
          <p:cNvPr id="23" name="Kernidee">
            <a:extLst>
              <a:ext uri="{FF2B5EF4-FFF2-40B4-BE49-F238E27FC236}">
                <a16:creationId xmlns:a16="http://schemas.microsoft.com/office/drawing/2014/main" id="{D4805A80-43B4-9876-3DAD-589E01F1D36B}"/>
              </a:ext>
            </a:extLst>
          </p:cNvPr>
          <p:cNvSpPr/>
          <p:nvPr/>
        </p:nvSpPr>
        <p:spPr>
          <a:xfrm>
            <a:off x="1051560" y="1361149"/>
            <a:ext cx="7040880" cy="356616"/>
          </a:xfrm>
          <a:prstGeom prst="roundRect">
            <a:avLst>
              <a:gd name="adj" fmla="val 12000"/>
            </a:avLst>
          </a:prstGeom>
          <a:solidFill>
            <a:srgbClr val="E8F0FA"/>
          </a:solidFill>
          <a:ln w="12700">
            <a:solidFill>
              <a:srgbClr val="BFD0E6"/>
            </a:solidFill>
            <a:prstDash val="solid"/>
          </a:ln>
        </p:spPr>
        <p:txBody>
          <a:bodyPr wrap="square" lIns="137160" tIns="0" rIns="13716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50" b="1" i="0" u="none" strike="noStrike" kern="1200" cap="none" spc="0" normalizeH="0" baseline="0" noProof="0" dirty="0">
                <a:ln>
                  <a:noFill/>
                </a:ln>
                <a:solidFill>
                  <a:srgbClr val="1D4E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Kernidee:  </a:t>
            </a:r>
            <a:r>
              <a:rPr kumimoji="0" lang="de-DE" sz="11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Zeitreihe = Sprache. Werte werden zu Tokens; ein Sprachmodell lernt daraus und setzt den „Satz“ fort.</a:t>
            </a:r>
            <a:endParaRPr kumimoji="0" lang="de-DE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5" name="Grafik 24">
            <a:extLst>
              <a:ext uri="{FF2B5EF4-FFF2-40B4-BE49-F238E27FC236}">
                <a16:creationId xmlns:a16="http://schemas.microsoft.com/office/drawing/2014/main" id="{7169674D-B5E0-51AF-1110-ED181729B5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543" y="2275113"/>
            <a:ext cx="849086" cy="3750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Entwicklungshistorie bei Amazon</a:t>
            </a:r>
            <a:endParaRPr kumimoji="0" lang="de-DE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Lead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1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Prognosen steuern bei Amazon Lagerbestände, Cloud-Kapazitäten und Lieferketten — über ein riesiges Spektrum an Zeitreihen hinweg.</a:t>
            </a:r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ard Left"/>
          <p:cNvSpPr/>
          <p:nvPr/>
        </p:nvSpPr>
        <p:spPr>
          <a:xfrm>
            <a:off x="320040" y="1188720"/>
            <a:ext cx="3931920" cy="3072384"/>
          </a:xfrm>
          <a:prstGeom prst="roundRect">
            <a:avLst>
              <a:gd name="adj" fmla="val 232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ard Left Heading"/>
          <p:cNvSpPr/>
          <p:nvPr/>
        </p:nvSpPr>
        <p:spPr>
          <a:xfrm>
            <a:off x="50292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500" b="1" i="0" u="none" strike="noStrike" kern="1200" cap="none" spc="0" normalizeH="0" baseline="0" noProof="0" dirty="0">
                <a:ln>
                  <a:noFill/>
                </a:ln>
                <a:solidFill>
                  <a:srgbClr val="1D4ED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Das Problem</a:t>
            </a:r>
            <a:endParaRPr kumimoji="0" lang="de-DE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Card Left Body"/>
          <p:cNvSpPr/>
          <p:nvPr/>
        </p:nvSpPr>
        <p:spPr>
          <a:xfrm>
            <a:off x="502920" y="1716528"/>
            <a:ext cx="356616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Klassische Modelle mussten für jede Zeitreihe einzeln trainiert und aufwendig angepasst werden — Feature-Engineering, Tuning, Domänenwissen.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basierte vorherige Ansätze erforderten weiterhin problemspezifisches Training.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Gesucht war EIN vortrainiertes Modell, das ohne Neutraining auf neue Reihen generalisiert — Zero-Shot.</a:t>
            </a:r>
          </a:p>
        </p:txBody>
      </p:sp>
      <p:sp>
        <p:nvSpPr>
          <p:cNvPr id="8" name="Card Right"/>
          <p:cNvSpPr/>
          <p:nvPr/>
        </p:nvSpPr>
        <p:spPr>
          <a:xfrm>
            <a:off x="4526280" y="1188720"/>
            <a:ext cx="4297680" cy="3072384"/>
          </a:xfrm>
          <a:prstGeom prst="roundRect">
            <a:avLst>
              <a:gd name="adj" fmla="val 2222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Card Right Heading"/>
          <p:cNvSpPr/>
          <p:nvPr/>
        </p:nvSpPr>
        <p:spPr>
          <a:xfrm>
            <a:off x="470916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500" b="1" i="0" u="none" strike="noStrike" kern="1200" cap="none" spc="0" normalizeH="0" baseline="0" noProof="0" dirty="0">
                <a:ln>
                  <a:noFill/>
                </a:ln>
                <a:solidFill>
                  <a:srgbClr val="15803D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Die Entwicklung</a:t>
            </a:r>
            <a:endParaRPr kumimoji="0" lang="de-DE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Card Right Body"/>
          <p:cNvSpPr/>
          <p:nvPr/>
        </p:nvSpPr>
        <p:spPr>
          <a:xfrm>
            <a:off x="4709160" y="1716528"/>
            <a:ext cx="393192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seit ~2017 — DeepAR &amp; Amazon Forecast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Amazons erste Deep-Learning-Prognose: probabilistische RNNs, später als Dienst Amazon Forecast.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2024 — Chronos (univariat)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Zeitreihen werden wie Sprache behandelt: skaliert, quantisiert und mit T5-Transformern (20–710 Mio. Parameter) trainiert.</a:t>
            </a:r>
            <a:endParaRPr lang="de-DE" sz="11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Ende 2024: Effizienz-Update Chronos-Bolt (Geschwindigkeit, Kosten &amp; CPU-Fähigkeit)</a:t>
            </a:r>
          </a:p>
          <a:p>
            <a:pPr>
              <a:spcAft>
                <a:spcPts val="200"/>
              </a:spcAft>
              <a:defRPr/>
            </a:pPr>
            <a:r>
              <a:rPr lang="de-DE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— Chronos-2 (univariat, multi-</a:t>
            </a:r>
            <a:r>
              <a:rPr lang="de-DE" sz="12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</a:t>
            </a:r>
            <a:r>
              <a:rPr lang="de-DE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de-DE" sz="12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kovariaten</a:t>
            </a:r>
            <a:r>
              <a:rPr lang="de-DE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-informiert)</a:t>
            </a:r>
          </a:p>
          <a:p>
            <a:pPr lvl="0">
              <a:spcAft>
                <a:spcPts val="900"/>
              </a:spcAft>
              <a:defRPr/>
            </a:pPr>
            <a:r>
              <a:rPr lang="de-DE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Universelles </a:t>
            </a:r>
            <a:r>
              <a:rPr lang="de-DE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r>
              <a:rPr lang="de-DE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-Model mit deutlich erweitertem Anwendungsbereich.</a:t>
            </a:r>
            <a:endParaRPr kumimoji="0" lang="de-DE" sz="1100" b="0" i="0" u="none" strike="noStrike" kern="1200" cap="none" spc="0" normalizeH="0" baseline="0" noProof="0" dirty="0">
              <a:ln>
                <a:noFill/>
              </a:ln>
              <a:solidFill>
                <a:srgbClr val="334155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" name="Footer"/>
          <p:cNvSpPr/>
          <p:nvPr/>
        </p:nvSpPr>
        <p:spPr>
          <a:xfrm>
            <a:off x="182880" y="489204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Chronos | AI for Business Prognosis | SoSe 2026 | Graduate Campus, HS Aalen</a:t>
            </a:r>
            <a:endParaRPr kumimoji="0" lang="de-DE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ource"/>
          <p:cNvSpPr/>
          <p:nvPr/>
        </p:nvSpPr>
        <p:spPr>
          <a:xfrm>
            <a:off x="5486400" y="48920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0" i="1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Quelle: Ansari et al. (2024), TMLR  ·  amazon.science</a:t>
            </a:r>
            <a:endParaRPr kumimoji="0" lang="de-DE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731520"/>
            <a:ext cx="3200400" cy="3200400"/>
          </a:xfrm>
          <a:prstGeom prst="ellipse">
            <a:avLst/>
          </a:prstGeom>
          <a:solidFill>
            <a:srgbClr val="00B4D8">
              <a:alpha val="15000"/>
            </a:srgbClr>
          </a:solidFill>
          <a:ln w="635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9144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Chronos-Framework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Tokenisierung · Training · Inferenz</a:t>
            </a:r>
            <a:endParaRPr lang="en-US" sz="1600" i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pPr defTabSz="685783"/>
            <a:endParaRPr lang="de-DE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3" name="Title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Vom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Sprachmodell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zum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Foundation Model für </a:t>
            </a:r>
            <a:r>
              <a:rPr lang="en-US" sz="2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Zeitreihen</a:t>
            </a:r>
            <a:endParaRPr lang="en-US" sz="2000" dirty="0"/>
          </a:p>
        </p:txBody>
      </p:sp>
      <p:sp>
        <p:nvSpPr>
          <p:cNvPr id="4" name="Footer"/>
          <p:cNvSpPr/>
          <p:nvPr/>
        </p:nvSpPr>
        <p:spPr>
          <a:xfrm>
            <a:off x="182880" y="489204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783"/>
            <a:r>
              <a:rPr lang="de-DE" sz="800" dirty="0">
                <a:solidFill>
                  <a:srgbClr val="64748B"/>
                </a:solidFill>
                <a:latin typeface="Calibri" pitchFamily="34" charset="0"/>
              </a:rPr>
              <a:t>Chronos | AI for Business Prognosis | SoSe 2026 | Graduate Campus, HS Aalen</a:t>
            </a:r>
          </a:p>
        </p:txBody>
      </p:sp>
      <p:pic>
        <p:nvPicPr>
          <p:cNvPr id="5" name="Transformer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9" y="787500"/>
            <a:ext cx="2568009" cy="3937500"/>
          </a:xfrm>
          <a:prstGeom prst="rect">
            <a:avLst/>
          </a:prstGeom>
        </p:spPr>
      </p:pic>
      <p:sp>
        <p:nvSpPr>
          <p:cNvPr id="7" name="Table Subheading"/>
          <p:cNvSpPr/>
          <p:nvPr/>
        </p:nvSpPr>
        <p:spPr>
          <a:xfrm>
            <a:off x="3202432" y="787500"/>
            <a:ext cx="557580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de-DE" sz="1275" b="1" dirty="0">
                <a:solidFill>
                  <a:srgbClr val="0D1B2A"/>
                </a:solidFill>
                <a:latin typeface="Cambria" pitchFamily="34" charset="0"/>
              </a:rPr>
              <a:t>Sprachmodell vs. Zeitreihen</a:t>
            </a:r>
          </a:p>
        </p:txBody>
      </p:sp>
      <p:graphicFrame>
        <p:nvGraphicFramePr>
          <p:cNvPr id="13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9562561"/>
              </p:ext>
            </p:extLst>
          </p:nvPr>
        </p:nvGraphicFramePr>
        <p:xfrm>
          <a:off x="3202432" y="1125000"/>
          <a:ext cx="5575808" cy="18375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93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13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13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7500">
                <a:tc>
                  <a:txBody>
                    <a:bodyPr/>
                    <a:lstStyle/>
                    <a:p>
                      <a:r>
                        <a:rPr lang="de-DE" sz="10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Aspekt</a:t>
                      </a:r>
                    </a:p>
                  </a:txBody>
                  <a:tcPr marL="68580" marR="34290" marT="13716" marB="13716"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b="1" dirty="0">
                          <a:solidFill>
                            <a:srgbClr val="BFDBFE"/>
                          </a:solidFill>
                          <a:latin typeface="Calibri" pitchFamily="34" charset="0"/>
                        </a:rPr>
                        <a:t>Sprachmodell (Text)</a:t>
                      </a:r>
                    </a:p>
                  </a:txBody>
                  <a:tcPr marL="68580" marR="34290" marT="13716" marB="13716"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b="1" dirty="0">
                          <a:solidFill>
                            <a:srgbClr val="BBF7D0"/>
                          </a:solidFill>
                          <a:latin typeface="Calibri" pitchFamily="34" charset="0"/>
                        </a:rPr>
                        <a:t>Zeitreihen (Chronos)</a:t>
                      </a:r>
                    </a:p>
                  </a:txBody>
                  <a:tcPr marL="68580" marR="34290" marT="13716" marB="13716" anchor="ctr"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000">
                <a:tc>
                  <a:txBody>
                    <a:bodyPr/>
                    <a:lstStyle/>
                    <a:p>
                      <a:r>
                        <a:rPr lang="de-DE" sz="1000" b="1" dirty="0">
                          <a:solidFill>
                            <a:srgbClr val="0D1B2A"/>
                          </a:solidFill>
                          <a:latin typeface="Calibri" pitchFamily="34" charset="0"/>
                        </a:rPr>
                        <a:t>Vokabular</a:t>
                      </a:r>
                    </a:p>
                  </a:txBody>
                  <a:tcPr marL="68580" marR="3429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rgbClr val="0D1B2A"/>
                          </a:solidFill>
                          <a:latin typeface="Calibri" pitchFamily="34" charset="0"/>
                        </a:rPr>
                        <a:t>Subword-Tokens (BPE), ~32.000</a:t>
                      </a:r>
                    </a:p>
                  </a:txBody>
                  <a:tcPr marL="68580" marR="3429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rgbClr val="0D1B2A"/>
                          </a:solidFill>
                          <a:latin typeface="Calibri" pitchFamily="34" charset="0"/>
                        </a:rPr>
                        <a:t>Quantisierte Wert-Bins, ~4.096</a:t>
                      </a:r>
                    </a:p>
                  </a:txBody>
                  <a:tcPr marL="68580" marR="34290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000">
                <a:tc>
                  <a:txBody>
                    <a:bodyPr/>
                    <a:lstStyle/>
                    <a:p>
                      <a:r>
                        <a:rPr lang="de-DE" sz="1000" b="1" dirty="0">
                          <a:solidFill>
                            <a:srgbClr val="0D1B2A"/>
                          </a:solidFill>
                          <a:latin typeface="Calibri" pitchFamily="34" charset="0"/>
                        </a:rPr>
                        <a:t>Eingabe</a:t>
                      </a:r>
                    </a:p>
                  </a:txBody>
                  <a:tcPr marL="68580" marR="34290" marT="13716" marB="13716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rgbClr val="0D1B2A"/>
                          </a:solidFill>
                          <a:latin typeface="Calibri" pitchFamily="34" charset="0"/>
                        </a:rPr>
                        <a:t>Diskrete Wortsequenzen</a:t>
                      </a:r>
                    </a:p>
                  </a:txBody>
                  <a:tcPr marL="68580" marR="34290" marT="13716" marB="13716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rgbClr val="0D1B2A"/>
                          </a:solidFill>
                          <a:latin typeface="Calibri" pitchFamily="34" charset="0"/>
                        </a:rPr>
                        <a:t>Skalierte, kontinuierliche Messwerte</a:t>
                      </a:r>
                    </a:p>
                  </a:txBody>
                  <a:tcPr marL="68580" marR="34290" marT="13716" marB="13716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000">
                <a:tc>
                  <a:txBody>
                    <a:bodyPr/>
                    <a:lstStyle/>
                    <a:p>
                      <a:r>
                        <a:rPr lang="de-DE" sz="1000" b="1" dirty="0">
                          <a:solidFill>
                            <a:srgbClr val="0D1B2A"/>
                          </a:solidFill>
                          <a:latin typeface="Calibri" pitchFamily="34" charset="0"/>
                        </a:rPr>
                        <a:t>Kontext</a:t>
                      </a:r>
                    </a:p>
                  </a:txBody>
                  <a:tcPr marL="68580" marR="3429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rgbClr val="0D1B2A"/>
                          </a:solidFill>
                          <a:latin typeface="Calibri" pitchFamily="34" charset="0"/>
                        </a:rPr>
                        <a:t>Sätze / Absätze variabler Länge</a:t>
                      </a:r>
                    </a:p>
                  </a:txBody>
                  <a:tcPr marL="68580" marR="3429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rgbClr val="0D1B2A"/>
                          </a:solidFill>
                          <a:latin typeface="Calibri" pitchFamily="34" charset="0"/>
                        </a:rPr>
                        <a:t>Feste Beobachtungsfenster (Zeitschritte)</a:t>
                      </a:r>
                    </a:p>
                  </a:txBody>
                  <a:tcPr marL="68580" marR="34290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000">
                <a:tc>
                  <a:txBody>
                    <a:bodyPr/>
                    <a:lstStyle/>
                    <a:p>
                      <a:r>
                        <a:rPr lang="de-DE" sz="1000" b="1" dirty="0">
                          <a:solidFill>
                            <a:srgbClr val="0D1B2A"/>
                          </a:solidFill>
                          <a:latin typeface="Calibri" pitchFamily="34" charset="0"/>
                        </a:rPr>
                        <a:t>Ziel-Vorhersage</a:t>
                      </a:r>
                    </a:p>
                  </a:txBody>
                  <a:tcPr marL="68580" marR="34290" marT="13716" marB="13716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rgbClr val="0D1B2A"/>
                          </a:solidFill>
                          <a:latin typeface="Calibri" pitchFamily="34" charset="0"/>
                        </a:rPr>
                        <a:t>Nächstes Wort (Token)</a:t>
                      </a:r>
                    </a:p>
                  </a:txBody>
                  <a:tcPr marL="68580" marR="34290" marT="13716" marB="13716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rgbClr val="0D1B2A"/>
                          </a:solidFill>
                          <a:latin typeface="Calibri" pitchFamily="34" charset="0"/>
                        </a:rPr>
                        <a:t>Nächster Werte-Bin (autoregressiv)</a:t>
                      </a:r>
                    </a:p>
                  </a:txBody>
                  <a:tcPr marL="68580" marR="34290" marT="13716" marB="13716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Flow Explanation"/>
          <p:cNvSpPr/>
          <p:nvPr/>
        </p:nvSpPr>
        <p:spPr>
          <a:xfrm>
            <a:off x="3202432" y="3246480"/>
            <a:ext cx="5125139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/>
            <a:r>
              <a:rPr lang="de-DE" sz="975" dirty="0">
                <a:solidFill>
                  <a:srgbClr val="0D1B2A"/>
                </a:solidFill>
                <a:latin typeface="Calibri" pitchFamily="34" charset="0"/>
              </a:rPr>
              <a:t>Encoder und Decoder bleiben strukturell identisch zum Original-Transformer (siehe Abbildung links): Der Encoder verarbeitet den Kontext bidirektional per Self-Attention, der Decoder erzeugt die Vorhersage autoregressiv über Cross-Attention zum Encoder.</a:t>
            </a:r>
          </a:p>
        </p:txBody>
      </p:sp>
      <p:sp>
        <p:nvSpPr>
          <p:cNvPr id="14" name="Key Message Banner"/>
          <p:cNvSpPr/>
          <p:nvPr/>
        </p:nvSpPr>
        <p:spPr>
          <a:xfrm>
            <a:off x="3202432" y="4012500"/>
            <a:ext cx="5575808" cy="71250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>
            <a:noFill/>
          </a:ln>
        </p:spPr>
        <p:txBody>
          <a:bodyPr/>
          <a:lstStyle/>
          <a:p>
            <a:pPr defTabSz="685783"/>
            <a:endParaRPr lang="de-DE" sz="105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15" name="Key Message Label"/>
          <p:cNvSpPr/>
          <p:nvPr/>
        </p:nvSpPr>
        <p:spPr>
          <a:xfrm>
            <a:off x="594360" y="4080000"/>
            <a:ext cx="7954560" cy="22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783"/>
            <a:r>
              <a:rPr lang="de-DE" sz="900" b="1" spc="150" dirty="0">
                <a:solidFill>
                  <a:srgbClr val="90E0EF"/>
                </a:solidFill>
                <a:latin typeface="Calibri" pitchFamily="34" charset="0"/>
              </a:rPr>
              <a:t>KERNBOTSCHAFT</a:t>
            </a:r>
          </a:p>
        </p:txBody>
      </p:sp>
      <p:sp>
        <p:nvSpPr>
          <p:cNvPr id="16" name="Key Message Text"/>
          <p:cNvSpPr/>
          <p:nvPr/>
        </p:nvSpPr>
        <p:spPr>
          <a:xfrm>
            <a:off x="3299968" y="4312500"/>
            <a:ext cx="5248952" cy="3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783"/>
            <a:r>
              <a:rPr lang="de-DE" sz="1125" b="1" dirty="0">
                <a:solidFill>
                  <a:srgbClr val="FFFFFF"/>
                </a:solidFill>
                <a:latin typeface="Cambria" pitchFamily="34" charset="0"/>
              </a:rPr>
              <a:t>🔑 T5 bleibt unverändert — nur Tokenisierung &amp; Vokabular verwandeln Zeitreihen in eine „Sprache“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0C4AB15-36A3-F00F-BD65-38541E3A27A0}"/>
              </a:ext>
            </a:extLst>
          </p:cNvPr>
          <p:cNvSpPr txBox="1"/>
          <p:nvPr/>
        </p:nvSpPr>
        <p:spPr>
          <a:xfrm>
            <a:off x="365759" y="761450"/>
            <a:ext cx="152465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Vaswani et al. (2017)</a:t>
            </a:r>
            <a:endParaRPr lang="de-DE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Vom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Sprachmodell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zum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Foundation Model für </a:t>
            </a:r>
            <a:r>
              <a:rPr lang="en-US" sz="2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Zeitreihen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82880" y="489204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 | AI for Business Prognosis | SoSe 2026 | Graduate Campus, HS Aalen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Minimale Anpassung: Nur die Tokenisierung wird geändert — die LM-Architektur bleibt unverändert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65760" y="46451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Ansari et al. (2024), Fig. 1</a:t>
            </a:r>
            <a:endParaRPr lang="en-US" sz="800" dirty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D2EFE724-4137-EF15-5D42-59D12AFE9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59" y="1191607"/>
            <a:ext cx="8412481" cy="335921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pPr defTabSz="914378"/>
            <a:endParaRPr lang="de-DE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52697" y="1711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Inferenz: </a:t>
            </a:r>
            <a:r>
              <a:rPr lang="en-US" sz="2000" b="1" dirty="0" err="1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Probabilistische</a:t>
            </a: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Prognosen</a:t>
            </a: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durch</a:t>
            </a: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wiederholte</a:t>
            </a: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autoregressive Token-Samples</a:t>
            </a:r>
            <a:endParaRPr lang="en-US" sz="2000" dirty="0">
              <a:solidFill>
                <a:schemeClr val="bg1"/>
              </a:solidFill>
            </a:endParaRPr>
          </a:p>
          <a:p>
            <a:pPr defTabSz="914378"/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82880" y="489204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 | AI for Business Prognosis | SoSe 2026 | Graduate Campus, HS Aalen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50" name="Steps Group"/>
          <p:cNvGrpSpPr/>
          <p:nvPr/>
        </p:nvGrpSpPr>
        <p:grpSpPr>
          <a:xfrm>
            <a:off x="320040" y="901255"/>
            <a:ext cx="8366760" cy="1401749"/>
            <a:chOff x="426720" y="1706880"/>
            <a:chExt cx="11155680" cy="3190156"/>
          </a:xfrm>
        </p:grpSpPr>
        <p:sp>
          <p:nvSpPr>
            <p:cNvPr id="6" name="Shape 4"/>
            <p:cNvSpPr/>
            <p:nvPr/>
          </p:nvSpPr>
          <p:spPr>
            <a:xfrm>
              <a:off x="426720" y="1706880"/>
              <a:ext cx="2560320" cy="3169917"/>
            </a:xfrm>
            <a:prstGeom prst="roundRect">
              <a:avLst>
                <a:gd name="adj" fmla="val 4762"/>
              </a:avLst>
            </a:prstGeom>
            <a:solidFill>
              <a:srgbClr val="EFF6FF"/>
            </a:solidFill>
            <a:ln w="12700">
              <a:solidFill>
                <a:srgbClr val="BFDBFE"/>
              </a:solidFill>
              <a:prstDash val="solid"/>
            </a:ln>
          </p:spPr>
          <p:txBody>
            <a:bodyPr/>
            <a:lstStyle/>
            <a:p>
              <a:pPr defTabSz="914378"/>
              <a:endParaRPr lang="de-DE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" name="Shape 5"/>
            <p:cNvSpPr/>
            <p:nvPr/>
          </p:nvSpPr>
          <p:spPr>
            <a:xfrm>
              <a:off x="1341120" y="1853184"/>
              <a:ext cx="670560" cy="670560"/>
            </a:xfrm>
            <a:prstGeom prst="ellipse">
              <a:avLst/>
            </a:prstGeom>
            <a:solidFill>
              <a:srgbClr val="00B4D8"/>
            </a:solidFill>
            <a:ln w="12700">
              <a:solidFill>
                <a:srgbClr val="00B4D8"/>
              </a:solidFill>
              <a:prstDash val="solid"/>
            </a:ln>
          </p:spPr>
          <p:txBody>
            <a:bodyPr/>
            <a:lstStyle/>
            <a:p>
              <a:pPr defTabSz="914378"/>
              <a:endParaRPr lang="de-DE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1341120" y="1853184"/>
              <a:ext cx="670560" cy="670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defTabSz="914378"/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</a:t>
              </a:r>
              <a:endParaRPr lang="en-US" sz="16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573024" y="2657856"/>
              <a:ext cx="2316480" cy="487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defTabSz="914378"/>
              <a:r>
                <a:rPr lang="en-US" sz="13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Skalieren</a:t>
              </a:r>
              <a:endParaRPr lang="en-US" sz="13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548640" y="3230880"/>
              <a:ext cx="2377440" cy="1645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defTabSz="914378"/>
              <a:r>
                <a:rPr lang="en-US" sz="1100" dirty="0">
                  <a:solidFill>
                    <a:srgbClr val="0D1B2A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x̃ᵢ = xᵢ / s</a:t>
              </a:r>
              <a:endParaRPr lang="en-US" sz="1100" dirty="0">
                <a:solidFill>
                  <a:prstClr val="black"/>
                </a:solidFill>
                <a:latin typeface="Calibri" panose="020F0502020204030204"/>
              </a:endParaRPr>
            </a:p>
            <a:p>
              <a:pPr algn="ctr" defTabSz="914378"/>
              <a:r>
                <a:rPr lang="en-US" sz="1100" dirty="0">
                  <a:solidFill>
                    <a:srgbClr val="0D1B2A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s = mean(|x₁,...,xC|)</a:t>
              </a:r>
              <a:endParaRPr lang="en-US" sz="1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1" name="Shape 9"/>
            <p:cNvSpPr/>
            <p:nvPr/>
          </p:nvSpPr>
          <p:spPr>
            <a:xfrm>
              <a:off x="3011424" y="3413760"/>
              <a:ext cx="268224" cy="0"/>
            </a:xfrm>
            <a:prstGeom prst="line">
              <a:avLst/>
            </a:prstGeom>
            <a:noFill/>
            <a:ln w="19050">
              <a:solidFill>
                <a:srgbClr val="64748B"/>
              </a:solidFill>
              <a:prstDash val="solid"/>
            </a:ln>
          </p:spPr>
          <p:txBody>
            <a:bodyPr/>
            <a:lstStyle/>
            <a:p>
              <a:pPr defTabSz="914378"/>
              <a:endParaRPr lang="de-DE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" name="Shape 10"/>
            <p:cNvSpPr/>
            <p:nvPr/>
          </p:nvSpPr>
          <p:spPr>
            <a:xfrm>
              <a:off x="3291840" y="1706880"/>
              <a:ext cx="2560320" cy="3169920"/>
            </a:xfrm>
            <a:prstGeom prst="roundRect">
              <a:avLst>
                <a:gd name="adj" fmla="val 4762"/>
              </a:avLst>
            </a:prstGeom>
            <a:solidFill>
              <a:srgbClr val="F0FDF4"/>
            </a:solidFill>
            <a:ln w="12700">
              <a:solidFill>
                <a:srgbClr val="BBF7D0"/>
              </a:solidFill>
              <a:prstDash val="solid"/>
            </a:ln>
          </p:spPr>
          <p:txBody>
            <a:bodyPr/>
            <a:lstStyle/>
            <a:p>
              <a:pPr defTabSz="914378"/>
              <a:endParaRPr lang="de-DE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" name="Shape 11"/>
            <p:cNvSpPr/>
            <p:nvPr/>
          </p:nvSpPr>
          <p:spPr>
            <a:xfrm>
              <a:off x="4206240" y="1853184"/>
              <a:ext cx="670560" cy="670560"/>
            </a:xfrm>
            <a:prstGeom prst="ellipse">
              <a:avLst/>
            </a:prstGeom>
            <a:solidFill>
              <a:srgbClr val="00B4D8"/>
            </a:solidFill>
            <a:ln w="12700">
              <a:solidFill>
                <a:srgbClr val="00B4D8"/>
              </a:solidFill>
              <a:prstDash val="solid"/>
            </a:ln>
          </p:spPr>
          <p:txBody>
            <a:bodyPr/>
            <a:lstStyle/>
            <a:p>
              <a:pPr defTabSz="914378"/>
              <a:endParaRPr lang="de-DE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4206240" y="1853184"/>
              <a:ext cx="670560" cy="670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defTabSz="914378"/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16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3438144" y="2657856"/>
              <a:ext cx="2316480" cy="487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defTabSz="914378"/>
              <a:r>
                <a:rPr lang="en-US" sz="13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Quantisieren</a:t>
              </a:r>
              <a:endParaRPr lang="en-US" sz="13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3413760" y="3230880"/>
              <a:ext cx="2377440" cy="1645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defTabSz="914378"/>
              <a:r>
                <a:rPr lang="en-US" sz="1100" dirty="0">
                  <a:solidFill>
                    <a:srgbClr val="0D1B2A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zᵢ = q(x̃ᵢ) ∈ {1,...,B}</a:t>
              </a:r>
              <a:endParaRPr lang="en-US" sz="1100" dirty="0">
                <a:solidFill>
                  <a:prstClr val="black"/>
                </a:solidFill>
                <a:latin typeface="Calibri" panose="020F0502020204030204"/>
              </a:endParaRPr>
            </a:p>
            <a:p>
              <a:pPr algn="ctr" defTabSz="914378"/>
              <a:r>
                <a:rPr lang="en-US" sz="1100" dirty="0">
                  <a:solidFill>
                    <a:srgbClr val="0D1B2A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Mapping auf Bin-Index</a:t>
              </a:r>
              <a:endParaRPr lang="en-US" sz="1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7" name="Shape 15"/>
            <p:cNvSpPr/>
            <p:nvPr/>
          </p:nvSpPr>
          <p:spPr>
            <a:xfrm>
              <a:off x="5876544" y="3413760"/>
              <a:ext cx="268224" cy="0"/>
            </a:xfrm>
            <a:prstGeom prst="line">
              <a:avLst/>
            </a:prstGeom>
            <a:noFill/>
            <a:ln w="19050">
              <a:solidFill>
                <a:srgbClr val="64748B"/>
              </a:solidFill>
              <a:prstDash val="solid"/>
            </a:ln>
          </p:spPr>
          <p:txBody>
            <a:bodyPr/>
            <a:lstStyle/>
            <a:p>
              <a:pPr defTabSz="914378"/>
              <a:endParaRPr lang="de-DE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8" name="Shape 16"/>
            <p:cNvSpPr/>
            <p:nvPr/>
          </p:nvSpPr>
          <p:spPr>
            <a:xfrm>
              <a:off x="6156960" y="1706880"/>
              <a:ext cx="2560320" cy="3190156"/>
            </a:xfrm>
            <a:prstGeom prst="roundRect">
              <a:avLst>
                <a:gd name="adj" fmla="val 4762"/>
              </a:avLst>
            </a:prstGeom>
            <a:solidFill>
              <a:srgbClr val="EFF6FF"/>
            </a:solidFill>
            <a:ln w="12700">
              <a:solidFill>
                <a:srgbClr val="BFDBFE"/>
              </a:solidFill>
              <a:prstDash val="solid"/>
            </a:ln>
          </p:spPr>
          <p:txBody>
            <a:bodyPr/>
            <a:lstStyle/>
            <a:p>
              <a:pPr defTabSz="914378"/>
              <a:endParaRPr lang="de-DE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9" name="Shape 17"/>
            <p:cNvSpPr/>
            <p:nvPr/>
          </p:nvSpPr>
          <p:spPr>
            <a:xfrm>
              <a:off x="7071360" y="1853184"/>
              <a:ext cx="670560" cy="670560"/>
            </a:xfrm>
            <a:prstGeom prst="ellipse">
              <a:avLst/>
            </a:prstGeom>
            <a:solidFill>
              <a:srgbClr val="00B4D8"/>
            </a:solidFill>
            <a:ln w="12700">
              <a:solidFill>
                <a:srgbClr val="00B4D8"/>
              </a:solidFill>
              <a:prstDash val="solid"/>
            </a:ln>
          </p:spPr>
          <p:txBody>
            <a:bodyPr/>
            <a:lstStyle/>
            <a:p>
              <a:pPr defTabSz="914378"/>
              <a:endParaRPr lang="de-DE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0" name="Text 18"/>
            <p:cNvSpPr/>
            <p:nvPr/>
          </p:nvSpPr>
          <p:spPr>
            <a:xfrm>
              <a:off x="7071360" y="1853184"/>
              <a:ext cx="670560" cy="670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defTabSz="914378"/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16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6303264" y="2657856"/>
              <a:ext cx="2316480" cy="487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defTabSz="914378"/>
              <a:r>
                <a:rPr lang="en-US" sz="13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Token sampeln</a:t>
              </a:r>
              <a:endParaRPr lang="en-US" sz="13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6278880" y="3230880"/>
              <a:ext cx="2377440" cy="1645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defTabSz="914378"/>
              <a:r>
                <a:rPr lang="en-US" sz="1100" dirty="0">
                  <a:solidFill>
                    <a:srgbClr val="0D1B2A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ẑ ~ p_θ(· | z₁:C+h)</a:t>
              </a:r>
              <a:endParaRPr lang="en-US" sz="1100" dirty="0">
                <a:solidFill>
                  <a:prstClr val="black"/>
                </a:solidFill>
                <a:latin typeface="Calibri" panose="020F0502020204030204"/>
              </a:endParaRPr>
            </a:p>
            <a:p>
              <a:pPr algn="ctr" defTabSz="914378"/>
              <a:r>
                <a:rPr lang="en-US" sz="1100" dirty="0">
                  <a:solidFill>
                    <a:srgbClr val="0D1B2A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Softmax → Multinomial</a:t>
              </a:r>
              <a:endParaRPr lang="en-US" sz="1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3" name="Shape 21"/>
            <p:cNvSpPr/>
            <p:nvPr/>
          </p:nvSpPr>
          <p:spPr>
            <a:xfrm>
              <a:off x="8741664" y="3413760"/>
              <a:ext cx="268224" cy="0"/>
            </a:xfrm>
            <a:prstGeom prst="line">
              <a:avLst/>
            </a:prstGeom>
            <a:noFill/>
            <a:ln w="19050">
              <a:solidFill>
                <a:srgbClr val="64748B"/>
              </a:solidFill>
              <a:prstDash val="solid"/>
            </a:ln>
          </p:spPr>
          <p:txBody>
            <a:bodyPr/>
            <a:lstStyle/>
            <a:p>
              <a:pPr defTabSz="914378"/>
              <a:endParaRPr lang="de-DE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4" name="Shape 22"/>
            <p:cNvSpPr/>
            <p:nvPr/>
          </p:nvSpPr>
          <p:spPr>
            <a:xfrm>
              <a:off x="9022080" y="1706880"/>
              <a:ext cx="2560320" cy="3190156"/>
            </a:xfrm>
            <a:prstGeom prst="roundRect">
              <a:avLst>
                <a:gd name="adj" fmla="val 4762"/>
              </a:avLst>
            </a:prstGeom>
            <a:solidFill>
              <a:srgbClr val="F0FDF4"/>
            </a:solidFill>
            <a:ln w="12700">
              <a:solidFill>
                <a:srgbClr val="BBF7D0"/>
              </a:solidFill>
              <a:prstDash val="solid"/>
            </a:ln>
          </p:spPr>
          <p:txBody>
            <a:bodyPr/>
            <a:lstStyle/>
            <a:p>
              <a:pPr defTabSz="914378"/>
              <a:endParaRPr lang="de-DE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5" name="Shape 23"/>
            <p:cNvSpPr/>
            <p:nvPr/>
          </p:nvSpPr>
          <p:spPr>
            <a:xfrm>
              <a:off x="9936480" y="1853184"/>
              <a:ext cx="670560" cy="670560"/>
            </a:xfrm>
            <a:prstGeom prst="ellipse">
              <a:avLst/>
            </a:prstGeom>
            <a:solidFill>
              <a:srgbClr val="00B4D8"/>
            </a:solidFill>
            <a:ln w="12700">
              <a:solidFill>
                <a:srgbClr val="00B4D8"/>
              </a:solidFill>
              <a:prstDash val="solid"/>
            </a:ln>
          </p:spPr>
          <p:txBody>
            <a:bodyPr/>
            <a:lstStyle/>
            <a:p>
              <a:pPr defTabSz="914378"/>
              <a:endParaRPr lang="de-DE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9936480" y="1853184"/>
              <a:ext cx="670560" cy="670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defTabSz="914378"/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16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9168384" y="2657856"/>
              <a:ext cx="2316480" cy="487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defTabSz="914378"/>
              <a:r>
                <a:rPr lang="en-US" sz="13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Rekonstruieren</a:t>
              </a:r>
              <a:endParaRPr lang="en-US" sz="13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8" name="Text 26"/>
            <p:cNvSpPr/>
            <p:nvPr/>
          </p:nvSpPr>
          <p:spPr>
            <a:xfrm>
              <a:off x="9144000" y="3230880"/>
              <a:ext cx="2377440" cy="1645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defTabSz="914378"/>
              <a:r>
                <a:rPr lang="en-US" sz="1100" dirty="0">
                  <a:solidFill>
                    <a:srgbClr val="0D1B2A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x̂ = d(ẑ) · s</a:t>
              </a:r>
              <a:endParaRPr lang="en-US" sz="1100" dirty="0">
                <a:solidFill>
                  <a:prstClr val="black"/>
                </a:solidFill>
                <a:latin typeface="Calibri" panose="020F0502020204030204"/>
              </a:endParaRPr>
            </a:p>
            <a:p>
              <a:pPr algn="ctr" defTabSz="914378"/>
              <a:r>
                <a:rPr lang="en-US" sz="1100" dirty="0">
                  <a:solidFill>
                    <a:srgbClr val="0D1B2A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Dequantisierung + Unskalierung</a:t>
              </a:r>
              <a:endParaRPr lang="en-US" sz="1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pic>
        <p:nvPicPr>
          <p:cNvPr id="29" name="Token Distribution 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77" y="2463786"/>
            <a:ext cx="5126983" cy="1831065"/>
          </a:xfrm>
          <a:prstGeom prst="rect">
            <a:avLst/>
          </a:prstGeom>
        </p:spPr>
      </p:pic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486195F6-8A27-4A16-AC3C-1C52B0E03ACB}"/>
              </a:ext>
            </a:extLst>
          </p:cNvPr>
          <p:cNvGrpSpPr/>
          <p:nvPr/>
        </p:nvGrpSpPr>
        <p:grpSpPr>
          <a:xfrm>
            <a:off x="711926" y="4389120"/>
            <a:ext cx="7720148" cy="450000"/>
            <a:chOff x="607423" y="4260000"/>
            <a:chExt cx="7720148" cy="450000"/>
          </a:xfrm>
        </p:grpSpPr>
        <p:sp>
          <p:nvSpPr>
            <p:cNvPr id="30" name="Shape 28"/>
            <p:cNvSpPr/>
            <p:nvPr/>
          </p:nvSpPr>
          <p:spPr>
            <a:xfrm>
              <a:off x="607423" y="4260000"/>
              <a:ext cx="7720148" cy="450000"/>
            </a:xfrm>
            <a:prstGeom prst="roundRect">
              <a:avLst>
                <a:gd name="adj" fmla="val 15385"/>
              </a:avLst>
            </a:prstGeom>
            <a:solidFill>
              <a:srgbClr val="FFF7ED"/>
            </a:solidFill>
            <a:ln w="12700">
              <a:solidFill>
                <a:srgbClr val="FED7AA"/>
              </a:solidFill>
              <a:prstDash val="solid"/>
            </a:ln>
          </p:spPr>
          <p:txBody>
            <a:bodyPr/>
            <a:lstStyle/>
            <a:p>
              <a:pPr defTabSz="914378"/>
              <a:endParaRPr lang="de-DE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1" name="Text 29"/>
            <p:cNvSpPr/>
            <p:nvPr/>
          </p:nvSpPr>
          <p:spPr>
            <a:xfrm>
              <a:off x="672737" y="4290000"/>
              <a:ext cx="7589520" cy="39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defTabSz="914378"/>
              <a:r>
                <a:rPr lang="de-DE" sz="1050" dirty="0"/>
                <a:t>„Durch die Simulation mehrerer Zukunftsszenarien werden mittels </a:t>
              </a:r>
              <a:r>
                <a:rPr lang="de-DE" sz="1050" dirty="0" err="1"/>
                <a:t>Quantilsschätzung</a:t>
              </a:r>
              <a:r>
                <a:rPr lang="de-DE" sz="1050" dirty="0"/>
                <a:t> verlässliche Wahrscheinlichkeitskorridore berechnet.“</a:t>
              </a:r>
              <a:endParaRPr lang="en-US" sz="12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4" name="Explanation">
            <a:extLst>
              <a:ext uri="{FF2B5EF4-FFF2-40B4-BE49-F238E27FC236}">
                <a16:creationId xmlns:a16="http://schemas.microsoft.com/office/drawing/2014/main" id="{D016049F-6DB8-8CE0-6E42-83D0AC90ED5F}"/>
              </a:ext>
            </a:extLst>
          </p:cNvPr>
          <p:cNvSpPr/>
          <p:nvPr/>
        </p:nvSpPr>
        <p:spPr>
          <a:xfrm>
            <a:off x="5498760" y="2469190"/>
            <a:ext cx="3139608" cy="570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defTabSz="685800">
              <a:buFont typeface="Arial" panose="020B0604020202020204" pitchFamily="34" charset="0"/>
              <a:buChar char="•"/>
            </a:pPr>
            <a:r>
              <a:rPr lang="de-DE" sz="1100" dirty="0">
                <a:solidFill>
                  <a:srgbClr val="0D1B2A"/>
                </a:solidFill>
                <a:latin typeface="Calibri" pitchFamily="34" charset="0"/>
              </a:rPr>
              <a:t>Bei jedem Schritt liefert der Decoder keine einzelne Zahl, sondern eine vollständige Wahrscheinlichkeitsverteilung über alle Wert-Bins (</a:t>
            </a:r>
            <a:r>
              <a:rPr lang="de-DE" sz="1100" dirty="0" err="1">
                <a:solidFill>
                  <a:srgbClr val="0D1B2A"/>
                </a:solidFill>
                <a:latin typeface="Calibri" pitchFamily="34" charset="0"/>
              </a:rPr>
              <a:t>Softmax</a:t>
            </a:r>
            <a:r>
              <a:rPr lang="de-DE" sz="1100" dirty="0">
                <a:solidFill>
                  <a:srgbClr val="0D1B2A"/>
                </a:solidFill>
                <a:latin typeface="Calibri" pitchFamily="34" charset="0"/>
              </a:rPr>
              <a:t>).</a:t>
            </a:r>
          </a:p>
          <a:p>
            <a:pPr marL="171450" indent="-171450" defTabSz="685800">
              <a:buFont typeface="Arial" panose="020B0604020202020204" pitchFamily="34" charset="0"/>
              <a:buChar char="•"/>
            </a:pPr>
            <a:r>
              <a:rPr lang="de-DE" sz="1100" dirty="0">
                <a:solidFill>
                  <a:srgbClr val="0D1B2A"/>
                </a:solidFill>
                <a:latin typeface="Calibri" pitchFamily="34" charset="0"/>
              </a:rPr>
              <a:t>Ein Bin wird per Multinomial-Sampling gezogen und zurück in einen reellen Wert übersetzt (</a:t>
            </a:r>
            <a:r>
              <a:rPr lang="de-DE" sz="1100" dirty="0" err="1">
                <a:solidFill>
                  <a:srgbClr val="0D1B2A"/>
                </a:solidFill>
                <a:latin typeface="Calibri" pitchFamily="34" charset="0"/>
              </a:rPr>
              <a:t>Dequantisierung</a:t>
            </a:r>
            <a:r>
              <a:rPr lang="de-DE" sz="1100" dirty="0">
                <a:solidFill>
                  <a:srgbClr val="0D1B2A"/>
                </a:solidFill>
                <a:latin typeface="Calibri" pitchFamily="34" charset="0"/>
              </a:rPr>
              <a:t>).</a:t>
            </a:r>
          </a:p>
          <a:p>
            <a:pPr marL="171450" indent="-171450" defTabSz="685800">
              <a:buFont typeface="Arial" panose="020B0604020202020204" pitchFamily="34" charset="0"/>
              <a:buChar char="•"/>
            </a:pPr>
            <a:r>
              <a:rPr lang="de-DE" sz="1100" dirty="0">
                <a:solidFill>
                  <a:srgbClr val="0D1B2A"/>
                </a:solidFill>
                <a:latin typeface="Calibri" pitchFamily="34" charset="0"/>
              </a:rPr>
              <a:t>Wiederholt man das 20×, entstehen 20 unterschiedliche Sample-Pfade — daraus ergibt sich die empirische prädiktive Verteilung.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pPr defTabSz="685800"/>
            <a:endParaRPr lang="de-DE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3" name="Title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de-DE" sz="2100" b="1" dirty="0">
                <a:solidFill>
                  <a:srgbClr val="FFFFFF"/>
                </a:solidFill>
                <a:latin typeface="Cambria" pitchFamily="34" charset="0"/>
              </a:rPr>
              <a:t>Trainingsstrategie - Augmentation mit synthetischen Daten</a:t>
            </a:r>
          </a:p>
        </p:txBody>
      </p:sp>
      <p:sp>
        <p:nvSpPr>
          <p:cNvPr id="4" name="Footer"/>
          <p:cNvSpPr/>
          <p:nvPr/>
        </p:nvSpPr>
        <p:spPr>
          <a:xfrm>
            <a:off x="182880" y="489204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de-DE" sz="800" dirty="0">
                <a:solidFill>
                  <a:srgbClr val="64748B"/>
                </a:solidFill>
                <a:latin typeface="Calibri" pitchFamily="34" charset="0"/>
              </a:rPr>
              <a:t>Chronos | AI for Business Prognosis | SoSe 2026 | Graduate Campus, HS Aalen</a:t>
            </a:r>
          </a:p>
        </p:txBody>
      </p:sp>
      <p:sp>
        <p:nvSpPr>
          <p:cNvPr id="13" name="Key Message Banner"/>
          <p:cNvSpPr/>
          <p:nvPr/>
        </p:nvSpPr>
        <p:spPr>
          <a:xfrm>
            <a:off x="365760" y="3891288"/>
            <a:ext cx="8412480" cy="646211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>
            <a:noFill/>
          </a:ln>
        </p:spPr>
        <p:txBody>
          <a:bodyPr/>
          <a:lstStyle/>
          <a:p>
            <a:pPr defTabSz="685800"/>
            <a:endParaRPr lang="de-DE" sz="105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15" name="Key Message Text"/>
          <p:cNvSpPr/>
          <p:nvPr/>
        </p:nvSpPr>
        <p:spPr>
          <a:xfrm>
            <a:off x="594720" y="3782690"/>
            <a:ext cx="7954560" cy="82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de-DE" sz="1600" b="1" dirty="0">
                <a:solidFill>
                  <a:srgbClr val="FFFFFF"/>
                </a:solidFill>
                <a:latin typeface="Cambria" pitchFamily="34" charset="0"/>
              </a:rPr>
              <a:t>Ergebnis: Synthetische Daten verbessern die Zero-Shot Generalisierung messbar!</a:t>
            </a:r>
          </a:p>
        </p:txBody>
      </p:sp>
      <p:sp>
        <p:nvSpPr>
          <p:cNvPr id="22" name="Kernidee">
            <a:extLst>
              <a:ext uri="{FF2B5EF4-FFF2-40B4-BE49-F238E27FC236}">
                <a16:creationId xmlns:a16="http://schemas.microsoft.com/office/drawing/2014/main" id="{584719FD-7CC7-05E0-8B6E-C0072AA15FDC}"/>
              </a:ext>
            </a:extLst>
          </p:cNvPr>
          <p:cNvSpPr/>
          <p:nvPr/>
        </p:nvSpPr>
        <p:spPr>
          <a:xfrm>
            <a:off x="400620" y="940646"/>
            <a:ext cx="8287500" cy="1056325"/>
          </a:xfrm>
          <a:prstGeom prst="roundRect">
            <a:avLst>
              <a:gd name="adj" fmla="val 12000"/>
            </a:avLst>
          </a:prstGeom>
          <a:solidFill>
            <a:srgbClr val="E8F0FA"/>
          </a:solidFill>
          <a:ln w="12700">
            <a:solidFill>
              <a:srgbClr val="BFD0E6"/>
            </a:solidFill>
            <a:prstDash val="solid"/>
          </a:ln>
        </p:spPr>
        <p:txBody>
          <a:bodyPr wrap="square" lIns="137160" tIns="0" rIns="137160" bIns="0" rtlCol="0" anchor="ctr"/>
          <a:lstStyle/>
          <a:p>
            <a:pPr lvl="0">
              <a:defRPr/>
            </a:pPr>
            <a:r>
              <a:rPr kumimoji="0" lang="de-DE" sz="1150" b="1" i="0" u="none" strike="noStrike" kern="1200" cap="none" spc="0" normalizeH="0" baseline="0" noProof="0" dirty="0">
                <a:ln>
                  <a:noFill/>
                </a:ln>
                <a:solidFill>
                  <a:srgbClr val="1D4E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Problem:  </a:t>
            </a:r>
            <a:r>
              <a:rPr lang="de-DE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Gegensatz zu vielfältig vorhandenem Text für das Training von Sprachmodellen stehen deutlich weniger Zeitreihendaten für das Training eines Zeitreihen-</a:t>
            </a:r>
            <a:r>
              <a:rPr lang="de-DE" sz="11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r>
              <a:rPr lang="de-DE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-Models zur Verfügung.</a:t>
            </a:r>
          </a:p>
          <a:p>
            <a:pPr lvl="0">
              <a:defRPr/>
            </a:pPr>
            <a:r>
              <a:rPr lang="de-DE" sz="11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Idee: </a:t>
            </a:r>
            <a:r>
              <a:rPr lang="de-DE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Anreicherung des Datensatzes mit synthetischen Daten im Verhältnis 9:1 von realen zu synthetischen Daten im Trainingsdatensatz. Hierbei kamen beim Training von Chronos zwei Strategien zum Einsatz:  </a:t>
            </a:r>
            <a:endParaRPr kumimoji="0" lang="de-DE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954098D8-3017-B89D-E5F6-57703CDFB1C6}"/>
              </a:ext>
            </a:extLst>
          </p:cNvPr>
          <p:cNvGrpSpPr/>
          <p:nvPr/>
        </p:nvGrpSpPr>
        <p:grpSpPr>
          <a:xfrm>
            <a:off x="400620" y="2344283"/>
            <a:ext cx="8287500" cy="2088990"/>
            <a:chOff x="400620" y="1473980"/>
            <a:chExt cx="8287500" cy="2088990"/>
          </a:xfrm>
        </p:grpSpPr>
        <p:sp>
          <p:nvSpPr>
            <p:cNvPr id="8" name="TSMixup Bullets"/>
            <p:cNvSpPr/>
            <p:nvPr/>
          </p:nvSpPr>
          <p:spPr>
            <a:xfrm>
              <a:off x="548640" y="1680210"/>
              <a:ext cx="3675000" cy="1597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defTabSz="685800">
                <a:spcAft>
                  <a:spcPts val="525"/>
                </a:spcAft>
              </a:pPr>
              <a:endParaRPr lang="de-DE" sz="1050" i="1" dirty="0">
                <a:solidFill>
                  <a:srgbClr val="0D1B2A"/>
                </a:solidFill>
                <a:latin typeface="Calibri" pitchFamily="34" charset="0"/>
              </a:endParaRPr>
            </a:p>
            <a:p>
              <a:pPr defTabSz="685800">
                <a:spcAft>
                  <a:spcPts val="525"/>
                </a:spcAft>
              </a:pPr>
              <a:endParaRPr lang="de-DE" sz="1050" i="1" dirty="0">
                <a:solidFill>
                  <a:srgbClr val="0D1B2A"/>
                </a:solidFill>
                <a:latin typeface="Calibri" pitchFamily="34" charset="0"/>
              </a:endParaRPr>
            </a:p>
            <a:p>
              <a:pPr defTabSz="685800">
                <a:spcAft>
                  <a:spcPts val="525"/>
                </a:spcAft>
              </a:pPr>
              <a:r>
                <a:rPr lang="de-DE" sz="1050" i="1" dirty="0">
                  <a:solidFill>
                    <a:srgbClr val="1D4ED8"/>
                  </a:solidFill>
                  <a:latin typeface="Calibri" pitchFamily="34" charset="0"/>
                </a:rPr>
                <a:t>→ Realistische Reihenkombinationen für robustes Training</a:t>
              </a:r>
            </a:p>
          </p:txBody>
        </p:sp>
        <p:sp>
          <p:nvSpPr>
            <p:cNvPr id="12" name="KernelSynth Bullets"/>
            <p:cNvSpPr/>
            <p:nvPr/>
          </p:nvSpPr>
          <p:spPr>
            <a:xfrm>
              <a:off x="4823640" y="1680210"/>
              <a:ext cx="3675000" cy="1597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defTabSz="685800">
                <a:spcAft>
                  <a:spcPts val="525"/>
                </a:spcAft>
              </a:pPr>
              <a:r>
                <a:rPr lang="de-DE" sz="1050" dirty="0">
                  <a:solidFill>
                    <a:srgbClr val="0D1B2A"/>
                  </a:solidFill>
                  <a:latin typeface="Calibri" pitchFamily="34" charset="0"/>
                </a:rPr>
                <a:t>▸ Kernel-Bank: Linear, RBF, Periodic, RQ</a:t>
              </a:r>
            </a:p>
            <a:p>
              <a:pPr defTabSz="685800">
                <a:spcAft>
                  <a:spcPts val="525"/>
                </a:spcAft>
              </a:pPr>
              <a:r>
                <a:rPr lang="de-DE" sz="1050" dirty="0">
                  <a:solidFill>
                    <a:srgbClr val="0D1B2A"/>
                  </a:solidFill>
                  <a:latin typeface="Calibri" pitchFamily="34" charset="0"/>
                </a:rPr>
                <a:t>▸ j~U{1,5} Kerne zufällig kombiniert (+ / ×)</a:t>
              </a:r>
            </a:p>
            <a:p>
              <a:pPr defTabSz="685800">
                <a:spcAft>
                  <a:spcPts val="525"/>
                </a:spcAft>
              </a:pPr>
              <a:r>
                <a:rPr lang="de-DE" sz="1050" dirty="0">
                  <a:solidFill>
                    <a:srgbClr val="0D1B2A"/>
                  </a:solidFill>
                  <a:latin typeface="Calibri" pitchFamily="34" charset="0"/>
                </a:rPr>
                <a:t>▸ 1 M synthetische Reihen, Länge 1024</a:t>
              </a:r>
            </a:p>
            <a:p>
              <a:pPr defTabSz="685800">
                <a:spcAft>
                  <a:spcPts val="525"/>
                </a:spcAft>
              </a:pPr>
              <a:r>
                <a:rPr lang="de-DE" sz="1050" i="1" dirty="0">
                  <a:solidFill>
                    <a:srgbClr val="15803D"/>
                  </a:solidFill>
                  <a:latin typeface="Calibri" pitchFamily="34" charset="0"/>
                </a:rPr>
                <a:t>→ Reine Muster-Vielfalt ohne reale Datenabhängigkeit</a:t>
              </a:r>
            </a:p>
          </p:txBody>
        </p:sp>
        <p:grpSp>
          <p:nvGrpSpPr>
            <p:cNvPr id="19" name="Gruppieren 18">
              <a:extLst>
                <a:ext uri="{FF2B5EF4-FFF2-40B4-BE49-F238E27FC236}">
                  <a16:creationId xmlns:a16="http://schemas.microsoft.com/office/drawing/2014/main" id="{18F09B1F-FF8B-3CB7-17B8-C2F9B8B07734}"/>
                </a:ext>
              </a:extLst>
            </p:cNvPr>
            <p:cNvGrpSpPr/>
            <p:nvPr/>
          </p:nvGrpSpPr>
          <p:grpSpPr>
            <a:xfrm>
              <a:off x="4675620" y="1473980"/>
              <a:ext cx="4012500" cy="1247503"/>
              <a:chOff x="4640760" y="788670"/>
              <a:chExt cx="4012500" cy="1247503"/>
            </a:xfrm>
          </p:grpSpPr>
          <p:sp>
            <p:nvSpPr>
              <p:cNvPr id="9" name="Card KernelSynth"/>
              <p:cNvSpPr/>
              <p:nvPr/>
            </p:nvSpPr>
            <p:spPr>
              <a:xfrm>
                <a:off x="4640760" y="788670"/>
                <a:ext cx="4012500" cy="1247503"/>
              </a:xfrm>
              <a:prstGeom prst="roundRect">
                <a:avLst>
                  <a:gd name="adj" fmla="val 3000"/>
                </a:avLst>
              </a:prstGeom>
              <a:solidFill>
                <a:srgbClr val="F0FDF4"/>
              </a:solidFill>
              <a:ln w="12700">
                <a:solidFill>
                  <a:srgbClr val="BBF7D0"/>
                </a:solidFill>
                <a:prstDash val="solid"/>
              </a:ln>
            </p:spPr>
            <p:txBody>
              <a:bodyPr/>
              <a:lstStyle/>
              <a:p>
                <a:pPr defTabSz="685800"/>
                <a:endParaRPr lang="de-DE" sz="1050">
                  <a:solidFill>
                    <a:prstClr val="black"/>
                  </a:solidFill>
                  <a:latin typeface="Aptos" panose="02110004020202020204"/>
                </a:endParaRPr>
              </a:p>
            </p:txBody>
          </p:sp>
          <p:sp>
            <p:nvSpPr>
              <p:cNvPr id="10" name="KernelSynth Title"/>
              <p:cNvSpPr/>
              <p:nvPr/>
            </p:nvSpPr>
            <p:spPr>
              <a:xfrm>
                <a:off x="4823640" y="914400"/>
                <a:ext cx="3675000" cy="315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defTabSz="685800"/>
                <a:r>
                  <a:rPr lang="de-DE" sz="1500" b="1" dirty="0">
                    <a:solidFill>
                      <a:srgbClr val="15803D"/>
                    </a:solidFill>
                    <a:latin typeface="Cambria" pitchFamily="34" charset="0"/>
                  </a:rPr>
                  <a:t>KernelSynth</a:t>
                </a:r>
              </a:p>
            </p:txBody>
          </p:sp>
        </p:grpSp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8F2428DA-878C-367A-97DF-3C87D65F81EE}"/>
                </a:ext>
              </a:extLst>
            </p:cNvPr>
            <p:cNvGrpSpPr/>
            <p:nvPr/>
          </p:nvGrpSpPr>
          <p:grpSpPr>
            <a:xfrm>
              <a:off x="400620" y="1473980"/>
              <a:ext cx="4012500" cy="2088990"/>
              <a:chOff x="365760" y="788670"/>
              <a:chExt cx="4012500" cy="2088990"/>
            </a:xfrm>
          </p:grpSpPr>
          <p:sp>
            <p:nvSpPr>
              <p:cNvPr id="5" name="Card TSMixup"/>
              <p:cNvSpPr/>
              <p:nvPr/>
            </p:nvSpPr>
            <p:spPr>
              <a:xfrm>
                <a:off x="365760" y="788670"/>
                <a:ext cx="4012500" cy="1247503"/>
              </a:xfrm>
              <a:prstGeom prst="roundRect">
                <a:avLst>
                  <a:gd name="adj" fmla="val 3000"/>
                </a:avLst>
              </a:prstGeom>
              <a:solidFill>
                <a:srgbClr val="EFF6FF"/>
              </a:solidFill>
              <a:ln w="12700">
                <a:solidFill>
                  <a:srgbClr val="BFDBFE"/>
                </a:solidFill>
                <a:prstDash val="solid"/>
              </a:ln>
            </p:spPr>
            <p:txBody>
              <a:bodyPr/>
              <a:lstStyle/>
              <a:p>
                <a:pPr defTabSz="685800"/>
                <a:endParaRPr lang="de-DE" sz="1050">
                  <a:solidFill>
                    <a:prstClr val="black"/>
                  </a:solidFill>
                  <a:latin typeface="Aptos" panose="02110004020202020204"/>
                </a:endParaRPr>
              </a:p>
            </p:txBody>
          </p:sp>
          <p:sp>
            <p:nvSpPr>
              <p:cNvPr id="6" name="TSMixup Title"/>
              <p:cNvSpPr/>
              <p:nvPr/>
            </p:nvSpPr>
            <p:spPr>
              <a:xfrm>
                <a:off x="548640" y="914400"/>
                <a:ext cx="3675000" cy="315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defTabSz="685800"/>
                <a:r>
                  <a:rPr lang="de-DE" sz="1500" b="1" dirty="0">
                    <a:solidFill>
                      <a:srgbClr val="1D4ED8"/>
                    </a:solidFill>
                    <a:latin typeface="Cambria" pitchFamily="34" charset="0"/>
                  </a:rPr>
                  <a:t>TSMixup</a:t>
                </a:r>
              </a:p>
            </p:txBody>
          </p:sp>
          <p:sp>
            <p:nvSpPr>
              <p:cNvPr id="17" name="KernelSynth Bullets">
                <a:extLst>
                  <a:ext uri="{FF2B5EF4-FFF2-40B4-BE49-F238E27FC236}">
                    <a16:creationId xmlns:a16="http://schemas.microsoft.com/office/drawing/2014/main" id="{98254B9D-9AE0-DDC0-6703-445B60354C49}"/>
                  </a:ext>
                </a:extLst>
              </p:cNvPr>
              <p:cNvSpPr/>
              <p:nvPr/>
            </p:nvSpPr>
            <p:spPr>
              <a:xfrm>
                <a:off x="548640" y="1280160"/>
                <a:ext cx="3675000" cy="1597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defTabSz="685800">
                  <a:spcAft>
                    <a:spcPts val="525"/>
                  </a:spcAft>
                </a:pPr>
                <a:r>
                  <a:rPr lang="de-DE" sz="1050" dirty="0">
                    <a:solidFill>
                      <a:srgbClr val="0D1B2A"/>
                    </a:solidFill>
                    <a:latin typeface="Calibri" pitchFamily="34" charset="0"/>
                  </a:rPr>
                  <a:t>▸ </a:t>
                </a:r>
                <a:r>
                  <a:rPr lang="de-DE" sz="1050" b="1" dirty="0">
                    <a:solidFill>
                      <a:srgbClr val="0D1B2A"/>
                    </a:solidFill>
                    <a:latin typeface="Calibri" pitchFamily="34" charset="0"/>
                  </a:rPr>
                  <a:t>Reale Zeitreihen </a:t>
                </a:r>
                <a:r>
                  <a:rPr lang="de-DE" sz="1050" dirty="0">
                    <a:solidFill>
                      <a:srgbClr val="0D1B2A"/>
                    </a:solidFill>
                    <a:latin typeface="Calibri" pitchFamily="34" charset="0"/>
                  </a:rPr>
                  <a:t>werden nach vorheriger Skalierung mit zufälligen Gewichten linear zu einer neuen, synthetischen Reihe gemischt.</a:t>
                </a:r>
              </a:p>
            </p:txBody>
          </p:sp>
        </p:grpSp>
        <p:sp>
          <p:nvSpPr>
            <p:cNvPr id="24" name="KernelSynth Bullets">
              <a:extLst>
                <a:ext uri="{FF2B5EF4-FFF2-40B4-BE49-F238E27FC236}">
                  <a16:creationId xmlns:a16="http://schemas.microsoft.com/office/drawing/2014/main" id="{11D67EF8-BF74-D746-97B4-164814A09CE5}"/>
                </a:ext>
              </a:extLst>
            </p:cNvPr>
            <p:cNvSpPr/>
            <p:nvPr/>
          </p:nvSpPr>
          <p:spPr>
            <a:xfrm>
              <a:off x="4809510" y="1943057"/>
              <a:ext cx="3675000" cy="1597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defTabSz="685800">
                <a:spcAft>
                  <a:spcPts val="525"/>
                </a:spcAft>
              </a:pPr>
              <a:r>
                <a:rPr lang="de-DE" sz="1050" dirty="0">
                  <a:solidFill>
                    <a:srgbClr val="0D1B2A"/>
                  </a:solidFill>
                  <a:latin typeface="Calibri" pitchFamily="34" charset="0"/>
                </a:rPr>
                <a:t>▸ </a:t>
              </a:r>
              <a:r>
                <a:rPr lang="de-DE" sz="1050" b="1" dirty="0">
                  <a:solidFill>
                    <a:srgbClr val="0D1B2A"/>
                  </a:solidFill>
                  <a:latin typeface="Calibri" pitchFamily="34" charset="0"/>
                </a:rPr>
                <a:t>Komplett künstliche </a:t>
              </a:r>
              <a:r>
                <a:rPr lang="de-DE" sz="1050" dirty="0">
                  <a:solidFill>
                    <a:srgbClr val="0D1B2A"/>
                  </a:solidFill>
                  <a:latin typeface="Calibri" pitchFamily="34" charset="0"/>
                </a:rPr>
                <a:t>Zeitreihen werden erzeugt durch Überlagerung verschiedener Kernel-Funktionen (linear, periodisch) mit Rauschen.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731520"/>
            <a:ext cx="3200400" cy="3200400"/>
          </a:xfrm>
          <a:prstGeom prst="ellipse">
            <a:avLst/>
          </a:prstGeom>
          <a:solidFill>
            <a:srgbClr val="00B4D8">
              <a:alpha val="15000"/>
            </a:srgbClr>
          </a:solidFill>
          <a:ln w="635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9144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Anwendung</a:t>
            </a: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&amp; Benchmarking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Performance auf </a:t>
            </a:r>
            <a:r>
              <a:rPr lang="en-US" sz="1600" i="1" dirty="0" err="1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ungesehenen</a:t>
            </a:r>
            <a:r>
              <a:rPr lang="en-US" sz="16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Zeitreihen</a:t>
            </a:r>
            <a:endParaRPr lang="en-US" sz="1600" i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F60489-0B2A-1172-5D21-DDAF486B4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>
            <a:extLst>
              <a:ext uri="{FF2B5EF4-FFF2-40B4-BE49-F238E27FC236}">
                <a16:creationId xmlns:a16="http://schemas.microsoft.com/office/drawing/2014/main" id="{56CAE62B-BD9F-CD54-CA6E-107F3F877AD6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pPr defTabSz="685800"/>
            <a:endParaRPr lang="de-DE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5D0CC27-8F9F-1B3A-85A1-0E1FD3417F4C}"/>
              </a:ext>
            </a:extLst>
          </p:cNvPr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de-DE" sz="2100" b="1" dirty="0">
                <a:solidFill>
                  <a:srgbClr val="FFFFFF"/>
                </a:solidFill>
                <a:latin typeface="Cambria" pitchFamily="34" charset="0"/>
              </a:rPr>
              <a:t>Anwendungsbeispiel - Box &amp; Jenkins Airline </a:t>
            </a:r>
            <a:r>
              <a:rPr lang="de-DE" sz="2100" b="1" dirty="0" err="1">
                <a:solidFill>
                  <a:srgbClr val="FFFFFF"/>
                </a:solidFill>
                <a:latin typeface="Cambria" pitchFamily="34" charset="0"/>
              </a:rPr>
              <a:t>Passengers</a:t>
            </a:r>
            <a:endParaRPr lang="de-DE" sz="2100" b="1" dirty="0">
              <a:solidFill>
                <a:srgbClr val="FFFFFF"/>
              </a:solidFill>
              <a:latin typeface="Cambria" pitchFamily="34" charset="0"/>
            </a:endParaRP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734878B8-D469-D6CF-8B89-441F290C8189}"/>
              </a:ext>
            </a:extLst>
          </p:cNvPr>
          <p:cNvSpPr/>
          <p:nvPr/>
        </p:nvSpPr>
        <p:spPr>
          <a:xfrm>
            <a:off x="182880" y="489204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de-DE" sz="800" dirty="0">
                <a:solidFill>
                  <a:srgbClr val="64748B"/>
                </a:solidFill>
                <a:latin typeface="Calibri" pitchFamily="34" charset="0"/>
              </a:rPr>
              <a:t>Chronos | AI for Business Prognosis | SoSe 2026 | Graduate Campus, HS Aalen</a:t>
            </a:r>
          </a:p>
        </p:txBody>
      </p:sp>
      <p:sp>
        <p:nvSpPr>
          <p:cNvPr id="21" name="Card Left">
            <a:extLst>
              <a:ext uri="{FF2B5EF4-FFF2-40B4-BE49-F238E27FC236}">
                <a16:creationId xmlns:a16="http://schemas.microsoft.com/office/drawing/2014/main" id="{1AAA81F7-AD24-86D0-AC16-47D9B414F2EB}"/>
              </a:ext>
            </a:extLst>
          </p:cNvPr>
          <p:cNvSpPr/>
          <p:nvPr/>
        </p:nvSpPr>
        <p:spPr>
          <a:xfrm>
            <a:off x="5584372" y="1013964"/>
            <a:ext cx="3193868" cy="3407813"/>
          </a:xfrm>
          <a:prstGeom prst="roundRect">
            <a:avLst>
              <a:gd name="adj" fmla="val 232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pPr>
              <a:defRPr/>
            </a:pPr>
            <a:r>
              <a:rPr lang="de-DE" sz="1200" dirty="0">
                <a:solidFill>
                  <a:srgbClr val="0D1B2A"/>
                </a:solidFill>
                <a:latin typeface="Calibri" pitchFamily="34" charset="0"/>
              </a:rPr>
              <a:t>▸Datensatz: </a:t>
            </a:r>
            <a:r>
              <a:rPr lang="de-DE" sz="1200" dirty="0">
                <a:solidFill>
                  <a:prstClr val="black"/>
                </a:solidFill>
                <a:latin typeface="Calibri" panose="020F0502020204030204"/>
              </a:rPr>
              <a:t>Monatliche Anzahl der Flugpassiere einer US-Fluglinie</a:t>
            </a:r>
          </a:p>
          <a:p>
            <a:pPr>
              <a:defRPr/>
            </a:pPr>
            <a:r>
              <a:rPr lang="de-DE" sz="1200" dirty="0">
                <a:solidFill>
                  <a:prstClr val="black"/>
                </a:solidFill>
                <a:latin typeface="Calibri" panose="020F0502020204030204"/>
              </a:rPr>
              <a:t> </a:t>
            </a:r>
          </a:p>
          <a:p>
            <a:pPr>
              <a:defRPr/>
            </a:pPr>
            <a:r>
              <a:rPr lang="de-DE" sz="1200" dirty="0">
                <a:solidFill>
                  <a:prstClr val="black"/>
                </a:solidFill>
                <a:latin typeface="Calibri" panose="020F0502020204030204"/>
              </a:rPr>
              <a:t>▸</a:t>
            </a:r>
            <a:r>
              <a:rPr lang="de-DE" sz="1200" b="1" dirty="0">
                <a:solidFill>
                  <a:prstClr val="black"/>
                </a:solidFill>
                <a:latin typeface="Calibri" panose="020F0502020204030204"/>
              </a:rPr>
              <a:t>Zero-Shot-Performance</a:t>
            </a:r>
            <a:r>
              <a:rPr lang="de-DE" sz="1200" dirty="0">
                <a:solidFill>
                  <a:prstClr val="black"/>
                </a:solidFill>
                <a:latin typeface="Calibri" panose="020F0502020204030204"/>
              </a:rPr>
              <a:t>: Chronos (hier: chronos-t5-small) sagt die Passagierzahlen korrekt voraus und liefert das Unsicherheitsintervall direkt mit aus</a:t>
            </a:r>
          </a:p>
          <a:p>
            <a:pPr>
              <a:defRPr/>
            </a:pPr>
            <a:endParaRPr lang="de-DE" sz="1200" dirty="0">
              <a:solidFill>
                <a:prstClr val="black"/>
              </a:solidFill>
              <a:latin typeface="Calibri" panose="020F0502020204030204"/>
            </a:endParaRPr>
          </a:p>
          <a:p>
            <a:pPr lvl="0">
              <a:defRPr/>
            </a:pPr>
            <a:r>
              <a:rPr lang="de-DE" sz="1200" dirty="0">
                <a:solidFill>
                  <a:srgbClr val="0D1B2A"/>
                </a:solidFill>
                <a:latin typeface="Calibri" pitchFamily="34" charset="0"/>
              </a:rPr>
              <a:t>▸</a:t>
            </a:r>
            <a:r>
              <a:rPr lang="de-DE" sz="1200" dirty="0">
                <a:solidFill>
                  <a:prstClr val="black"/>
                </a:solidFill>
                <a:latin typeface="Calibri" panose="020F0502020204030204"/>
              </a:rPr>
              <a:t>Einfluss </a:t>
            </a:r>
            <a:r>
              <a:rPr lang="de-DE" sz="1200" b="1" dirty="0">
                <a:solidFill>
                  <a:prstClr val="black"/>
                </a:solidFill>
                <a:latin typeface="Calibri" panose="020F0502020204030204"/>
              </a:rPr>
              <a:t>Kontextfenster</a:t>
            </a:r>
            <a:r>
              <a:rPr lang="de-DE" sz="1200" dirty="0">
                <a:solidFill>
                  <a:prstClr val="black"/>
                </a:solidFill>
                <a:latin typeface="Calibri" panose="020F0502020204030204"/>
              </a:rPr>
              <a:t>: Werden nur die die letzten 36 Monate für die Prognose verwendet ist das Kontextfenster zu kurz </a:t>
            </a:r>
            <a:r>
              <a:rPr lang="de-DE" sz="1200" dirty="0">
                <a:solidFill>
                  <a:prstClr val="black"/>
                </a:solidFill>
                <a:latin typeface="Calibri" panose="020F0502020204030204"/>
                <a:sym typeface="Wingdings" panose="05000000000000000000" pitchFamily="2" charset="2"/>
              </a:rPr>
              <a:t> Chronos unterschätzt den Trend.</a:t>
            </a:r>
            <a:r>
              <a:rPr lang="de-DE" sz="1200" dirty="0">
                <a:solidFill>
                  <a:prstClr val="black"/>
                </a:solidFill>
                <a:latin typeface="Calibri" panose="020F0502020204030204"/>
              </a:rPr>
              <a:t> </a:t>
            </a:r>
          </a:p>
          <a:p>
            <a:pPr lvl="0">
              <a:defRPr/>
            </a:pPr>
            <a:endParaRPr lang="de-DE" sz="1200" dirty="0">
              <a:solidFill>
                <a:prstClr val="black"/>
              </a:solidFill>
              <a:latin typeface="Calibri" panose="020F0502020204030204"/>
            </a:endParaRPr>
          </a:p>
          <a:p>
            <a:pPr lvl="0">
              <a:defRPr/>
            </a:pPr>
            <a:endParaRPr lang="de-DE" sz="1200" dirty="0">
              <a:solidFill>
                <a:prstClr val="black"/>
              </a:solidFill>
              <a:latin typeface="Calibri" panose="020F0502020204030204"/>
            </a:endParaRPr>
          </a:p>
          <a:p>
            <a:pPr lvl="0">
              <a:defRPr/>
            </a:pPr>
            <a:endParaRPr lang="de-DE" sz="1200" dirty="0">
              <a:solidFill>
                <a:prstClr val="black"/>
              </a:solidFill>
              <a:latin typeface="Calibri" panose="020F0502020204030204"/>
            </a:endParaRPr>
          </a:p>
          <a:p>
            <a:pPr lvl="0">
              <a:defRPr/>
            </a:pPr>
            <a:endParaRPr lang="de-DE" sz="1200" dirty="0">
              <a:solidFill>
                <a:prstClr val="black"/>
              </a:solidFill>
              <a:latin typeface="Calibri" panose="020F0502020204030204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171421E2-6463-EE5C-9C8A-61DCA2ADC600}"/>
              </a:ext>
            </a:extLst>
          </p:cNvPr>
          <p:cNvSpPr txBox="1"/>
          <p:nvPr/>
        </p:nvSpPr>
        <p:spPr>
          <a:xfrm>
            <a:off x="97971" y="4661847"/>
            <a:ext cx="7112726" cy="256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de-DE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https://raw.githubusercontent.com/AileenNielsen/TimeSeriesAnalysisWithPython/master/data/AirPassengers.csv</a:t>
            </a:r>
            <a:endParaRPr lang="de-DE" sz="9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350C7271-5381-5853-A223-A2A874880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13963"/>
            <a:ext cx="4721880" cy="3407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3243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52AA09-A79B-F4EF-554B-EA6130405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>
            <a:extLst>
              <a:ext uri="{FF2B5EF4-FFF2-40B4-BE49-F238E27FC236}">
                <a16:creationId xmlns:a16="http://schemas.microsoft.com/office/drawing/2014/main" id="{FF27329A-5268-8592-4FFF-EDCD01F8CE5C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pPr defTabSz="685800"/>
            <a:endParaRPr lang="de-DE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177CC07E-6772-7C67-9D67-C693E9E20E5C}"/>
              </a:ext>
            </a:extLst>
          </p:cNvPr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de-DE" sz="2100" b="1" dirty="0">
                <a:solidFill>
                  <a:srgbClr val="FFFFFF"/>
                </a:solidFill>
                <a:latin typeface="Cambria" pitchFamily="34" charset="0"/>
              </a:rPr>
              <a:t>Anwendungsbeispiel - Box &amp; Jenkins Airline </a:t>
            </a:r>
            <a:r>
              <a:rPr lang="de-DE" sz="2100" b="1" dirty="0" err="1">
                <a:solidFill>
                  <a:srgbClr val="FFFFFF"/>
                </a:solidFill>
                <a:latin typeface="Cambria" pitchFamily="34" charset="0"/>
              </a:rPr>
              <a:t>Passengers</a:t>
            </a:r>
            <a:r>
              <a:rPr lang="de-DE" sz="2100" b="1" dirty="0">
                <a:solidFill>
                  <a:srgbClr val="FFFFFF"/>
                </a:solidFill>
                <a:latin typeface="Cambria" pitchFamily="34" charset="0"/>
              </a:rPr>
              <a:t> II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7DAA3673-ACC1-2CBE-98A7-F512392C4051}"/>
              </a:ext>
            </a:extLst>
          </p:cNvPr>
          <p:cNvSpPr/>
          <p:nvPr/>
        </p:nvSpPr>
        <p:spPr>
          <a:xfrm>
            <a:off x="182880" y="489204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de-DE" sz="800" dirty="0">
                <a:solidFill>
                  <a:srgbClr val="64748B"/>
                </a:solidFill>
                <a:latin typeface="Calibri" pitchFamily="34" charset="0"/>
              </a:rPr>
              <a:t>Chronos | AI for Business Prognosis | SoSe 2026 | Graduate Campus, HS Aalen</a:t>
            </a:r>
          </a:p>
        </p:txBody>
      </p:sp>
      <p:sp>
        <p:nvSpPr>
          <p:cNvPr id="21" name="Card Left">
            <a:extLst>
              <a:ext uri="{FF2B5EF4-FFF2-40B4-BE49-F238E27FC236}">
                <a16:creationId xmlns:a16="http://schemas.microsoft.com/office/drawing/2014/main" id="{E796FFD2-F510-272A-527C-0AA18725EB33}"/>
              </a:ext>
            </a:extLst>
          </p:cNvPr>
          <p:cNvSpPr/>
          <p:nvPr/>
        </p:nvSpPr>
        <p:spPr>
          <a:xfrm>
            <a:off x="5584372" y="824552"/>
            <a:ext cx="3193868" cy="3407813"/>
          </a:xfrm>
          <a:prstGeom prst="roundRect">
            <a:avLst>
              <a:gd name="adj" fmla="val 232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pPr lvl="0">
              <a:defRPr/>
            </a:pPr>
            <a:r>
              <a:rPr lang="de-DE" sz="1200" dirty="0">
                <a:solidFill>
                  <a:srgbClr val="0D1B2A"/>
                </a:solidFill>
                <a:latin typeface="Calibri" pitchFamily="34" charset="0"/>
              </a:rPr>
              <a:t>▸</a:t>
            </a:r>
            <a:r>
              <a:rPr lang="de-DE" sz="1200" dirty="0">
                <a:solidFill>
                  <a:prstClr val="black"/>
                </a:solidFill>
                <a:latin typeface="Calibri" panose="020F0502020204030204"/>
              </a:rPr>
              <a:t>Erzeugung des </a:t>
            </a:r>
            <a:r>
              <a:rPr lang="de-DE" sz="1200" b="1" dirty="0">
                <a:solidFill>
                  <a:prstClr val="black"/>
                </a:solidFill>
                <a:latin typeface="Calibri" panose="020F0502020204030204"/>
              </a:rPr>
              <a:t>Konfidenzintervalls</a:t>
            </a:r>
            <a:r>
              <a:rPr lang="de-DE" sz="1200" dirty="0">
                <a:solidFill>
                  <a:prstClr val="black"/>
                </a:solidFill>
                <a:latin typeface="Calibri" panose="020F0502020204030204"/>
              </a:rPr>
              <a:t> durch Ziehen mehrerer Sample-Trajektorien aus der Token-Wahrscheinlichkeitsverteilung und Berechnung empirischer Quantile für jeden Zeitschritt</a:t>
            </a:r>
          </a:p>
          <a:p>
            <a:pPr>
              <a:defRPr/>
            </a:pPr>
            <a:endParaRPr lang="de-DE" sz="1200" dirty="0">
              <a:solidFill>
                <a:prstClr val="black"/>
              </a:solidFill>
              <a:latin typeface="Calibri" panose="020F0502020204030204"/>
            </a:endParaRPr>
          </a:p>
          <a:p>
            <a:pPr>
              <a:defRPr/>
            </a:pPr>
            <a:r>
              <a:rPr lang="de-DE" sz="1200" dirty="0">
                <a:solidFill>
                  <a:prstClr val="black"/>
                </a:solidFill>
                <a:latin typeface="Calibri" panose="020F0502020204030204"/>
              </a:rPr>
              <a:t>▸Steigende Breite des Konfidenzintervalls mit längerem Prädiktionszeitfenster.</a:t>
            </a:r>
          </a:p>
          <a:p>
            <a:pPr>
              <a:defRPr/>
            </a:pPr>
            <a:endParaRPr lang="de-DE" sz="1200" dirty="0">
              <a:solidFill>
                <a:prstClr val="black"/>
              </a:solidFill>
              <a:latin typeface="Calibri" panose="020F0502020204030204"/>
            </a:endParaRPr>
          </a:p>
          <a:p>
            <a:pPr>
              <a:defRPr/>
            </a:pPr>
            <a:r>
              <a:rPr lang="de-DE" sz="1200" dirty="0">
                <a:solidFill>
                  <a:prstClr val="black"/>
                </a:solidFill>
                <a:latin typeface="Calibri" panose="020F0502020204030204"/>
              </a:rPr>
              <a:t>▸Vgl. Bonus-Notebook </a:t>
            </a:r>
            <a:r>
              <a:rPr lang="de-DE" sz="1200" dirty="0" err="1">
                <a:solidFill>
                  <a:prstClr val="black"/>
                </a:solidFill>
                <a:latin typeface="Calibri" panose="020F0502020204030204"/>
              </a:rPr>
              <a:t>Airpassengers.ipynb</a:t>
            </a:r>
            <a:r>
              <a:rPr lang="de-DE" sz="1200" dirty="0">
                <a:solidFill>
                  <a:prstClr val="black"/>
                </a:solidFill>
                <a:latin typeface="Calibri" panose="020F0502020204030204"/>
              </a:rPr>
              <a:t>.</a:t>
            </a:r>
          </a:p>
          <a:p>
            <a:pPr>
              <a:defRPr/>
            </a:pPr>
            <a:endParaRPr lang="de-DE" sz="1200" dirty="0">
              <a:solidFill>
                <a:prstClr val="black"/>
              </a:solidFill>
              <a:latin typeface="Calibri" panose="020F0502020204030204"/>
            </a:endParaRPr>
          </a:p>
          <a:p>
            <a:pPr>
              <a:defRPr/>
            </a:pPr>
            <a:endParaRPr lang="de-DE" sz="1200" dirty="0">
              <a:solidFill>
                <a:prstClr val="black"/>
              </a:solidFill>
              <a:latin typeface="Calibri" panose="020F0502020204030204"/>
            </a:endParaRPr>
          </a:p>
          <a:p>
            <a:pPr>
              <a:defRPr/>
            </a:pPr>
            <a:endParaRPr lang="de-DE" sz="1200" dirty="0">
              <a:solidFill>
                <a:prstClr val="black"/>
              </a:solidFill>
              <a:latin typeface="Calibri" panose="020F0502020204030204"/>
            </a:endParaRPr>
          </a:p>
          <a:p>
            <a:pPr>
              <a:defRPr/>
            </a:pPr>
            <a:r>
              <a:rPr lang="de-DE" sz="1200" dirty="0">
                <a:solidFill>
                  <a:prstClr val="black"/>
                </a:solidFill>
                <a:latin typeface="Calibri" panose="020F0502020204030204"/>
              </a:rPr>
              <a:t> </a:t>
            </a:r>
          </a:p>
          <a:p>
            <a:pPr>
              <a:defRPr/>
            </a:pPr>
            <a:endParaRPr lang="de-DE" sz="1200" b="1" dirty="0">
              <a:solidFill>
                <a:prstClr val="black"/>
              </a:solidFill>
              <a:latin typeface="Calibri" panose="020F0502020204030204"/>
            </a:endParaRPr>
          </a:p>
          <a:p>
            <a:pPr>
              <a:defRPr/>
            </a:pPr>
            <a:endParaRPr lang="de-DE" sz="1200" dirty="0">
              <a:solidFill>
                <a:prstClr val="black"/>
              </a:solidFill>
              <a:latin typeface="Calibri" panose="020F0502020204030204"/>
            </a:endParaRPr>
          </a:p>
          <a:p>
            <a:pPr lvl="0">
              <a:defRPr/>
            </a:pPr>
            <a:endParaRPr lang="de-DE" sz="1200" dirty="0">
              <a:solidFill>
                <a:prstClr val="black"/>
              </a:solidFill>
              <a:latin typeface="Calibri" panose="020F0502020204030204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4FC77904-22DE-6B69-744C-755C35BAC1CB}"/>
              </a:ext>
            </a:extLst>
          </p:cNvPr>
          <p:cNvSpPr txBox="1"/>
          <p:nvPr/>
        </p:nvSpPr>
        <p:spPr>
          <a:xfrm>
            <a:off x="97971" y="4661847"/>
            <a:ext cx="7112726" cy="256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de-DE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https://raw.githubusercontent.com/AileenNielsen/TimeSeriesAnalysisWithPython/master/data/AirPassengers.csv</a:t>
            </a:r>
            <a:endParaRPr lang="de-DE" sz="9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2F5E5E18-316F-A68A-1499-4F491FC9B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026" y="824552"/>
            <a:ext cx="4961152" cy="3580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0050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32CB18-2D79-CADB-BF51-5F371B73D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>
            <a:extLst>
              <a:ext uri="{FF2B5EF4-FFF2-40B4-BE49-F238E27FC236}">
                <a16:creationId xmlns:a16="http://schemas.microsoft.com/office/drawing/2014/main" id="{A38DA4BC-B510-7338-FBC0-F8EADA61C5C6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pPr defTabSz="685800"/>
            <a:endParaRPr lang="de-DE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2B33BF5A-3232-E55C-B794-27DFF67B8E4F}"/>
              </a:ext>
            </a:extLst>
          </p:cNvPr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de-DE" sz="2100" b="1" dirty="0">
                <a:solidFill>
                  <a:srgbClr val="FFFFFF"/>
                </a:solidFill>
                <a:latin typeface="Cambria" pitchFamily="34" charset="0"/>
              </a:rPr>
              <a:t>Chronos im Code: Von Setup zu Pipeline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0C0A43BC-C34D-53BC-4BA2-4DBC23C74046}"/>
              </a:ext>
            </a:extLst>
          </p:cNvPr>
          <p:cNvSpPr/>
          <p:nvPr/>
        </p:nvSpPr>
        <p:spPr>
          <a:xfrm>
            <a:off x="182880" y="489204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de-DE" sz="800" dirty="0">
                <a:solidFill>
                  <a:srgbClr val="64748B"/>
                </a:solidFill>
                <a:latin typeface="Calibri" pitchFamily="34" charset="0"/>
              </a:rPr>
              <a:t>Chronos | AI for Business Prognosis | SoSe 2026 | Graduate Campus, HS Aalen</a:t>
            </a:r>
          </a:p>
        </p:txBody>
      </p:sp>
      <p:sp>
        <p:nvSpPr>
          <p:cNvPr id="5" name="Step1 Circle">
            <a:extLst>
              <a:ext uri="{FF2B5EF4-FFF2-40B4-BE49-F238E27FC236}">
                <a16:creationId xmlns:a16="http://schemas.microsoft.com/office/drawing/2014/main" id="{32035542-1677-5053-FB4B-93388BABC58C}"/>
              </a:ext>
            </a:extLst>
          </p:cNvPr>
          <p:cNvSpPr/>
          <p:nvPr/>
        </p:nvSpPr>
        <p:spPr>
          <a:xfrm>
            <a:off x="365760" y="712500"/>
            <a:ext cx="255000" cy="255000"/>
          </a:xfrm>
          <a:prstGeom prst="ellipse">
            <a:avLst/>
          </a:prstGeom>
          <a:solidFill>
            <a:srgbClr val="0D1B2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defTabSz="685800"/>
            <a:r>
              <a:rPr lang="de-DE" sz="12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6" name="Step1 Title">
            <a:extLst>
              <a:ext uri="{FF2B5EF4-FFF2-40B4-BE49-F238E27FC236}">
                <a16:creationId xmlns:a16="http://schemas.microsoft.com/office/drawing/2014/main" id="{05EBFF62-8A58-3CD8-FD24-BDD15A15434B}"/>
              </a:ext>
            </a:extLst>
          </p:cNvPr>
          <p:cNvSpPr/>
          <p:nvPr/>
        </p:nvSpPr>
        <p:spPr>
          <a:xfrm>
            <a:off x="690000" y="712500"/>
            <a:ext cx="7687500" cy="25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de-DE" sz="1200" b="1" dirty="0">
                <a:solidFill>
                  <a:srgbClr val="0D1B2A"/>
                </a:solidFill>
                <a:latin typeface="Calibri" pitchFamily="34" charset="0"/>
              </a:rPr>
              <a:t>Paket laden</a:t>
            </a:r>
          </a:p>
        </p:txBody>
      </p:sp>
      <p:sp>
        <p:nvSpPr>
          <p:cNvPr id="7" name="Step1 Code Box">
            <a:extLst>
              <a:ext uri="{FF2B5EF4-FFF2-40B4-BE49-F238E27FC236}">
                <a16:creationId xmlns:a16="http://schemas.microsoft.com/office/drawing/2014/main" id="{8D8EC8C8-7742-72F7-DA32-25F1DB7AC1C7}"/>
              </a:ext>
            </a:extLst>
          </p:cNvPr>
          <p:cNvSpPr/>
          <p:nvPr/>
        </p:nvSpPr>
        <p:spPr>
          <a:xfrm>
            <a:off x="365760" y="997500"/>
            <a:ext cx="8412480" cy="712500"/>
          </a:xfrm>
          <a:prstGeom prst="roundRect">
            <a:avLst>
              <a:gd name="adj" fmla="val 4000"/>
            </a:avLst>
          </a:prstGeom>
          <a:solidFill>
            <a:srgbClr val="0D1B2A"/>
          </a:solidFill>
          <a:ln>
            <a:noFill/>
          </a:ln>
        </p:spPr>
        <p:txBody>
          <a:bodyPr wrap="square" lIns="171450" tIns="68580" rIns="171450" bIns="68580" rtlCol="0" anchor="ctr"/>
          <a:lstStyle/>
          <a:p>
            <a:pPr defTabSz="685800">
              <a:spcAft>
                <a:spcPts val="225"/>
              </a:spcAft>
            </a:pPr>
            <a:r>
              <a:rPr lang="en-US" sz="938" dirty="0">
                <a:solidFill>
                  <a:srgbClr val="94A3B8"/>
                </a:solidFill>
                <a:latin typeface="Courier New" pitchFamily="34" charset="0"/>
              </a:rPr>
              <a:t>!pip install chronos-forecasting</a:t>
            </a:r>
          </a:p>
          <a:p>
            <a:pPr defTabSz="685800">
              <a:spcAft>
                <a:spcPts val="225"/>
              </a:spcAft>
            </a:pPr>
            <a:r>
              <a:rPr lang="en-US" sz="938" dirty="0">
                <a:solidFill>
                  <a:srgbClr val="90E0EF"/>
                </a:solidFill>
                <a:latin typeface="Courier New" pitchFamily="34" charset="0"/>
              </a:rPr>
              <a:t>import</a:t>
            </a:r>
            <a:r>
              <a:rPr lang="en-US" sz="938" dirty="0">
                <a:solidFill>
                  <a:srgbClr val="FFFFFF"/>
                </a:solidFill>
                <a:latin typeface="Courier New" pitchFamily="34" charset="0"/>
              </a:rPr>
              <a:t> pandas </a:t>
            </a:r>
            <a:r>
              <a:rPr lang="en-US" sz="938" dirty="0">
                <a:solidFill>
                  <a:srgbClr val="90E0EF"/>
                </a:solidFill>
                <a:latin typeface="Courier New" pitchFamily="34" charset="0"/>
              </a:rPr>
              <a:t>as</a:t>
            </a:r>
            <a:r>
              <a:rPr lang="en-US" sz="938" dirty="0">
                <a:solidFill>
                  <a:srgbClr val="FFFFFF"/>
                </a:solidFill>
                <a:latin typeface="Courier New" pitchFamily="34" charset="0"/>
              </a:rPr>
              <a:t> pd</a:t>
            </a:r>
          </a:p>
          <a:p>
            <a:pPr defTabSz="685800">
              <a:spcAft>
                <a:spcPts val="225"/>
              </a:spcAft>
            </a:pPr>
            <a:r>
              <a:rPr lang="en-US" sz="938" dirty="0">
                <a:solidFill>
                  <a:srgbClr val="90E0EF"/>
                </a:solidFill>
                <a:latin typeface="Courier New" pitchFamily="34" charset="0"/>
              </a:rPr>
              <a:t>import</a:t>
            </a:r>
            <a:r>
              <a:rPr lang="en-US" sz="938" dirty="0">
                <a:solidFill>
                  <a:srgbClr val="FFFFFF"/>
                </a:solidFill>
                <a:latin typeface="Courier New" pitchFamily="34" charset="0"/>
              </a:rPr>
              <a:t> torch</a:t>
            </a:r>
          </a:p>
          <a:p>
            <a:pPr defTabSz="685800"/>
            <a:r>
              <a:rPr lang="en-US" sz="938" dirty="0">
                <a:solidFill>
                  <a:srgbClr val="90E0EF"/>
                </a:solidFill>
                <a:latin typeface="Courier New" pitchFamily="34" charset="0"/>
              </a:rPr>
              <a:t>from</a:t>
            </a:r>
            <a:r>
              <a:rPr lang="en-US" sz="938" dirty="0">
                <a:solidFill>
                  <a:srgbClr val="FFFFFF"/>
                </a:solidFill>
                <a:latin typeface="Courier New" pitchFamily="34" charset="0"/>
              </a:rPr>
              <a:t> chronos </a:t>
            </a:r>
            <a:r>
              <a:rPr lang="en-US" sz="938" dirty="0">
                <a:solidFill>
                  <a:srgbClr val="90E0EF"/>
                </a:solidFill>
                <a:latin typeface="Courier New" pitchFamily="34" charset="0"/>
              </a:rPr>
              <a:t>import</a:t>
            </a:r>
            <a:r>
              <a:rPr lang="en-US" sz="938" dirty="0">
                <a:solidFill>
                  <a:srgbClr val="FFFFFF"/>
                </a:solidFill>
                <a:latin typeface="Courier New" pitchFamily="34" charset="0"/>
              </a:rPr>
              <a:t> ChronosPipeline</a:t>
            </a:r>
          </a:p>
        </p:txBody>
      </p:sp>
      <p:sp>
        <p:nvSpPr>
          <p:cNvPr id="8" name="Step2 Circle">
            <a:extLst>
              <a:ext uri="{FF2B5EF4-FFF2-40B4-BE49-F238E27FC236}">
                <a16:creationId xmlns:a16="http://schemas.microsoft.com/office/drawing/2014/main" id="{BA442F93-04D8-9B49-E251-12ECE1CE29E5}"/>
              </a:ext>
            </a:extLst>
          </p:cNvPr>
          <p:cNvSpPr/>
          <p:nvPr/>
        </p:nvSpPr>
        <p:spPr>
          <a:xfrm>
            <a:off x="365760" y="1792500"/>
            <a:ext cx="255000" cy="2550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defTabSz="685800"/>
            <a:r>
              <a:rPr lang="de-DE" sz="12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9" name="Step2 Title">
            <a:extLst>
              <a:ext uri="{FF2B5EF4-FFF2-40B4-BE49-F238E27FC236}">
                <a16:creationId xmlns:a16="http://schemas.microsoft.com/office/drawing/2014/main" id="{4E513992-52F3-F2D2-69DE-1F865DEF256E}"/>
              </a:ext>
            </a:extLst>
          </p:cNvPr>
          <p:cNvSpPr/>
          <p:nvPr/>
        </p:nvSpPr>
        <p:spPr>
          <a:xfrm>
            <a:off x="690000" y="1792500"/>
            <a:ext cx="7687500" cy="25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de-DE" sz="1200" b="1" dirty="0">
                <a:solidFill>
                  <a:srgbClr val="1D4ED8"/>
                </a:solidFill>
                <a:latin typeface="Calibri" pitchFamily="34" charset="0"/>
              </a:rPr>
              <a:t>Trainings- und Testdaten laden bzw. Daten für die Zero-Shot Vorhersage aufrufen</a:t>
            </a:r>
          </a:p>
        </p:txBody>
      </p:sp>
      <p:sp>
        <p:nvSpPr>
          <p:cNvPr id="10" name="Step2 Code Box">
            <a:extLst>
              <a:ext uri="{FF2B5EF4-FFF2-40B4-BE49-F238E27FC236}">
                <a16:creationId xmlns:a16="http://schemas.microsoft.com/office/drawing/2014/main" id="{34D3C5AC-AD54-C672-87BA-36C4FB0ABF58}"/>
              </a:ext>
            </a:extLst>
          </p:cNvPr>
          <p:cNvSpPr/>
          <p:nvPr/>
        </p:nvSpPr>
        <p:spPr>
          <a:xfrm>
            <a:off x="365760" y="2077500"/>
            <a:ext cx="8412480" cy="570000"/>
          </a:xfrm>
          <a:prstGeom prst="roundRect">
            <a:avLst>
              <a:gd name="adj" fmla="val 4000"/>
            </a:avLst>
          </a:prstGeom>
          <a:solidFill>
            <a:srgbClr val="0D1B2A"/>
          </a:solidFill>
          <a:ln>
            <a:noFill/>
          </a:ln>
        </p:spPr>
        <p:txBody>
          <a:bodyPr wrap="square" lIns="171450" tIns="68580" rIns="171450" bIns="68580" rtlCol="0" anchor="ctr"/>
          <a:lstStyle/>
          <a:p>
            <a:pPr defTabSz="685800">
              <a:spcAft>
                <a:spcPts val="225"/>
              </a:spcAft>
            </a:pPr>
            <a:r>
              <a:rPr lang="en-US" sz="938" dirty="0">
                <a:solidFill>
                  <a:srgbClr val="FFFFFF"/>
                </a:solidFill>
                <a:latin typeface="Courier New" pitchFamily="34" charset="0"/>
              </a:rPr>
              <a:t>df = pd.read_csv("zeitreihe.csv")</a:t>
            </a:r>
          </a:p>
          <a:p>
            <a:pPr defTabSz="685800">
              <a:spcAft>
                <a:spcPts val="225"/>
              </a:spcAft>
            </a:pPr>
            <a:r>
              <a:rPr lang="en-US" sz="938" dirty="0">
                <a:solidFill>
                  <a:srgbClr val="FFFFFF"/>
                </a:solidFill>
                <a:latin typeface="Courier New" pitchFamily="34" charset="0"/>
              </a:rPr>
              <a:t>context = torch.tensor(df["wert"][:context_len])</a:t>
            </a:r>
          </a:p>
          <a:p>
            <a:pPr defTabSz="685800"/>
            <a:r>
              <a:rPr lang="en-US" sz="938" dirty="0">
                <a:solidFill>
                  <a:srgbClr val="FFFFFF"/>
                </a:solidFill>
                <a:latin typeface="Courier New" pitchFamily="34" charset="0"/>
              </a:rPr>
              <a:t>actual_future = df["wert"][context_len:]</a:t>
            </a:r>
          </a:p>
        </p:txBody>
      </p:sp>
      <p:sp>
        <p:nvSpPr>
          <p:cNvPr id="11" name="Step3 Circle">
            <a:extLst>
              <a:ext uri="{FF2B5EF4-FFF2-40B4-BE49-F238E27FC236}">
                <a16:creationId xmlns:a16="http://schemas.microsoft.com/office/drawing/2014/main" id="{C2998323-96DC-7805-181D-43B9A6958856}"/>
              </a:ext>
            </a:extLst>
          </p:cNvPr>
          <p:cNvSpPr/>
          <p:nvPr/>
        </p:nvSpPr>
        <p:spPr>
          <a:xfrm>
            <a:off x="365760" y="2730000"/>
            <a:ext cx="255000" cy="255000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defTabSz="685800"/>
            <a:r>
              <a:rPr lang="de-DE" sz="12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12" name="Step3 Title">
            <a:extLst>
              <a:ext uri="{FF2B5EF4-FFF2-40B4-BE49-F238E27FC236}">
                <a16:creationId xmlns:a16="http://schemas.microsoft.com/office/drawing/2014/main" id="{DA7C5F0B-6148-5282-DB08-55F3EB9DA8EB}"/>
              </a:ext>
            </a:extLst>
          </p:cNvPr>
          <p:cNvSpPr/>
          <p:nvPr/>
        </p:nvSpPr>
        <p:spPr>
          <a:xfrm>
            <a:off x="690000" y="2730000"/>
            <a:ext cx="7687500" cy="25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de-DE" sz="1200" b="1" dirty="0">
                <a:solidFill>
                  <a:srgbClr val="15803D"/>
                </a:solidFill>
                <a:latin typeface="Calibri" pitchFamily="34" charset="0"/>
              </a:rPr>
              <a:t>Chronos-Pipeline definieren</a:t>
            </a:r>
          </a:p>
        </p:txBody>
      </p:sp>
      <p:sp>
        <p:nvSpPr>
          <p:cNvPr id="13" name="Step3 Code Box">
            <a:extLst>
              <a:ext uri="{FF2B5EF4-FFF2-40B4-BE49-F238E27FC236}">
                <a16:creationId xmlns:a16="http://schemas.microsoft.com/office/drawing/2014/main" id="{5A4C79DA-2EE0-522F-ED10-405AA3F6954F}"/>
              </a:ext>
            </a:extLst>
          </p:cNvPr>
          <p:cNvSpPr/>
          <p:nvPr/>
        </p:nvSpPr>
        <p:spPr>
          <a:xfrm>
            <a:off x="365760" y="3015000"/>
            <a:ext cx="8412480" cy="862500"/>
          </a:xfrm>
          <a:prstGeom prst="roundRect">
            <a:avLst>
              <a:gd name="adj" fmla="val 4000"/>
            </a:avLst>
          </a:prstGeom>
          <a:solidFill>
            <a:srgbClr val="0D1B2A"/>
          </a:solidFill>
          <a:ln>
            <a:noFill/>
          </a:ln>
        </p:spPr>
        <p:txBody>
          <a:bodyPr wrap="square" lIns="171450" tIns="68580" rIns="171450" bIns="68580" rtlCol="0" anchor="ctr"/>
          <a:lstStyle/>
          <a:p>
            <a:pPr defTabSz="685800">
              <a:spcAft>
                <a:spcPts val="225"/>
              </a:spcAft>
            </a:pPr>
            <a:r>
              <a:rPr lang="en-US" sz="938" dirty="0">
                <a:solidFill>
                  <a:srgbClr val="FFFFFF"/>
                </a:solidFill>
                <a:latin typeface="Courier New" pitchFamily="34" charset="0"/>
              </a:rPr>
              <a:t>pipeline = ChronosPipeline.from_pretrained(</a:t>
            </a:r>
          </a:p>
          <a:p>
            <a:pPr defTabSz="685800">
              <a:spcAft>
                <a:spcPts val="225"/>
              </a:spcAft>
            </a:pPr>
            <a:r>
              <a:rPr lang="en-US" sz="938" dirty="0">
                <a:solidFill>
                  <a:srgbClr val="F9A826"/>
                </a:solidFill>
                <a:latin typeface="Courier New" pitchFamily="34" charset="0"/>
              </a:rPr>
              <a:t>    "amazon/chronos-t5-small"</a:t>
            </a:r>
            <a:r>
              <a:rPr lang="en-US" sz="938" dirty="0">
                <a:solidFill>
                  <a:srgbClr val="FFFFFF"/>
                </a:solidFill>
                <a:latin typeface="Courier New" pitchFamily="34" charset="0"/>
              </a:rPr>
              <a:t>,</a:t>
            </a:r>
            <a:r>
              <a:rPr lang="en-US" sz="938" dirty="0">
                <a:solidFill>
                  <a:srgbClr val="94A3B8"/>
                </a:solidFill>
                <a:latin typeface="Courier New" pitchFamily="34" charset="0"/>
              </a:rPr>
              <a:t>  # alternativ: tiny, mini, base, large -- oder chronos-bolt-*, chronos-2</a:t>
            </a:r>
          </a:p>
          <a:p>
            <a:pPr defTabSz="685800">
              <a:spcAft>
                <a:spcPts val="225"/>
              </a:spcAft>
            </a:pPr>
            <a:r>
              <a:rPr lang="en-US" sz="938" dirty="0">
                <a:solidFill>
                  <a:srgbClr val="FFFFFF"/>
                </a:solidFill>
                <a:latin typeface="Courier New" pitchFamily="34" charset="0"/>
              </a:rPr>
              <a:t>    device_map=</a:t>
            </a:r>
            <a:r>
              <a:rPr lang="en-US" sz="938" dirty="0">
                <a:solidFill>
                  <a:srgbClr val="F9A826"/>
                </a:solidFill>
                <a:latin typeface="Courier New" pitchFamily="34" charset="0"/>
              </a:rPr>
              <a:t>"cpu"</a:t>
            </a:r>
            <a:r>
              <a:rPr lang="en-US" sz="938" dirty="0">
                <a:solidFill>
                  <a:srgbClr val="FFFFFF"/>
                </a:solidFill>
                <a:latin typeface="Courier New" pitchFamily="34" charset="0"/>
              </a:rPr>
              <a:t>,</a:t>
            </a:r>
            <a:r>
              <a:rPr lang="en-US" sz="938" dirty="0">
                <a:solidFill>
                  <a:srgbClr val="94A3B8"/>
                </a:solidFill>
                <a:latin typeface="Courier New" pitchFamily="34" charset="0"/>
              </a:rPr>
              <a:t>  # idealerweise "cuda", falls GPU verfügbar</a:t>
            </a:r>
          </a:p>
          <a:p>
            <a:pPr defTabSz="685800">
              <a:spcAft>
                <a:spcPts val="225"/>
              </a:spcAft>
            </a:pPr>
            <a:r>
              <a:rPr lang="en-US" sz="938" dirty="0">
                <a:solidFill>
                  <a:srgbClr val="FFFFFF"/>
                </a:solidFill>
                <a:latin typeface="Courier New" pitchFamily="34" charset="0"/>
              </a:rPr>
              <a:t>    torch_dtype=torch.float32,</a:t>
            </a:r>
          </a:p>
          <a:p>
            <a:pPr defTabSz="685800"/>
            <a:r>
              <a:rPr lang="en-US" sz="938" dirty="0">
                <a:solidFill>
                  <a:srgbClr val="FFFFFF"/>
                </a:solidFill>
                <a:latin typeface="Courier New" pitchFamily="34" charset="0"/>
              </a:rPr>
              <a:t>)</a:t>
            </a:r>
          </a:p>
        </p:txBody>
      </p:sp>
      <p:sp>
        <p:nvSpPr>
          <p:cNvPr id="15" name="Step4 Circle">
            <a:extLst>
              <a:ext uri="{FF2B5EF4-FFF2-40B4-BE49-F238E27FC236}">
                <a16:creationId xmlns:a16="http://schemas.microsoft.com/office/drawing/2014/main" id="{226AAE87-481C-B6EA-EBB2-6886B6A4C367}"/>
              </a:ext>
            </a:extLst>
          </p:cNvPr>
          <p:cNvSpPr/>
          <p:nvPr/>
        </p:nvSpPr>
        <p:spPr>
          <a:xfrm>
            <a:off x="365760" y="3960000"/>
            <a:ext cx="255000" cy="255000"/>
          </a:xfrm>
          <a:prstGeom prst="ellipse">
            <a:avLst/>
          </a:prstGeom>
          <a:solidFill>
            <a:srgbClr val="B45309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defTabSz="685800"/>
            <a:r>
              <a:rPr lang="de-DE" sz="1200" b="1" dirty="0">
                <a:solidFill>
                  <a:srgbClr val="FFFFFF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16" name="Step4 Title">
            <a:extLst>
              <a:ext uri="{FF2B5EF4-FFF2-40B4-BE49-F238E27FC236}">
                <a16:creationId xmlns:a16="http://schemas.microsoft.com/office/drawing/2014/main" id="{8E6E4969-5BA1-E1AC-8863-6CC0C686861B}"/>
              </a:ext>
            </a:extLst>
          </p:cNvPr>
          <p:cNvSpPr/>
          <p:nvPr/>
        </p:nvSpPr>
        <p:spPr>
          <a:xfrm>
            <a:off x="690000" y="3960000"/>
            <a:ext cx="7687500" cy="25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de-DE" sz="1200" b="1" dirty="0">
                <a:solidFill>
                  <a:srgbClr val="B45309"/>
                </a:solidFill>
                <a:latin typeface="Calibri" pitchFamily="34" charset="0"/>
              </a:rPr>
              <a:t>Forecast erstellen</a:t>
            </a:r>
          </a:p>
        </p:txBody>
      </p:sp>
      <p:sp>
        <p:nvSpPr>
          <p:cNvPr id="17" name="Step4 Code Box">
            <a:extLst>
              <a:ext uri="{FF2B5EF4-FFF2-40B4-BE49-F238E27FC236}">
                <a16:creationId xmlns:a16="http://schemas.microsoft.com/office/drawing/2014/main" id="{16E7C3DA-0F7A-EAA3-5962-D5E02A0E9CAC}"/>
              </a:ext>
            </a:extLst>
          </p:cNvPr>
          <p:cNvSpPr/>
          <p:nvPr/>
        </p:nvSpPr>
        <p:spPr>
          <a:xfrm>
            <a:off x="365760" y="4245000"/>
            <a:ext cx="8412480" cy="570000"/>
          </a:xfrm>
          <a:prstGeom prst="roundRect">
            <a:avLst>
              <a:gd name="adj" fmla="val 4000"/>
            </a:avLst>
          </a:prstGeom>
          <a:solidFill>
            <a:srgbClr val="0D1B2A"/>
          </a:solidFill>
          <a:ln>
            <a:noFill/>
          </a:ln>
        </p:spPr>
        <p:txBody>
          <a:bodyPr wrap="square" lIns="171450" tIns="68580" rIns="171450" bIns="68580" rtlCol="0" anchor="ctr"/>
          <a:lstStyle/>
          <a:p>
            <a:pPr defTabSz="685800">
              <a:spcAft>
                <a:spcPts val="225"/>
              </a:spcAft>
            </a:pPr>
            <a:r>
              <a:rPr lang="en-US" sz="938" dirty="0">
                <a:solidFill>
                  <a:srgbClr val="FFFFFF"/>
                </a:solidFill>
                <a:latin typeface="Courier New" pitchFamily="34" charset="0"/>
              </a:rPr>
              <a:t>forecast = pipeline.predict(context, prediction_length=12, num_samples=100)</a:t>
            </a:r>
          </a:p>
          <a:p>
            <a:pPr defTabSz="685800"/>
            <a:r>
              <a:rPr lang="en-US" sz="938" dirty="0">
                <a:solidFill>
                  <a:srgbClr val="FFFFFF"/>
                </a:solidFill>
                <a:latin typeface="Courier New" pitchFamily="34" charset="0"/>
              </a:rPr>
              <a:t>low, median, high = np.quantile(forecast[0].numpy(), [0.1, 0.5, 0.9], axis=0)</a:t>
            </a:r>
            <a:r>
              <a:rPr lang="en-US" sz="938" dirty="0">
                <a:solidFill>
                  <a:srgbClr val="94A3B8"/>
                </a:solidFill>
                <a:latin typeface="Courier New" pitchFamily="34" charset="0"/>
              </a:rPr>
              <a:t> # </a:t>
            </a:r>
            <a:r>
              <a:rPr lang="en-US" sz="938" dirty="0" err="1">
                <a:solidFill>
                  <a:srgbClr val="94A3B8"/>
                </a:solidFill>
                <a:latin typeface="Courier New" pitchFamily="34" charset="0"/>
              </a:rPr>
              <a:t>gewünschtes</a:t>
            </a:r>
            <a:r>
              <a:rPr lang="en-US" sz="938" dirty="0">
                <a:solidFill>
                  <a:srgbClr val="94A3B8"/>
                </a:solidFill>
                <a:latin typeface="Courier New" pitchFamily="34" charset="0"/>
              </a:rPr>
              <a:t> </a:t>
            </a:r>
            <a:r>
              <a:rPr lang="en-US" sz="938" dirty="0" err="1">
                <a:solidFill>
                  <a:srgbClr val="94A3B8"/>
                </a:solidFill>
                <a:latin typeface="Courier New" pitchFamily="34" charset="0"/>
              </a:rPr>
              <a:t>Konfidenzintervall</a:t>
            </a:r>
            <a:endParaRPr lang="en-US" sz="938" dirty="0">
              <a:solidFill>
                <a:srgbClr val="FFFFFF"/>
              </a:solidFill>
              <a:latin typeface="Courier Ne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41470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Benchmark: Zero-Shot </a:t>
            </a:r>
            <a:r>
              <a:rPr lang="en-US" sz="2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Ergebnisse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auf </a:t>
            </a:r>
            <a:r>
              <a:rPr lang="en-US" sz="2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ungesehenen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82880" y="489204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 | AI for Business Prognosis | SoSe 2026 | Graduate Campus, HS Aalen</a:t>
            </a:r>
            <a:endParaRPr lang="en-US" sz="800" dirty="0"/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2442DBE0-30D6-3B56-0F79-7DA9458CCACD}"/>
              </a:ext>
            </a:extLst>
          </p:cNvPr>
          <p:cNvGrpSpPr/>
          <p:nvPr/>
        </p:nvGrpSpPr>
        <p:grpSpPr>
          <a:xfrm>
            <a:off x="574690" y="4370832"/>
            <a:ext cx="3997310" cy="566928"/>
            <a:chOff x="320040" y="4370832"/>
            <a:chExt cx="2743200" cy="566928"/>
          </a:xfrm>
        </p:grpSpPr>
        <p:sp>
          <p:nvSpPr>
            <p:cNvPr id="6" name="Shape 3"/>
            <p:cNvSpPr/>
            <p:nvPr/>
          </p:nvSpPr>
          <p:spPr>
            <a:xfrm>
              <a:off x="320040" y="4370832"/>
              <a:ext cx="2743200" cy="566928"/>
            </a:xfrm>
            <a:prstGeom prst="roundRect">
              <a:avLst>
                <a:gd name="adj" fmla="val 12903"/>
              </a:avLst>
            </a:prstGeom>
            <a:solidFill>
              <a:srgbClr val="ECFDF5"/>
            </a:solidFill>
            <a:ln w="6350">
              <a:solidFill>
                <a:srgbClr val="A7F3D0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" name="Text 4"/>
            <p:cNvSpPr/>
            <p:nvPr/>
          </p:nvSpPr>
          <p:spPr>
            <a:xfrm>
              <a:off x="438912" y="4434840"/>
              <a:ext cx="251460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WQL (Weighted Quantile Loss): </a:t>
              </a:r>
              <a:r>
                <a:rPr lang="en-US" sz="1000" dirty="0" err="1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Qualitätsmaß</a:t>
              </a:r>
              <a:r>
                <a:rPr lang="en-US" sz="1000" dirty="0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000" dirty="0" err="1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einer</a:t>
              </a:r>
              <a:r>
                <a:rPr lang="en-US" sz="1000" dirty="0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000" dirty="0" err="1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probabilistischen</a:t>
              </a:r>
              <a:r>
                <a:rPr lang="en-US" sz="1000" dirty="0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000" dirty="0" err="1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Vorhersage</a:t>
              </a:r>
              <a:r>
                <a:rPr lang="en-US" sz="1000" dirty="0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, </a:t>
              </a:r>
              <a:r>
                <a:rPr lang="en-US" sz="1000" dirty="0" err="1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d.h.</a:t>
              </a:r>
              <a:r>
                <a:rPr lang="en-US" sz="1000" dirty="0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inclusive </a:t>
              </a:r>
              <a:r>
                <a:rPr lang="en-US" sz="1000" dirty="0" err="1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Konfidenzintervall</a:t>
              </a:r>
              <a:r>
                <a:rPr lang="en-US" sz="1000" dirty="0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 Chronos </a:t>
              </a:r>
              <a:r>
                <a:rPr lang="en-US" sz="1000" dirty="0" err="1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schneidet</a:t>
              </a:r>
              <a:r>
                <a:rPr lang="en-US" sz="1000" dirty="0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auf Rang 2–4 </a:t>
              </a:r>
              <a:r>
                <a:rPr lang="en-US" sz="1000" dirty="0" err="1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besser</a:t>
              </a:r>
              <a:r>
                <a:rPr lang="en-US" sz="1000" dirty="0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als die meisten task-</a:t>
              </a:r>
              <a:r>
                <a:rPr lang="en-US" sz="1000" dirty="0" err="1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spezifischen</a:t>
              </a:r>
              <a:r>
                <a:rPr lang="en-US" sz="1000" dirty="0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Modelle ab.</a:t>
              </a:r>
              <a:endParaRPr lang="en-US" sz="1000" dirty="0"/>
            </a:p>
          </p:txBody>
        </p:sp>
      </p:grp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EF9D1848-C0E2-5CC9-D2AB-32EB23D43B67}"/>
              </a:ext>
            </a:extLst>
          </p:cNvPr>
          <p:cNvGrpSpPr/>
          <p:nvPr/>
        </p:nvGrpSpPr>
        <p:grpSpPr>
          <a:xfrm>
            <a:off x="4586174" y="4370832"/>
            <a:ext cx="4037999" cy="566928"/>
            <a:chOff x="3227832" y="4370832"/>
            <a:chExt cx="2743200" cy="566928"/>
          </a:xfrm>
        </p:grpSpPr>
        <p:sp>
          <p:nvSpPr>
            <p:cNvPr id="8" name="Shape 5"/>
            <p:cNvSpPr/>
            <p:nvPr/>
          </p:nvSpPr>
          <p:spPr>
            <a:xfrm>
              <a:off x="3227832" y="4370832"/>
              <a:ext cx="2743200" cy="566928"/>
            </a:xfrm>
            <a:prstGeom prst="roundRect">
              <a:avLst>
                <a:gd name="adj" fmla="val 12903"/>
              </a:avLst>
            </a:prstGeom>
            <a:solidFill>
              <a:srgbClr val="ECFDF5"/>
            </a:solidFill>
            <a:ln w="6350">
              <a:solidFill>
                <a:srgbClr val="A7F3D0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" name="Text 6"/>
            <p:cNvSpPr/>
            <p:nvPr/>
          </p:nvSpPr>
          <p:spPr>
            <a:xfrm>
              <a:off x="3346704" y="4434840"/>
              <a:ext cx="251460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MASE (Mean Absolute Scaled Error): </a:t>
              </a:r>
              <a:r>
                <a:rPr lang="en-US" sz="1000" dirty="0" err="1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Qualitätsmaß</a:t>
              </a:r>
              <a:r>
                <a:rPr lang="en-US" sz="1000" dirty="0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000" dirty="0" err="1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einer</a:t>
              </a:r>
              <a:r>
                <a:rPr lang="en-US" sz="1000" dirty="0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000" dirty="0" err="1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Punktvorhersage</a:t>
              </a:r>
              <a:r>
                <a:rPr lang="en-US" sz="1000" dirty="0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 Chronos </a:t>
              </a:r>
              <a:r>
                <a:rPr lang="en-US" sz="1000" dirty="0" err="1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schneidet</a:t>
              </a:r>
              <a:r>
                <a:rPr lang="en-US" sz="1000" dirty="0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000" dirty="0" err="1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auch</a:t>
              </a:r>
              <a:r>
                <a:rPr lang="en-US" sz="1000" dirty="0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000" dirty="0" err="1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hier</a:t>
              </a:r>
              <a:r>
                <a:rPr lang="en-US" sz="1000" dirty="0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000" dirty="0" err="1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vergleichbar</a:t>
              </a:r>
              <a:r>
                <a:rPr lang="en-US" sz="1000" dirty="0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000" dirty="0" err="1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bzw</a:t>
              </a:r>
              <a:r>
                <a:rPr lang="en-US" sz="1000" dirty="0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 </a:t>
              </a:r>
              <a:r>
                <a:rPr lang="en-US" sz="1000" dirty="0" err="1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besser</a:t>
              </a:r>
              <a:r>
                <a:rPr lang="en-US" sz="1000" dirty="0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000" dirty="0" err="1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als</a:t>
              </a:r>
              <a:r>
                <a:rPr lang="en-US" sz="1000" dirty="0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task-</a:t>
              </a:r>
              <a:r>
                <a:rPr lang="en-US" sz="1000" dirty="0" err="1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spezifische</a:t>
              </a:r>
              <a:r>
                <a:rPr lang="en-US" sz="1000" dirty="0">
                  <a:solidFill>
                    <a:srgbClr val="065F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Modelle ab!</a:t>
              </a:r>
              <a:endParaRPr lang="en-US" sz="1000" dirty="0"/>
            </a:p>
          </p:txBody>
        </p:sp>
      </p:grpSp>
      <p:pic>
        <p:nvPicPr>
          <p:cNvPr id="13" name="Grafik 12">
            <a:extLst>
              <a:ext uri="{FF2B5EF4-FFF2-40B4-BE49-F238E27FC236}">
                <a16:creationId xmlns:a16="http://schemas.microsoft.com/office/drawing/2014/main" id="{FA696A48-73B8-E84B-E8DE-21919CCE3A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690" y="749204"/>
            <a:ext cx="8049484" cy="351250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pPr defTabSz="914378"/>
            <a:endParaRPr lang="de-DE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de-DE" sz="2400" b="1" dirty="0">
                <a:solidFill>
                  <a:srgbClr val="FFFFFF"/>
                </a:solidFill>
                <a:latin typeface="Cambria" pitchFamily="34" charset="0"/>
              </a:rPr>
              <a:t>Stärken von Chronos</a:t>
            </a:r>
          </a:p>
        </p:txBody>
      </p:sp>
      <p:sp>
        <p:nvSpPr>
          <p:cNvPr id="4" name="Text 2"/>
          <p:cNvSpPr/>
          <p:nvPr/>
        </p:nvSpPr>
        <p:spPr>
          <a:xfrm>
            <a:off x="182880" y="489204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 | AI for Business Prognosis | SoSe 2026 | Graduate Campus, HS Aalen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63D8523C-FD1D-72A2-FE7B-E16703900BDA}"/>
              </a:ext>
            </a:extLst>
          </p:cNvPr>
          <p:cNvGrpSpPr/>
          <p:nvPr/>
        </p:nvGrpSpPr>
        <p:grpSpPr>
          <a:xfrm>
            <a:off x="320040" y="1781769"/>
            <a:ext cx="8558784" cy="1874520"/>
            <a:chOff x="320040" y="749808"/>
            <a:chExt cx="8558784" cy="1874520"/>
          </a:xfrm>
        </p:grpSpPr>
        <p:sp>
          <p:nvSpPr>
            <p:cNvPr id="5" name="Shape 3"/>
            <p:cNvSpPr/>
            <p:nvPr/>
          </p:nvSpPr>
          <p:spPr>
            <a:xfrm>
              <a:off x="320040" y="749808"/>
              <a:ext cx="2743200" cy="1874520"/>
            </a:xfrm>
            <a:prstGeom prst="roundRect">
              <a:avLst>
                <a:gd name="adj" fmla="val 4878"/>
              </a:avLst>
            </a:prstGeom>
            <a:solidFill>
              <a:srgbClr val="ECFDF5"/>
            </a:solidFill>
            <a:ln w="12700">
              <a:solidFill>
                <a:srgbClr val="A7F3D0"/>
              </a:solidFill>
              <a:prstDash val="solid"/>
            </a:ln>
            <a:effectLst>
              <a:outerShdw blurRad="63500" dist="25400" dir="27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pPr defTabSz="914378"/>
              <a:endParaRPr lang="de-DE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" name="Text 5"/>
            <p:cNvSpPr/>
            <p:nvPr/>
          </p:nvSpPr>
          <p:spPr>
            <a:xfrm>
              <a:off x="640080" y="841248"/>
              <a:ext cx="210312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914378"/>
              <a:r>
                <a:rPr lang="en-US" sz="1200" b="1" dirty="0">
                  <a:solidFill>
                    <a:srgbClr val="065F46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Zero-Shot Generalisierung</a:t>
              </a:r>
              <a:endParaRPr lang="en-US" sz="12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429768" y="1252728"/>
              <a:ext cx="2514600" cy="1261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914378"/>
              <a:r>
                <a:rPr lang="en-US" sz="11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Einmal trainiert — auf beliebigen ungesehenen Zeitreihen einsetzbar, ohne erneutes Training</a:t>
              </a:r>
              <a:endParaRPr lang="en-US" sz="1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" name="Shape 7"/>
            <p:cNvSpPr/>
            <p:nvPr/>
          </p:nvSpPr>
          <p:spPr>
            <a:xfrm>
              <a:off x="3227832" y="749808"/>
              <a:ext cx="2743200" cy="1874520"/>
            </a:xfrm>
            <a:prstGeom prst="roundRect">
              <a:avLst>
                <a:gd name="adj" fmla="val 4878"/>
              </a:avLst>
            </a:prstGeom>
            <a:solidFill>
              <a:srgbClr val="ECFDF5"/>
            </a:solidFill>
            <a:ln w="12700">
              <a:solidFill>
                <a:srgbClr val="A7F3D0"/>
              </a:solidFill>
              <a:prstDash val="solid"/>
            </a:ln>
            <a:effectLst>
              <a:outerShdw blurRad="63500" dist="25400" dir="27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pPr defTabSz="914378"/>
              <a:endParaRPr lang="de-DE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3749040" y="839942"/>
              <a:ext cx="210312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914378"/>
              <a:r>
                <a:rPr lang="en-US" sz="1200" b="1" dirty="0">
                  <a:solidFill>
                    <a:srgbClr val="065F46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Architektur-Agnostisch</a:t>
              </a:r>
              <a:endParaRPr lang="en-US" sz="12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3337560" y="1252728"/>
              <a:ext cx="2514600" cy="1261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914378"/>
              <a:r>
                <a:rPr lang="en-US" sz="11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Funktioniert mit T5 (encoder-decoder) und GPT-2 (decoder-only). Kompatibel mit </a:t>
              </a:r>
              <a:r>
                <a:rPr lang="en-US" sz="1100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zukünftigen</a:t>
              </a:r>
              <a:r>
                <a:rPr lang="en-US" sz="11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LLM-Advances.</a:t>
              </a:r>
              <a:endParaRPr lang="en-US" sz="1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29" name="Gruppieren 28">
              <a:extLst>
                <a:ext uri="{FF2B5EF4-FFF2-40B4-BE49-F238E27FC236}">
                  <a16:creationId xmlns:a16="http://schemas.microsoft.com/office/drawing/2014/main" id="{8A54DCF2-2378-7000-14B5-72D386116D78}"/>
                </a:ext>
              </a:extLst>
            </p:cNvPr>
            <p:cNvGrpSpPr/>
            <p:nvPr/>
          </p:nvGrpSpPr>
          <p:grpSpPr>
            <a:xfrm>
              <a:off x="6135624" y="749808"/>
              <a:ext cx="2743200" cy="1874520"/>
              <a:chOff x="3227832" y="2807208"/>
              <a:chExt cx="2743200" cy="1874520"/>
            </a:xfrm>
          </p:grpSpPr>
          <p:sp>
            <p:nvSpPr>
              <p:cNvPr id="21" name="Shape 19"/>
              <p:cNvSpPr/>
              <p:nvPr/>
            </p:nvSpPr>
            <p:spPr>
              <a:xfrm>
                <a:off x="3227832" y="2807208"/>
                <a:ext cx="2743200" cy="1874520"/>
              </a:xfrm>
              <a:prstGeom prst="roundRect">
                <a:avLst>
                  <a:gd name="adj" fmla="val 4878"/>
                </a:avLst>
              </a:prstGeom>
              <a:solidFill>
                <a:srgbClr val="ECFDF5"/>
              </a:solidFill>
              <a:ln w="12700">
                <a:solidFill>
                  <a:srgbClr val="A7F3D0"/>
                </a:solidFill>
                <a:prstDash val="solid"/>
              </a:ln>
              <a:effectLst>
                <a:outerShdw blurRad="63500" dist="25400" dir="2700000" algn="bl" rotWithShape="0">
                  <a:srgbClr val="000000">
                    <a:alpha val="7000"/>
                  </a:srgbClr>
                </a:outerShdw>
              </a:effectLst>
            </p:spPr>
            <p:txBody>
              <a:bodyPr/>
              <a:lstStyle/>
              <a:p>
                <a:pPr defTabSz="914378"/>
                <a:endParaRPr lang="de-DE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3" name="Text 21"/>
              <p:cNvSpPr/>
              <p:nvPr/>
            </p:nvSpPr>
            <p:spPr>
              <a:xfrm>
                <a:off x="3557016" y="2898648"/>
                <a:ext cx="2295144" cy="3474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defTabSz="914378"/>
                <a:r>
                  <a:rPr lang="en-US" sz="1200" b="1" dirty="0">
                    <a:solidFill>
                      <a:srgbClr val="065F46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Einfache Deployment-Pipeline</a:t>
                </a:r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4" name="Text 22"/>
              <p:cNvSpPr/>
              <p:nvPr/>
            </p:nvSpPr>
            <p:spPr>
              <a:xfrm>
                <a:off x="3337560" y="3310128"/>
                <a:ext cx="2468880" cy="12618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defTabSz="914378"/>
                <a:r>
                  <a:rPr lang="de-DE" sz="1100" dirty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Keine komplexen Trainings-Pipelines pro Use-Case nötig. Die Anpassung erfolgt effizient über reine Inferenz-Parameter (z.B. Kontextlänge)</a:t>
                </a:r>
                <a:endParaRPr lang="en-US" sz="1100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</p:txBody>
          </p:sp>
        </p:grp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0AA535-3A99-918D-24E4-5A059E3BD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E27FADE-DEA7-AA16-66BA-A9D2BC5A9AE5}"/>
              </a:ext>
            </a:extLst>
          </p:cNvPr>
          <p:cNvSpPr/>
          <p:nvPr/>
        </p:nvSpPr>
        <p:spPr>
          <a:xfrm>
            <a:off x="7498080" y="-731520"/>
            <a:ext cx="3200400" cy="3200400"/>
          </a:xfrm>
          <a:prstGeom prst="ellipse">
            <a:avLst/>
          </a:prstGeom>
          <a:solidFill>
            <a:srgbClr val="00B4D8">
              <a:alpha val="15000"/>
            </a:srgbClr>
          </a:solidFill>
          <a:ln w="635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A0BB1F3-742C-EFE0-BCD9-92BCC6756F13}"/>
              </a:ext>
            </a:extLst>
          </p:cNvPr>
          <p:cNvSpPr/>
          <p:nvPr/>
        </p:nvSpPr>
        <p:spPr>
          <a:xfrm>
            <a:off x="548640" y="13716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6A5DEAC-2C27-0814-9945-847D7AE6F869}"/>
              </a:ext>
            </a:extLst>
          </p:cNvPr>
          <p:cNvSpPr/>
          <p:nvPr/>
        </p:nvSpPr>
        <p:spPr>
          <a:xfrm>
            <a:off x="548640" y="2194560"/>
            <a:ext cx="9144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7201A45-601C-5AD8-5452-6C11852AF140}"/>
              </a:ext>
            </a:extLst>
          </p:cNvPr>
          <p:cNvSpPr/>
          <p:nvPr/>
        </p:nvSpPr>
        <p:spPr>
          <a:xfrm>
            <a:off x="548640" y="23774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Von Chronos </a:t>
            </a:r>
            <a:r>
              <a:rPr lang="en-US" sz="3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</a:t>
            </a: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Chronos-2</a:t>
            </a:r>
            <a:endParaRPr lang="en-US" sz="3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396A55C-4241-291F-EDE8-63B95A49E4CD}"/>
              </a:ext>
            </a:extLst>
          </p:cNvPr>
          <p:cNvSpPr/>
          <p:nvPr/>
        </p:nvSpPr>
        <p:spPr>
          <a:xfrm>
            <a:off x="548640" y="33832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 dirty="0">
                <a:solidFill>
                  <a:srgbClr val="90E0EF"/>
                </a:solidFill>
                <a:latin typeface="Calibri" pitchFamily="34" charset="0"/>
              </a:rPr>
              <a:t>Von </a:t>
            </a:r>
            <a:r>
              <a:rPr lang="en-US" sz="1600" i="1" dirty="0" err="1">
                <a:solidFill>
                  <a:srgbClr val="90E0EF"/>
                </a:solidFill>
                <a:latin typeface="Calibri" pitchFamily="34" charset="0"/>
              </a:rPr>
              <a:t>univariat</a:t>
            </a:r>
            <a:r>
              <a:rPr lang="en-US" sz="1600" i="1" dirty="0">
                <a:solidFill>
                  <a:srgbClr val="90E0EF"/>
                </a:solidFill>
                <a:latin typeface="Calibri" pitchFamily="34" charset="0"/>
              </a:rPr>
              <a:t> </a:t>
            </a:r>
            <a:r>
              <a:rPr lang="en-US" sz="1600" i="1" dirty="0" err="1">
                <a:solidFill>
                  <a:srgbClr val="90E0EF"/>
                </a:solidFill>
                <a:latin typeface="Calibri" pitchFamily="34" charset="0"/>
              </a:rPr>
              <a:t>zu</a:t>
            </a:r>
            <a:r>
              <a:rPr lang="en-US" sz="1600" i="1" dirty="0">
                <a:solidFill>
                  <a:srgbClr val="90E0EF"/>
                </a:solidFill>
                <a:latin typeface="Calibri" pitchFamily="34" charset="0"/>
              </a:rPr>
              <a:t> </a:t>
            </a:r>
            <a:r>
              <a:rPr lang="en-US" sz="1600" i="1" dirty="0" err="1">
                <a:solidFill>
                  <a:srgbClr val="90E0EF"/>
                </a:solidFill>
                <a:latin typeface="Calibri" pitchFamily="34" charset="0"/>
              </a:rPr>
              <a:t>universell</a:t>
            </a:r>
            <a:endParaRPr 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35700889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pPr defTabSz="685783"/>
            <a:endParaRPr lang="de-DE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3" name="Title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783"/>
            <a:r>
              <a:rPr lang="de-DE" sz="2100" b="1" dirty="0">
                <a:solidFill>
                  <a:srgbClr val="FFFFFF"/>
                </a:solidFill>
                <a:latin typeface="Cambria" pitchFamily="34" charset="0"/>
              </a:rPr>
              <a:t>Grenzen von Chronos</a:t>
            </a:r>
          </a:p>
        </p:txBody>
      </p:sp>
      <p:sp>
        <p:nvSpPr>
          <p:cNvPr id="4" name="Footer"/>
          <p:cNvSpPr/>
          <p:nvPr/>
        </p:nvSpPr>
        <p:spPr>
          <a:xfrm>
            <a:off x="182880" y="489204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783"/>
            <a:r>
              <a:rPr lang="de-DE" sz="800" dirty="0">
                <a:solidFill>
                  <a:srgbClr val="64748B"/>
                </a:solidFill>
                <a:latin typeface="Calibri" pitchFamily="34" charset="0"/>
              </a:rPr>
              <a:t>Chronos | AI for Business Prognosis | SoSe 2026 | Graduate Campus, HS Aalen</a:t>
            </a:r>
          </a:p>
        </p:txBody>
      </p:sp>
      <p:sp>
        <p:nvSpPr>
          <p:cNvPr id="5" name="Card5 BG"/>
          <p:cNvSpPr/>
          <p:nvPr/>
        </p:nvSpPr>
        <p:spPr>
          <a:xfrm>
            <a:off x="320040" y="749808"/>
            <a:ext cx="2024730" cy="1874520"/>
          </a:xfrm>
          <a:prstGeom prst="roundRect">
            <a:avLst>
              <a:gd name="adj" fmla="val 4878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defTabSz="685783"/>
            <a:endParaRPr lang="de-DE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6" name="Card5 Icon"/>
          <p:cNvSpPr/>
          <p:nvPr/>
        </p:nvSpPr>
        <p:spPr>
          <a:xfrm>
            <a:off x="320040" y="822960"/>
            <a:ext cx="20247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783"/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📊</a:t>
            </a:r>
          </a:p>
        </p:txBody>
      </p:sp>
      <p:sp>
        <p:nvSpPr>
          <p:cNvPr id="7" name="Card5 Title"/>
          <p:cNvSpPr/>
          <p:nvPr/>
        </p:nvSpPr>
        <p:spPr>
          <a:xfrm>
            <a:off x="410040" y="1252500"/>
            <a:ext cx="184473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783"/>
            <a:r>
              <a:rPr lang="de-DE" sz="1050" b="1" dirty="0">
                <a:solidFill>
                  <a:srgbClr val="FF6B6B"/>
                </a:solidFill>
                <a:latin typeface="Cambria" pitchFamily="34" charset="0"/>
              </a:rPr>
              <a:t>Nur univariat</a:t>
            </a:r>
          </a:p>
        </p:txBody>
      </p:sp>
      <p:sp>
        <p:nvSpPr>
          <p:cNvPr id="8" name="Card5 Desc"/>
          <p:cNvSpPr/>
          <p:nvPr/>
        </p:nvSpPr>
        <p:spPr>
          <a:xfrm>
            <a:off x="410040" y="1747500"/>
            <a:ext cx="1844730" cy="78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783"/>
            <a:r>
              <a:rPr lang="de-DE" sz="938" dirty="0">
                <a:solidFill>
                  <a:srgbClr val="0D1B2A"/>
                </a:solidFill>
                <a:latin typeface="Calibri" pitchFamily="34" charset="0"/>
              </a:rPr>
              <a:t>Keine gemeinsame Modellierung mehrerer Zeitreihen, keine externen Kovariaten</a:t>
            </a:r>
          </a:p>
        </p:txBody>
      </p:sp>
      <p:sp>
        <p:nvSpPr>
          <p:cNvPr id="9" name="Card9 BG"/>
          <p:cNvSpPr/>
          <p:nvPr/>
        </p:nvSpPr>
        <p:spPr>
          <a:xfrm>
            <a:off x="2479770" y="749808"/>
            <a:ext cx="2024730" cy="1874520"/>
          </a:xfrm>
          <a:prstGeom prst="roundRect">
            <a:avLst>
              <a:gd name="adj" fmla="val 4878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defTabSz="685783"/>
            <a:endParaRPr lang="de-DE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10" name="Card9 Icon"/>
          <p:cNvSpPr/>
          <p:nvPr/>
        </p:nvSpPr>
        <p:spPr>
          <a:xfrm>
            <a:off x="2479770" y="822960"/>
            <a:ext cx="20247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783"/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🧩</a:t>
            </a:r>
          </a:p>
        </p:txBody>
      </p:sp>
      <p:sp>
        <p:nvSpPr>
          <p:cNvPr id="11" name="Card9 Title"/>
          <p:cNvSpPr/>
          <p:nvPr/>
        </p:nvSpPr>
        <p:spPr>
          <a:xfrm>
            <a:off x="2569770" y="1252500"/>
            <a:ext cx="184473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783"/>
            <a:r>
              <a:rPr lang="de-DE" sz="1050" b="1" dirty="0">
                <a:solidFill>
                  <a:srgbClr val="FF6B6B"/>
                </a:solidFill>
                <a:latin typeface="Cambria" pitchFamily="34" charset="0"/>
              </a:rPr>
              <a:t>Kein In-Context Learning</a:t>
            </a:r>
          </a:p>
        </p:txBody>
      </p:sp>
      <p:sp>
        <p:nvSpPr>
          <p:cNvPr id="12" name="Card9 Desc"/>
          <p:cNvSpPr/>
          <p:nvPr/>
        </p:nvSpPr>
        <p:spPr>
          <a:xfrm>
            <a:off x="2569770" y="1747500"/>
            <a:ext cx="1844730" cy="78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783"/>
            <a:r>
              <a:rPr lang="de-DE" sz="863" dirty="0">
                <a:solidFill>
                  <a:srgbClr val="0D1B2A"/>
                </a:solidFill>
                <a:latin typeface="Calibri" pitchFamily="34" charset="0"/>
              </a:rPr>
              <a:t>Kann neue Muster nicht aus Beispielen im Kontext lernen (wie z.B. GPT-4) — nur durch erneutes Training</a:t>
            </a:r>
          </a:p>
        </p:txBody>
      </p:sp>
      <p:sp>
        <p:nvSpPr>
          <p:cNvPr id="13" name="Card13 BG"/>
          <p:cNvSpPr/>
          <p:nvPr/>
        </p:nvSpPr>
        <p:spPr>
          <a:xfrm>
            <a:off x="4639500" y="749808"/>
            <a:ext cx="2024730" cy="1874520"/>
          </a:xfrm>
          <a:prstGeom prst="roundRect">
            <a:avLst>
              <a:gd name="adj" fmla="val 4878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defTabSz="685783"/>
            <a:endParaRPr lang="de-DE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14" name="Card13 Icon"/>
          <p:cNvSpPr/>
          <p:nvPr/>
        </p:nvSpPr>
        <p:spPr>
          <a:xfrm>
            <a:off x="4639500" y="822960"/>
            <a:ext cx="20247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783"/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⚙️</a:t>
            </a:r>
          </a:p>
        </p:txBody>
      </p:sp>
      <p:sp>
        <p:nvSpPr>
          <p:cNvPr id="15" name="Card13 Title"/>
          <p:cNvSpPr/>
          <p:nvPr/>
        </p:nvSpPr>
        <p:spPr>
          <a:xfrm>
            <a:off x="4729500" y="1252500"/>
            <a:ext cx="184473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783"/>
            <a:r>
              <a:rPr lang="de-DE" sz="1050" b="1" dirty="0">
                <a:solidFill>
                  <a:srgbClr val="FF6B6B"/>
                </a:solidFill>
                <a:latin typeface="Cambria" pitchFamily="34" charset="0"/>
              </a:rPr>
              <a:t>Hoher Rechenaufwand</a:t>
            </a:r>
          </a:p>
        </p:txBody>
      </p:sp>
      <p:sp>
        <p:nvSpPr>
          <p:cNvPr id="16" name="Card13 Desc"/>
          <p:cNvSpPr/>
          <p:nvPr/>
        </p:nvSpPr>
        <p:spPr>
          <a:xfrm>
            <a:off x="4729500" y="1747500"/>
            <a:ext cx="1844730" cy="78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783"/>
            <a:r>
              <a:rPr lang="de-DE" sz="938" dirty="0">
                <a:solidFill>
                  <a:srgbClr val="0D1B2A"/>
                </a:solidFill>
                <a:latin typeface="Calibri" pitchFamily="34" charset="0"/>
              </a:rPr>
              <a:t>Große Modelle mit bis zu 710M Parametern benötigen viel Speicher und GPU-Leistung</a:t>
            </a:r>
          </a:p>
        </p:txBody>
      </p:sp>
      <p:sp>
        <p:nvSpPr>
          <p:cNvPr id="17" name="Card17 BG"/>
          <p:cNvSpPr/>
          <p:nvPr/>
        </p:nvSpPr>
        <p:spPr>
          <a:xfrm>
            <a:off x="6799230" y="749808"/>
            <a:ext cx="2024730" cy="1874520"/>
          </a:xfrm>
          <a:prstGeom prst="roundRect">
            <a:avLst>
              <a:gd name="adj" fmla="val 4878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defTabSz="685783"/>
            <a:endParaRPr lang="de-DE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18" name="Card17 Icon"/>
          <p:cNvSpPr/>
          <p:nvPr/>
        </p:nvSpPr>
        <p:spPr>
          <a:xfrm>
            <a:off x="6799230" y="822960"/>
            <a:ext cx="20247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783"/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⏱</a:t>
            </a:r>
          </a:p>
        </p:txBody>
      </p:sp>
      <p:sp>
        <p:nvSpPr>
          <p:cNvPr id="19" name="Card17 Title"/>
          <p:cNvSpPr/>
          <p:nvPr/>
        </p:nvSpPr>
        <p:spPr>
          <a:xfrm>
            <a:off x="6889230" y="1252500"/>
            <a:ext cx="184473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783"/>
            <a:r>
              <a:rPr lang="de-DE" sz="1050" b="1" dirty="0">
                <a:solidFill>
                  <a:srgbClr val="FF6B6B"/>
                </a:solidFill>
                <a:latin typeface="Cambria" pitchFamily="34" charset="0"/>
              </a:rPr>
              <a:t>Langsame Inferenz</a:t>
            </a:r>
          </a:p>
        </p:txBody>
      </p:sp>
      <p:sp>
        <p:nvSpPr>
          <p:cNvPr id="20" name="Card17 Desc"/>
          <p:cNvSpPr/>
          <p:nvPr/>
        </p:nvSpPr>
        <p:spPr>
          <a:xfrm>
            <a:off x="6889230" y="1747500"/>
            <a:ext cx="1844730" cy="78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783"/>
            <a:r>
              <a:rPr lang="de-DE" sz="938" dirty="0">
                <a:solidFill>
                  <a:srgbClr val="0D1B2A"/>
                </a:solidFill>
                <a:latin typeface="Calibri" pitchFamily="34" charset="0"/>
              </a:rPr>
              <a:t>Autoregressive Token-für-Token-Generierung verlangsamt die Prognose spürbar</a:t>
            </a:r>
          </a:p>
        </p:txBody>
      </p:sp>
      <p:sp>
        <p:nvSpPr>
          <p:cNvPr id="21" name="Bridge Banner"/>
          <p:cNvSpPr/>
          <p:nvPr/>
        </p:nvSpPr>
        <p:spPr>
          <a:xfrm>
            <a:off x="320040" y="2887500"/>
            <a:ext cx="8503920" cy="1500000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>
            <a:noFill/>
          </a:ln>
        </p:spPr>
        <p:txBody>
          <a:bodyPr/>
          <a:lstStyle/>
          <a:p>
            <a:pPr defTabSz="685783"/>
            <a:endParaRPr lang="de-DE" sz="105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22" name="Bridge Label"/>
          <p:cNvSpPr/>
          <p:nvPr/>
        </p:nvSpPr>
        <p:spPr>
          <a:xfrm>
            <a:off x="594360" y="3015000"/>
            <a:ext cx="7954560" cy="24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783"/>
            <a:r>
              <a:rPr lang="de-DE" sz="900" b="1" spc="150" dirty="0">
                <a:solidFill>
                  <a:srgbClr val="90E0EF"/>
                </a:solidFill>
                <a:latin typeface="Calibri" pitchFamily="34" charset="0"/>
              </a:rPr>
              <a:t>AUSBLICK</a:t>
            </a:r>
          </a:p>
        </p:txBody>
      </p:sp>
      <p:sp>
        <p:nvSpPr>
          <p:cNvPr id="23" name="Bridge Main"/>
          <p:cNvSpPr/>
          <p:nvPr/>
        </p:nvSpPr>
        <p:spPr>
          <a:xfrm>
            <a:off x="594360" y="3315000"/>
            <a:ext cx="7954560" cy="46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783"/>
            <a:r>
              <a:rPr lang="de-DE" sz="1950" b="1" dirty="0">
                <a:solidFill>
                  <a:srgbClr val="FFFFFF"/>
                </a:solidFill>
                <a:latin typeface="Cambria" pitchFamily="34" charset="0"/>
              </a:rPr>
              <a:t>Chronos → Chronos-2</a:t>
            </a:r>
          </a:p>
        </p:txBody>
      </p:sp>
      <p:sp>
        <p:nvSpPr>
          <p:cNvPr id="24" name="Bridge Subtitle"/>
          <p:cNvSpPr/>
          <p:nvPr/>
        </p:nvSpPr>
        <p:spPr>
          <a:xfrm>
            <a:off x="594360" y="3855000"/>
            <a:ext cx="7954560" cy="3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783"/>
            <a:r>
              <a:rPr lang="de-DE" sz="1125" dirty="0">
                <a:solidFill>
                  <a:srgbClr val="CADCFC"/>
                </a:solidFill>
                <a:latin typeface="Calibri" pitchFamily="34" charset="0"/>
              </a:rPr>
              <a:t>Multivariate Prognosen · native Kovariaten · In-Context Learning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pPr defTabSz="685800"/>
            <a:endParaRPr lang="de-DE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3" name="Title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de-DE" sz="2100" b="1" dirty="0">
                <a:solidFill>
                  <a:srgbClr val="FFFFFF"/>
                </a:solidFill>
                <a:latin typeface="Cambria" pitchFamily="34" charset="0"/>
              </a:rPr>
              <a:t>In-Context Learning: Lernen aus dem Prompt</a:t>
            </a:r>
          </a:p>
        </p:txBody>
      </p:sp>
      <p:sp>
        <p:nvSpPr>
          <p:cNvPr id="4" name="Footer"/>
          <p:cNvSpPr/>
          <p:nvPr/>
        </p:nvSpPr>
        <p:spPr>
          <a:xfrm>
            <a:off x="182880" y="489204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de-DE" sz="800" dirty="0">
                <a:solidFill>
                  <a:srgbClr val="64748B"/>
                </a:solidFill>
                <a:latin typeface="Calibri" pitchFamily="34" charset="0"/>
              </a:rPr>
              <a:t>Chronos | AI for Business Prognosis | SoSe 2026 | Graduate Campus, HS Aalen</a:t>
            </a:r>
          </a:p>
        </p:txBody>
      </p:sp>
      <p:sp>
        <p:nvSpPr>
          <p:cNvPr id="5" name="Left Subheading"/>
          <p:cNvSpPr/>
          <p:nvPr/>
        </p:nvSpPr>
        <p:spPr>
          <a:xfrm>
            <a:off x="365760" y="765000"/>
            <a:ext cx="4012500" cy="33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de-DE" sz="1425" b="1" dirty="0">
                <a:solidFill>
                  <a:srgbClr val="0D1B2A"/>
                </a:solidFill>
                <a:latin typeface="Cambria" pitchFamily="34" charset="0"/>
              </a:rPr>
              <a:t>Was ist In-Context Learning?</a:t>
            </a:r>
          </a:p>
        </p:txBody>
      </p:sp>
      <p:sp>
        <p:nvSpPr>
          <p:cNvPr id="6" name="Left Paragraph"/>
          <p:cNvSpPr/>
          <p:nvPr/>
        </p:nvSpPr>
        <p:spPr>
          <a:xfrm>
            <a:off x="365760" y="1170000"/>
            <a:ext cx="4012500" cy="101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/>
            <a:r>
              <a:rPr lang="de-DE" sz="1088" dirty="0">
                <a:solidFill>
                  <a:srgbClr val="0D1B2A"/>
                </a:solidFill>
                <a:latin typeface="Calibri" pitchFamily="34" charset="0"/>
              </a:rPr>
              <a:t>Die Fähigkeit großer Sprachmodelle (z. B. GPT-4), ein neues Muster allein aus Beispielen im Eingabefenster — dem „Kontext" — zu erkennen und fortzusetzen. Ganz ohne erneutes Training oder Fine-Tuning.</a:t>
            </a:r>
          </a:p>
        </p:txBody>
      </p:sp>
      <p:sp>
        <p:nvSpPr>
          <p:cNvPr id="7" name="Left Bullets"/>
          <p:cNvSpPr/>
          <p:nvPr/>
        </p:nvSpPr>
        <p:spPr>
          <a:xfrm>
            <a:off x="365760" y="2287500"/>
            <a:ext cx="4012500" cy="15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spcAft>
                <a:spcPts val="675"/>
              </a:spcAft>
            </a:pPr>
            <a:r>
              <a:rPr lang="de-DE" sz="1088" b="1" dirty="0">
                <a:solidFill>
                  <a:srgbClr val="1D4ED8"/>
                </a:solidFill>
                <a:latin typeface="Calibri" pitchFamily="34" charset="0"/>
              </a:rPr>
              <a:t>▸ Keine Gewichtsänderung</a:t>
            </a:r>
            <a:r>
              <a:rPr lang="de-DE" sz="1088" dirty="0">
                <a:solidFill>
                  <a:srgbClr val="0D1B2A"/>
                </a:solidFill>
                <a:latin typeface="Calibri" pitchFamily="34" charset="0"/>
              </a:rPr>
              <a:t> — das Modell selbst bleibt unverändert</a:t>
            </a:r>
          </a:p>
          <a:p>
            <a:pPr defTabSz="685800">
              <a:spcAft>
                <a:spcPts val="675"/>
              </a:spcAft>
            </a:pPr>
            <a:r>
              <a:rPr lang="de-DE" sz="1088" b="1" dirty="0">
                <a:solidFill>
                  <a:srgbClr val="1D4ED8"/>
                </a:solidFill>
                <a:latin typeface="Calibri" pitchFamily="34" charset="0"/>
              </a:rPr>
              <a:t>▸ Nur Beispiele im Prompt</a:t>
            </a:r>
            <a:r>
              <a:rPr lang="de-DE" sz="1088" dirty="0">
                <a:solidFill>
                  <a:srgbClr val="0D1B2A"/>
                </a:solidFill>
                <a:latin typeface="Calibri" pitchFamily="34" charset="0"/>
              </a:rPr>
              <a:t> — das Muster wird „on the fly" erkannt</a:t>
            </a:r>
          </a:p>
          <a:p>
            <a:pPr defTabSz="685800"/>
            <a:r>
              <a:rPr lang="de-DE" sz="1088" b="1" dirty="0">
                <a:solidFill>
                  <a:srgbClr val="1D4ED8"/>
                </a:solidFill>
                <a:latin typeface="Calibri" pitchFamily="34" charset="0"/>
              </a:rPr>
              <a:t>▸ Bekannt aus LLMs</a:t>
            </a:r>
            <a:r>
              <a:rPr lang="de-DE" sz="1088" dirty="0">
                <a:solidFill>
                  <a:srgbClr val="0D1B2A"/>
                </a:solidFill>
                <a:latin typeface="Calibri" pitchFamily="34" charset="0"/>
              </a:rPr>
              <a:t> — Standardtechnik im Prompting, z. B. bei GPT-4</a:t>
            </a:r>
          </a:p>
        </p:txBody>
      </p:sp>
      <p:sp>
        <p:nvSpPr>
          <p:cNvPr id="8" name="Right Label"/>
          <p:cNvSpPr/>
          <p:nvPr/>
        </p:nvSpPr>
        <p:spPr>
          <a:xfrm>
            <a:off x="4640760" y="765000"/>
            <a:ext cx="4012500" cy="2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de-DE" sz="1425" b="1" dirty="0">
                <a:solidFill>
                  <a:srgbClr val="0D1B2A"/>
                </a:solidFill>
                <a:latin typeface="Cambria" pitchFamily="34" charset="0"/>
              </a:rPr>
              <a:t>Beispiel-Prompt</a:t>
            </a:r>
          </a:p>
        </p:txBody>
      </p:sp>
      <p:sp>
        <p:nvSpPr>
          <p:cNvPr id="21" name="Right Caption"/>
          <p:cNvSpPr/>
          <p:nvPr/>
        </p:nvSpPr>
        <p:spPr>
          <a:xfrm>
            <a:off x="4640760" y="1050000"/>
            <a:ext cx="4012500" cy="24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de-DE" sz="900" i="1" dirty="0">
                <a:solidFill>
                  <a:srgbClr val="64748B"/>
                </a:solidFill>
                <a:latin typeface="Calibri" pitchFamily="34" charset="0"/>
              </a:rPr>
              <a:t>Frei erfundene Regel — kein erlerntes Weltwissen hilft hier, nur das Muster zählt</a:t>
            </a:r>
          </a:p>
        </p:txBody>
      </p:sp>
      <p:sp>
        <p:nvSpPr>
          <p:cNvPr id="9" name="Prompt Box"/>
          <p:cNvSpPr/>
          <p:nvPr/>
        </p:nvSpPr>
        <p:spPr>
          <a:xfrm>
            <a:off x="4640760" y="1372500"/>
            <a:ext cx="4012500" cy="1237500"/>
          </a:xfrm>
          <a:prstGeom prst="roundRect">
            <a:avLst>
              <a:gd name="adj" fmla="val 4000"/>
            </a:avLst>
          </a:prstGeom>
          <a:solidFill>
            <a:srgbClr val="0D1B2A"/>
          </a:solidFill>
          <a:ln>
            <a:noFill/>
          </a:ln>
        </p:spPr>
        <p:txBody>
          <a:bodyPr wrap="square" lIns="205740" tIns="137160" rIns="205740" bIns="137160" rtlCol="0" anchor="ctr"/>
          <a:lstStyle/>
          <a:p>
            <a:pPr defTabSz="685800">
              <a:spcAft>
                <a:spcPts val="450"/>
              </a:spcAft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</a:rPr>
              <a:t>12      </a:t>
            </a:r>
            <a:r>
              <a:rPr lang="en-US" sz="1350" b="1" dirty="0">
                <a:solidFill>
                  <a:srgbClr val="90E0EF"/>
                </a:solidFill>
                <a:latin typeface="Courier New" pitchFamily="34" charset="0"/>
              </a:rPr>
              <a:t>→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</a:rPr>
              <a:t>  21</a:t>
            </a:r>
          </a:p>
          <a:p>
            <a:pPr defTabSz="685800">
              <a:spcAft>
                <a:spcPts val="450"/>
              </a:spcAft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</a:rPr>
              <a:t>34      </a:t>
            </a:r>
            <a:r>
              <a:rPr lang="en-US" sz="1350" b="1" dirty="0">
                <a:solidFill>
                  <a:srgbClr val="90E0EF"/>
                </a:solidFill>
                <a:latin typeface="Courier New" pitchFamily="34" charset="0"/>
              </a:rPr>
              <a:t>→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</a:rPr>
              <a:t>  43</a:t>
            </a:r>
          </a:p>
          <a:p>
            <a:pPr defTabSz="685800"/>
            <a:r>
              <a:rPr lang="en-US" sz="1350" dirty="0">
                <a:solidFill>
                  <a:srgbClr val="FFFFFF"/>
                </a:solidFill>
                <a:latin typeface="Courier New" pitchFamily="34" charset="0"/>
              </a:rPr>
              <a:t>56      </a:t>
            </a:r>
            <a:r>
              <a:rPr lang="en-US" sz="1350" b="1" dirty="0">
                <a:solidFill>
                  <a:srgbClr val="90E0EF"/>
                </a:solidFill>
                <a:latin typeface="Courier New" pitchFamily="34" charset="0"/>
              </a:rPr>
              <a:t>→</a:t>
            </a:r>
            <a:r>
              <a:rPr lang="en-US" sz="1350" b="1" dirty="0">
                <a:solidFill>
                  <a:srgbClr val="F9A826"/>
                </a:solidFill>
                <a:latin typeface="Courier New" pitchFamily="34" charset="0"/>
              </a:rPr>
              <a:t>  ?</a:t>
            </a:r>
          </a:p>
        </p:txBody>
      </p:sp>
      <p:sp>
        <p:nvSpPr>
          <p:cNvPr id="10" name="Answer Reveal"/>
          <p:cNvSpPr/>
          <p:nvPr/>
        </p:nvSpPr>
        <p:spPr>
          <a:xfrm>
            <a:off x="4640760" y="2715000"/>
            <a:ext cx="4012500" cy="525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 wrap="square" lIns="137160" tIns="0" rIns="137160" bIns="0" rtlCol="0" anchor="ctr"/>
          <a:lstStyle/>
          <a:p>
            <a:pPr algn="ctr" defTabSz="685800"/>
            <a:r>
              <a:rPr lang="de-DE" sz="1200" b="1" dirty="0">
                <a:solidFill>
                  <a:srgbClr val="15803D"/>
                </a:solidFill>
                <a:latin typeface="Calibri" pitchFamily="34" charset="0"/>
              </a:rPr>
              <a:t>Modell erkennt das Muster → 65</a:t>
            </a:r>
          </a:p>
        </p:txBody>
      </p:sp>
      <p:sp>
        <p:nvSpPr>
          <p:cNvPr id="11" name="Key Message Banner"/>
          <p:cNvSpPr/>
          <p:nvPr/>
        </p:nvSpPr>
        <p:spPr>
          <a:xfrm>
            <a:off x="365760" y="3937500"/>
            <a:ext cx="8412480" cy="81000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>
            <a:noFill/>
          </a:ln>
        </p:spPr>
        <p:txBody>
          <a:bodyPr/>
          <a:lstStyle/>
          <a:p>
            <a:pPr defTabSz="685800"/>
            <a:endParaRPr lang="de-DE" sz="105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12" name="Key Message Label"/>
          <p:cNvSpPr/>
          <p:nvPr/>
        </p:nvSpPr>
        <p:spPr>
          <a:xfrm>
            <a:off x="594360" y="4012500"/>
            <a:ext cx="7954560" cy="22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de-DE" sz="900" b="1" spc="150" dirty="0">
                <a:solidFill>
                  <a:srgbClr val="90E0EF"/>
                </a:solidFill>
                <a:latin typeface="Calibri" pitchFamily="34" charset="0"/>
              </a:rPr>
              <a:t>BEZUG ZU CHRONOS</a:t>
            </a:r>
          </a:p>
        </p:txBody>
      </p:sp>
      <p:sp>
        <p:nvSpPr>
          <p:cNvPr id="13" name="Key Message Text"/>
          <p:cNvSpPr/>
          <p:nvPr/>
        </p:nvSpPr>
        <p:spPr>
          <a:xfrm>
            <a:off x="594360" y="4252500"/>
            <a:ext cx="795456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de-DE" sz="1275" b="1" dirty="0">
                <a:solidFill>
                  <a:srgbClr val="FFFFFF"/>
                </a:solidFill>
                <a:latin typeface="Cambria" pitchFamily="34" charset="0"/>
              </a:rPr>
              <a:t>🔑 Chronos nutzt bislang kein ICL — Chronos-2 führt es gezielt für Zeitreihen ein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pPr defTabSz="685800"/>
            <a:endParaRPr lang="de-DE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3" name="Title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de-DE" sz="2100" b="1" dirty="0">
                <a:solidFill>
                  <a:srgbClr val="FFFFFF"/>
                </a:solidFill>
                <a:latin typeface="Cambria" pitchFamily="34" charset="0"/>
              </a:rPr>
              <a:t>Patches: Weniger Token, schnellere Inferenz</a:t>
            </a:r>
          </a:p>
        </p:txBody>
      </p:sp>
      <p:sp>
        <p:nvSpPr>
          <p:cNvPr id="4" name="Footer"/>
          <p:cNvSpPr/>
          <p:nvPr/>
        </p:nvSpPr>
        <p:spPr>
          <a:xfrm>
            <a:off x="182880" y="489204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de-DE" sz="800" dirty="0">
                <a:solidFill>
                  <a:srgbClr val="64748B"/>
                </a:solidFill>
                <a:latin typeface="Calibri" pitchFamily="34" charset="0"/>
              </a:rPr>
              <a:t>Chronos | AI for Business Prognosis | SoSe 2026 | Graduate Campus, HS Aalen</a:t>
            </a:r>
          </a:p>
        </p:txBody>
      </p:sp>
      <p:sp>
        <p:nvSpPr>
          <p:cNvPr id="20" name="Left Col Header"/>
          <p:cNvSpPr/>
          <p:nvPr/>
        </p:nvSpPr>
        <p:spPr>
          <a:xfrm>
            <a:off x="365760" y="840000"/>
            <a:ext cx="4012500" cy="33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de-DE" sz="1350" b="1" dirty="0">
                <a:solidFill>
                  <a:srgbClr val="64748B"/>
                </a:solidFill>
                <a:latin typeface="Cambria" pitchFamily="34" charset="0"/>
              </a:rPr>
              <a:t>Chronos (v1): Wert für Wert</a:t>
            </a:r>
          </a:p>
        </p:txBody>
      </p:sp>
      <p:sp>
        <p:nvSpPr>
          <p:cNvPr id="21" name="Right Col Header"/>
          <p:cNvSpPr/>
          <p:nvPr/>
        </p:nvSpPr>
        <p:spPr>
          <a:xfrm>
            <a:off x="4640760" y="840000"/>
            <a:ext cx="4012500" cy="33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de-DE" sz="1350" b="1" dirty="0">
                <a:solidFill>
                  <a:srgbClr val="1D4ED8"/>
                </a:solidFill>
                <a:latin typeface="Cambria" pitchFamily="34" charset="0"/>
              </a:rPr>
              <a:t>Chronos-Bolt / -2: Patch-weise</a:t>
            </a:r>
          </a:p>
        </p:txBody>
      </p:sp>
      <p:sp>
        <p:nvSpPr>
          <p:cNvPr id="40" name="Cell40"/>
          <p:cNvSpPr/>
          <p:nvPr/>
        </p:nvSpPr>
        <p:spPr>
          <a:xfrm>
            <a:off x="365760" y="1275000"/>
            <a:ext cx="285000" cy="28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pPr defTabSz="685800"/>
            <a:endParaRPr lang="de-DE" sz="6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1" name="Cell41"/>
          <p:cNvSpPr/>
          <p:nvPr/>
        </p:nvSpPr>
        <p:spPr>
          <a:xfrm>
            <a:off x="680760" y="1275000"/>
            <a:ext cx="285000" cy="28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pPr defTabSz="685800"/>
            <a:endParaRPr lang="de-DE" sz="6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2" name="Cell42"/>
          <p:cNvSpPr/>
          <p:nvPr/>
        </p:nvSpPr>
        <p:spPr>
          <a:xfrm>
            <a:off x="995760" y="1275000"/>
            <a:ext cx="285000" cy="28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pPr defTabSz="685800"/>
            <a:endParaRPr lang="de-DE" sz="6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3" name="Cell43"/>
          <p:cNvSpPr/>
          <p:nvPr/>
        </p:nvSpPr>
        <p:spPr>
          <a:xfrm>
            <a:off x="1310760" y="1275000"/>
            <a:ext cx="285000" cy="28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pPr defTabSz="685800"/>
            <a:endParaRPr lang="de-DE" sz="6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4" name="Cell44"/>
          <p:cNvSpPr/>
          <p:nvPr/>
        </p:nvSpPr>
        <p:spPr>
          <a:xfrm>
            <a:off x="1625760" y="1275000"/>
            <a:ext cx="285000" cy="28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pPr defTabSz="685800"/>
            <a:endParaRPr lang="de-DE" sz="6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5" name="Cell45"/>
          <p:cNvSpPr/>
          <p:nvPr/>
        </p:nvSpPr>
        <p:spPr>
          <a:xfrm>
            <a:off x="1940760" y="1275000"/>
            <a:ext cx="285000" cy="28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pPr defTabSz="685800"/>
            <a:endParaRPr lang="de-DE" sz="6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6" name="Cell46"/>
          <p:cNvSpPr/>
          <p:nvPr/>
        </p:nvSpPr>
        <p:spPr>
          <a:xfrm>
            <a:off x="2255760" y="1275000"/>
            <a:ext cx="285000" cy="28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pPr defTabSz="685800"/>
            <a:endParaRPr lang="de-DE" sz="6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7" name="Cell47"/>
          <p:cNvSpPr/>
          <p:nvPr/>
        </p:nvSpPr>
        <p:spPr>
          <a:xfrm>
            <a:off x="2570760" y="1275000"/>
            <a:ext cx="285000" cy="28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pPr defTabSz="685800"/>
            <a:endParaRPr lang="de-DE" sz="6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8" name="Cell48"/>
          <p:cNvSpPr/>
          <p:nvPr/>
        </p:nvSpPr>
        <p:spPr>
          <a:xfrm>
            <a:off x="2885760" y="1275000"/>
            <a:ext cx="285000" cy="28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pPr defTabSz="685800"/>
            <a:endParaRPr lang="de-DE" sz="6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9" name="Cell49"/>
          <p:cNvSpPr/>
          <p:nvPr/>
        </p:nvSpPr>
        <p:spPr>
          <a:xfrm>
            <a:off x="3200760" y="1275000"/>
            <a:ext cx="285000" cy="28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pPr defTabSz="685800"/>
            <a:endParaRPr lang="de-DE" sz="6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50" name="Cell50"/>
          <p:cNvSpPr/>
          <p:nvPr/>
        </p:nvSpPr>
        <p:spPr>
          <a:xfrm>
            <a:off x="3515760" y="1275000"/>
            <a:ext cx="285000" cy="28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pPr defTabSz="685800"/>
            <a:endParaRPr lang="de-DE" sz="6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51" name="Cell51"/>
          <p:cNvSpPr/>
          <p:nvPr/>
        </p:nvSpPr>
        <p:spPr>
          <a:xfrm>
            <a:off x="3830760" y="1275000"/>
            <a:ext cx="285000" cy="28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pPr defTabSz="685800"/>
            <a:endParaRPr lang="de-DE" sz="6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52" name="Cell52"/>
          <p:cNvSpPr/>
          <p:nvPr/>
        </p:nvSpPr>
        <p:spPr>
          <a:xfrm>
            <a:off x="4640760" y="1275000"/>
            <a:ext cx="285000" cy="28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pPr defTabSz="685800"/>
            <a:endParaRPr lang="de-DE" sz="6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53" name="Cell53"/>
          <p:cNvSpPr/>
          <p:nvPr/>
        </p:nvSpPr>
        <p:spPr>
          <a:xfrm>
            <a:off x="4955760" y="1275000"/>
            <a:ext cx="285000" cy="28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pPr defTabSz="685800"/>
            <a:endParaRPr lang="de-DE" sz="6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54" name="Cell54"/>
          <p:cNvSpPr/>
          <p:nvPr/>
        </p:nvSpPr>
        <p:spPr>
          <a:xfrm>
            <a:off x="5270760" y="1275000"/>
            <a:ext cx="285000" cy="28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pPr defTabSz="685800"/>
            <a:endParaRPr lang="de-DE" sz="6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55" name="Cell55"/>
          <p:cNvSpPr/>
          <p:nvPr/>
        </p:nvSpPr>
        <p:spPr>
          <a:xfrm>
            <a:off x="5585760" y="1275000"/>
            <a:ext cx="285000" cy="28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pPr defTabSz="685800"/>
            <a:endParaRPr lang="de-DE" sz="6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56" name="Cell56"/>
          <p:cNvSpPr/>
          <p:nvPr/>
        </p:nvSpPr>
        <p:spPr>
          <a:xfrm>
            <a:off x="5900760" y="1275000"/>
            <a:ext cx="285000" cy="28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pPr defTabSz="685800"/>
            <a:endParaRPr lang="de-DE" sz="6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57" name="Cell57"/>
          <p:cNvSpPr/>
          <p:nvPr/>
        </p:nvSpPr>
        <p:spPr>
          <a:xfrm>
            <a:off x="6215760" y="1275000"/>
            <a:ext cx="285000" cy="28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pPr defTabSz="685800"/>
            <a:endParaRPr lang="de-DE" sz="6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58" name="Cell58"/>
          <p:cNvSpPr/>
          <p:nvPr/>
        </p:nvSpPr>
        <p:spPr>
          <a:xfrm>
            <a:off x="6530760" y="1275000"/>
            <a:ext cx="285000" cy="28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pPr defTabSz="685800"/>
            <a:endParaRPr lang="de-DE" sz="6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59" name="Cell59"/>
          <p:cNvSpPr/>
          <p:nvPr/>
        </p:nvSpPr>
        <p:spPr>
          <a:xfrm>
            <a:off x="6845760" y="1275000"/>
            <a:ext cx="285000" cy="28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pPr defTabSz="685800"/>
            <a:endParaRPr lang="de-DE" sz="6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60" name="Cell60"/>
          <p:cNvSpPr/>
          <p:nvPr/>
        </p:nvSpPr>
        <p:spPr>
          <a:xfrm>
            <a:off x="7160760" y="1275000"/>
            <a:ext cx="285000" cy="28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pPr defTabSz="685800"/>
            <a:endParaRPr lang="de-DE" sz="6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61" name="Cell61"/>
          <p:cNvSpPr/>
          <p:nvPr/>
        </p:nvSpPr>
        <p:spPr>
          <a:xfrm>
            <a:off x="7475760" y="1275000"/>
            <a:ext cx="285000" cy="28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pPr defTabSz="685800"/>
            <a:endParaRPr lang="de-DE" sz="6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62" name="Cell62"/>
          <p:cNvSpPr/>
          <p:nvPr/>
        </p:nvSpPr>
        <p:spPr>
          <a:xfrm>
            <a:off x="7790760" y="1275000"/>
            <a:ext cx="285000" cy="28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pPr defTabSz="685800"/>
            <a:endParaRPr lang="de-DE" sz="6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63" name="Cell63"/>
          <p:cNvSpPr/>
          <p:nvPr/>
        </p:nvSpPr>
        <p:spPr>
          <a:xfrm>
            <a:off x="8105760" y="1275000"/>
            <a:ext cx="285000" cy="28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pPr defTabSz="685800"/>
            <a:endParaRPr lang="de-DE" sz="60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22" name="Left Arrow Label"/>
          <p:cNvSpPr/>
          <p:nvPr/>
        </p:nvSpPr>
        <p:spPr>
          <a:xfrm>
            <a:off x="365760" y="1620000"/>
            <a:ext cx="375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de-DE" sz="863" i="1" dirty="0">
                <a:solidFill>
                  <a:srgbClr val="64748B"/>
                </a:solidFill>
                <a:latin typeface="Calibri" pitchFamily="34" charset="0"/>
              </a:rPr>
              <a:t>↓ autoregressiv, ein Token nach dem anderen</a:t>
            </a:r>
          </a:p>
        </p:txBody>
      </p:sp>
      <p:sp>
        <p:nvSpPr>
          <p:cNvPr id="23" name="Right Arrow Label"/>
          <p:cNvSpPr/>
          <p:nvPr/>
        </p:nvSpPr>
        <p:spPr>
          <a:xfrm>
            <a:off x="4640760" y="1620000"/>
            <a:ext cx="39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de-DE" sz="863" i="1" dirty="0">
                <a:solidFill>
                  <a:srgbClr val="64748B"/>
                </a:solidFill>
                <a:latin typeface="Calibri" pitchFamily="34" charset="0"/>
              </a:rPr>
              <a:t>↓ gruppiert zu Patches der Größe 4</a:t>
            </a:r>
          </a:p>
        </p:txBody>
      </p:sp>
      <p:sp>
        <p:nvSpPr>
          <p:cNvPr id="24" name="Left RowB Box"/>
          <p:cNvSpPr/>
          <p:nvPr/>
        </p:nvSpPr>
        <p:spPr>
          <a:xfrm>
            <a:off x="365760" y="1875000"/>
            <a:ext cx="3750000" cy="375000"/>
          </a:xfrm>
          <a:prstGeom prst="roundRect">
            <a:avLst>
              <a:gd name="adj" fmla="val 12000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defTabSz="685800"/>
            <a:r>
              <a:rPr lang="de-DE" sz="1050" b="1" dirty="0">
                <a:solidFill>
                  <a:srgbClr val="FF6B6B"/>
                </a:solidFill>
                <a:latin typeface="Calibri" pitchFamily="34" charset="0"/>
              </a:rPr>
              <a:t>🔄 12 sequentielle Decoder-Schritte</a:t>
            </a:r>
          </a:p>
        </p:txBody>
      </p:sp>
      <p:sp>
        <p:nvSpPr>
          <p:cNvPr id="25" name="Patch1"/>
          <p:cNvSpPr/>
          <p:nvPr/>
        </p:nvSpPr>
        <p:spPr>
          <a:xfrm>
            <a:off x="4640760" y="1875000"/>
            <a:ext cx="1230000" cy="37500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defTabSz="685800"/>
            <a:r>
              <a:rPr lang="de-DE" sz="975" b="1" dirty="0">
                <a:solidFill>
                  <a:srgbClr val="1D4ED8"/>
                </a:solidFill>
                <a:latin typeface="Calibri" pitchFamily="34" charset="0"/>
              </a:rPr>
              <a:t>Patch 1</a:t>
            </a:r>
          </a:p>
        </p:txBody>
      </p:sp>
      <p:sp>
        <p:nvSpPr>
          <p:cNvPr id="26" name="Patch2"/>
          <p:cNvSpPr/>
          <p:nvPr/>
        </p:nvSpPr>
        <p:spPr>
          <a:xfrm>
            <a:off x="5975760" y="1875000"/>
            <a:ext cx="1230000" cy="37500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defTabSz="685800"/>
            <a:r>
              <a:rPr lang="de-DE" sz="975" b="1" dirty="0">
                <a:solidFill>
                  <a:srgbClr val="1D4ED8"/>
                </a:solidFill>
                <a:latin typeface="Calibri" pitchFamily="34" charset="0"/>
              </a:rPr>
              <a:t>Patch 2</a:t>
            </a:r>
          </a:p>
        </p:txBody>
      </p:sp>
      <p:sp>
        <p:nvSpPr>
          <p:cNvPr id="27" name="Patch3"/>
          <p:cNvSpPr/>
          <p:nvPr/>
        </p:nvSpPr>
        <p:spPr>
          <a:xfrm>
            <a:off x="7310760" y="1875000"/>
            <a:ext cx="1230000" cy="37500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defTabSz="685800"/>
            <a:r>
              <a:rPr lang="de-DE" sz="975" b="1" dirty="0">
                <a:solidFill>
                  <a:srgbClr val="1D4ED8"/>
                </a:solidFill>
                <a:latin typeface="Calibri" pitchFamily="34" charset="0"/>
              </a:rPr>
              <a:t>Patch 3</a:t>
            </a:r>
          </a:p>
        </p:txBody>
      </p:sp>
      <p:sp>
        <p:nvSpPr>
          <p:cNvPr id="28" name="Left Caption"/>
          <p:cNvSpPr/>
          <p:nvPr/>
        </p:nvSpPr>
        <p:spPr>
          <a:xfrm>
            <a:off x="365760" y="2280000"/>
            <a:ext cx="40125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de-DE" sz="863" i="1" dirty="0">
                <a:solidFill>
                  <a:srgbClr val="64748B"/>
                </a:solidFill>
                <a:latin typeface="Calibri" pitchFamily="34" charset="0"/>
              </a:rPr>
              <a:t>12 Zeitschritte = 12 einzelne Tokens</a:t>
            </a:r>
          </a:p>
        </p:txBody>
      </p:sp>
      <p:sp>
        <p:nvSpPr>
          <p:cNvPr id="29" name="Right Caption"/>
          <p:cNvSpPr/>
          <p:nvPr/>
        </p:nvSpPr>
        <p:spPr>
          <a:xfrm>
            <a:off x="4640760" y="2280000"/>
            <a:ext cx="40125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de-DE" sz="863" i="1" dirty="0">
                <a:solidFill>
                  <a:srgbClr val="64748B"/>
                </a:solidFill>
                <a:latin typeface="Calibri" pitchFamily="34" charset="0"/>
              </a:rPr>
              <a:t>12 Zeitschritte = 3 Patch-Tokens (Patch-Größe 4)</a:t>
            </a:r>
          </a:p>
        </p:txBody>
      </p:sp>
      <p:sp>
        <p:nvSpPr>
          <p:cNvPr id="30" name="Left Explain Box"/>
          <p:cNvSpPr/>
          <p:nvPr/>
        </p:nvSpPr>
        <p:spPr>
          <a:xfrm>
            <a:off x="365760" y="2625000"/>
            <a:ext cx="4012500" cy="93750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CBD5E1"/>
            </a:solidFill>
            <a:prstDash val="solid"/>
          </a:ln>
        </p:spPr>
        <p:txBody>
          <a:bodyPr wrap="square" lIns="171450" tIns="137160" rIns="171450" bIns="137160" rtlCol="0" anchor="ctr"/>
          <a:lstStyle/>
          <a:p>
            <a:pPr defTabSz="685800">
              <a:spcAft>
                <a:spcPts val="300"/>
              </a:spcAft>
            </a:pPr>
            <a:r>
              <a:rPr lang="de-DE" sz="1125" b="1" dirty="0">
                <a:solidFill>
                  <a:srgbClr val="64748B"/>
                </a:solidFill>
                <a:latin typeface="Cambria" pitchFamily="34" charset="0"/>
              </a:rPr>
              <a:t>Wert-für-Wert-Tokenisierung</a:t>
            </a:r>
          </a:p>
          <a:p>
            <a:pPr defTabSz="685800"/>
            <a:r>
              <a:rPr lang="de-DE" sz="975" dirty="0">
                <a:solidFill>
                  <a:srgbClr val="0D1B2A"/>
                </a:solidFill>
                <a:latin typeface="Calibri" pitchFamily="34" charset="0"/>
              </a:rPr>
              <a:t>Jeder Zeitschritt wird einzeln in einen Bin quantisiert. Der Decoder generiert autoregressiv — jeder Wert braucht einen vollständigen Vorwärtsdurchlauf.</a:t>
            </a:r>
          </a:p>
        </p:txBody>
      </p:sp>
      <p:sp>
        <p:nvSpPr>
          <p:cNvPr id="31" name="Right Explain Box"/>
          <p:cNvSpPr/>
          <p:nvPr/>
        </p:nvSpPr>
        <p:spPr>
          <a:xfrm>
            <a:off x="4640760" y="2625000"/>
            <a:ext cx="4012500" cy="9375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171450" tIns="137160" rIns="171450" bIns="137160" rtlCol="0" anchor="ctr"/>
          <a:lstStyle/>
          <a:p>
            <a:pPr defTabSz="685800">
              <a:spcAft>
                <a:spcPts val="300"/>
              </a:spcAft>
            </a:pPr>
            <a:r>
              <a:rPr lang="de-DE" sz="1125" b="1" dirty="0">
                <a:solidFill>
                  <a:srgbClr val="1D4ED8"/>
                </a:solidFill>
                <a:latin typeface="Cambria" pitchFamily="34" charset="0"/>
              </a:rPr>
              <a:t>Patch-Tokenisierung + Direct Multi-Step</a:t>
            </a:r>
          </a:p>
          <a:p>
            <a:pPr defTabSz="685800"/>
            <a:r>
              <a:rPr lang="de-DE" sz="975" dirty="0">
                <a:solidFill>
                  <a:srgbClr val="0D1B2A"/>
                </a:solidFill>
                <a:latin typeface="Calibri" pitchFamily="34" charset="0"/>
              </a:rPr>
              <a:t>Mehrere Zeitschritte werden per MLP zu einem Patch-Embedding gebündelt. Der Decoder erzeugt mehrere Zukunftswerte direkt — ganz ohne Token-Schleife.</a:t>
            </a:r>
          </a:p>
        </p:txBody>
      </p:sp>
      <p:sp>
        <p:nvSpPr>
          <p:cNvPr id="32" name="Key Message Banner"/>
          <p:cNvSpPr/>
          <p:nvPr/>
        </p:nvSpPr>
        <p:spPr>
          <a:xfrm>
            <a:off x="365760" y="3712500"/>
            <a:ext cx="8412480" cy="86250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>
            <a:noFill/>
          </a:ln>
        </p:spPr>
        <p:txBody>
          <a:bodyPr/>
          <a:lstStyle/>
          <a:p>
            <a:pPr defTabSz="685800"/>
            <a:endParaRPr lang="de-DE" sz="105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33" name="Key Message Label"/>
          <p:cNvSpPr/>
          <p:nvPr/>
        </p:nvSpPr>
        <p:spPr>
          <a:xfrm>
            <a:off x="594360" y="3817500"/>
            <a:ext cx="7954560" cy="22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de-DE" sz="900" b="1" spc="150" dirty="0">
                <a:solidFill>
                  <a:srgbClr val="90E0EF"/>
                </a:solidFill>
                <a:latin typeface="Calibri" pitchFamily="34" charset="0"/>
              </a:rPr>
              <a:t>KERNBOTSCHAFT</a:t>
            </a:r>
          </a:p>
        </p:txBody>
      </p:sp>
      <p:sp>
        <p:nvSpPr>
          <p:cNvPr id="34" name="Key Message Text"/>
          <p:cNvSpPr/>
          <p:nvPr/>
        </p:nvSpPr>
        <p:spPr>
          <a:xfrm>
            <a:off x="594360" y="4057500"/>
            <a:ext cx="795456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de-DE" sz="1275" b="1" dirty="0">
                <a:solidFill>
                  <a:srgbClr val="FFFFFF"/>
                </a:solidFill>
                <a:latin typeface="Cambria" pitchFamily="34" charset="0"/>
              </a:rPr>
              <a:t>🔑 Patches + Direct Multi-Step Forecasting: bis zu 250× schneller und CPU-tauglich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4F38DF-5E0B-6D83-3D33-398959CE0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2533823-B38E-ACAB-9531-9C494A78BF86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7169533-5F49-2F48-9137-993FC0607B50}"/>
              </a:ext>
            </a:extLst>
          </p:cNvPr>
          <p:cNvSpPr/>
          <p:nvPr/>
        </p:nvSpPr>
        <p:spPr>
          <a:xfrm>
            <a:off x="365760" y="457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Chronos 2 – Multi-variate Prognose &amp; ICL </a:t>
            </a:r>
            <a:r>
              <a:rPr lang="en-US" sz="2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durch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“Group Attention”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311D4B8-F839-42EB-F053-21786B9B9FB4}"/>
              </a:ext>
            </a:extLst>
          </p:cNvPr>
          <p:cNvSpPr/>
          <p:nvPr/>
        </p:nvSpPr>
        <p:spPr>
          <a:xfrm>
            <a:off x="182880" y="489204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 | AI for Business Prognosis | SoSe 2026 | Graduate Campus, HS Aalen</a:t>
            </a:r>
            <a:endParaRPr lang="en-US" sz="80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F47C03A-D42F-F28F-CFF0-E983E34EB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036" y="776477"/>
            <a:ext cx="7773928" cy="3337523"/>
          </a:xfrm>
          <a:prstGeom prst="rect">
            <a:avLst/>
          </a:prstGeom>
        </p:spPr>
      </p:pic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1BD5240F-40F7-2F11-57A6-728946CC0599}"/>
              </a:ext>
            </a:extLst>
          </p:cNvPr>
          <p:cNvGrpSpPr/>
          <p:nvPr/>
        </p:nvGrpSpPr>
        <p:grpSpPr>
          <a:xfrm>
            <a:off x="685036" y="4166920"/>
            <a:ext cx="7800818" cy="640080"/>
            <a:chOff x="607423" y="4260000"/>
            <a:chExt cx="7720148" cy="450000"/>
          </a:xfrm>
        </p:grpSpPr>
        <p:sp>
          <p:nvSpPr>
            <p:cNvPr id="8" name="Shape 28">
              <a:extLst>
                <a:ext uri="{FF2B5EF4-FFF2-40B4-BE49-F238E27FC236}">
                  <a16:creationId xmlns:a16="http://schemas.microsoft.com/office/drawing/2014/main" id="{93E467AE-0877-59B1-ABBC-5EA5A9586511}"/>
                </a:ext>
              </a:extLst>
            </p:cNvPr>
            <p:cNvSpPr/>
            <p:nvPr/>
          </p:nvSpPr>
          <p:spPr>
            <a:xfrm>
              <a:off x="607423" y="4260000"/>
              <a:ext cx="7720148" cy="450000"/>
            </a:xfrm>
            <a:prstGeom prst="roundRect">
              <a:avLst>
                <a:gd name="adj" fmla="val 15385"/>
              </a:avLst>
            </a:prstGeom>
            <a:solidFill>
              <a:srgbClr val="FFF7ED"/>
            </a:solidFill>
            <a:ln w="12700">
              <a:solidFill>
                <a:srgbClr val="FED7AA"/>
              </a:solidFill>
              <a:prstDash val="solid"/>
            </a:ln>
          </p:spPr>
          <p:txBody>
            <a:bodyPr/>
            <a:lstStyle/>
            <a:p>
              <a:pPr defTabSz="914378"/>
              <a:endParaRPr lang="de-DE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" name="Text 29">
              <a:extLst>
                <a:ext uri="{FF2B5EF4-FFF2-40B4-BE49-F238E27FC236}">
                  <a16:creationId xmlns:a16="http://schemas.microsoft.com/office/drawing/2014/main" id="{13B06100-6DC8-CC8A-6D99-71A135BB84C1}"/>
                </a:ext>
              </a:extLst>
            </p:cNvPr>
            <p:cNvSpPr/>
            <p:nvPr/>
          </p:nvSpPr>
          <p:spPr>
            <a:xfrm>
              <a:off x="672737" y="4290000"/>
              <a:ext cx="7589520" cy="39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defTabSz="914378"/>
              <a:r>
                <a:rPr lang="de-DE" sz="1200" dirty="0"/>
                <a:t>„Die </a:t>
              </a:r>
              <a:r>
                <a:rPr lang="de-DE" sz="1200" b="1" dirty="0"/>
                <a:t>Group Attention</a:t>
              </a:r>
              <a:r>
                <a:rPr lang="de-DE" sz="1200" dirty="0"/>
                <a:t> erkennt Querverbindungen: Sie analysiert parallele Zeitreihen zum selben Zeitpunkt, um multivariate Abhängigkeiten dynamisch zu erfassen.“</a:t>
              </a:r>
              <a:endParaRPr lang="en-US" sz="12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2" name="Textfeld 11">
            <a:extLst>
              <a:ext uri="{FF2B5EF4-FFF2-40B4-BE49-F238E27FC236}">
                <a16:creationId xmlns:a16="http://schemas.microsoft.com/office/drawing/2014/main" id="{45B96BC0-8B4D-E680-45A3-86A7A78C4403}"/>
              </a:ext>
            </a:extLst>
          </p:cNvPr>
          <p:cNvSpPr txBox="1"/>
          <p:nvPr/>
        </p:nvSpPr>
        <p:spPr>
          <a:xfrm>
            <a:off x="7785462" y="4859920"/>
            <a:ext cx="152465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Ansari et al. (2025)</a:t>
            </a:r>
            <a:endParaRPr lang="de-DE" sz="1050" dirty="0"/>
          </a:p>
        </p:txBody>
      </p:sp>
    </p:spTree>
    <p:extLst>
      <p:ext uri="{BB962C8B-B14F-4D97-AF65-F5344CB8AC3E}">
        <p14:creationId xmlns:p14="http://schemas.microsoft.com/office/powerpoint/2010/main" val="40732203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sp>
        <p:nvSpPr>
          <p:cNvPr id="3" name="Title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kumimoji="0" lang="de-DE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+mn-ea"/>
                <a:cs typeface="+mn-cs"/>
              </a:rPr>
              <a:t>Energiepreis EPF-DE </a:t>
            </a:r>
            <a:r>
              <a:rPr lang="de-DE" sz="2200" b="1" dirty="0">
                <a:solidFill>
                  <a:srgbClr val="FFFFFF"/>
                </a:solidFill>
                <a:latin typeface="Cambria" pitchFamily="34" charset="0"/>
              </a:rPr>
              <a:t>— Wirkung von In-</a:t>
            </a:r>
            <a:r>
              <a:rPr lang="de-DE" sz="2200" b="1" dirty="0" err="1">
                <a:solidFill>
                  <a:srgbClr val="FFFFFF"/>
                </a:solidFill>
                <a:latin typeface="Cambria" pitchFamily="34" charset="0"/>
              </a:rPr>
              <a:t>Context</a:t>
            </a:r>
            <a:r>
              <a:rPr lang="de-DE" sz="2200" b="1" dirty="0">
                <a:solidFill>
                  <a:srgbClr val="FFFFFF"/>
                </a:solidFill>
                <a:latin typeface="Cambria" pitchFamily="34" charset="0"/>
              </a:rPr>
              <a:t> Learning (ICL)</a:t>
            </a:r>
          </a:p>
        </p:txBody>
      </p:sp>
      <p:sp>
        <p:nvSpPr>
          <p:cNvPr id="6" name="Footer"/>
          <p:cNvSpPr/>
          <p:nvPr/>
        </p:nvSpPr>
        <p:spPr>
          <a:xfrm>
            <a:off x="182880" y="489204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Chronos | AI for Business Prognosis | SoSe 2026 | Graduate Campus, HS Aalen</a:t>
            </a:r>
          </a:p>
        </p:txBody>
      </p:sp>
      <p:sp>
        <p:nvSpPr>
          <p:cNvPr id="11" name="Card Left">
            <a:extLst>
              <a:ext uri="{FF2B5EF4-FFF2-40B4-BE49-F238E27FC236}">
                <a16:creationId xmlns:a16="http://schemas.microsoft.com/office/drawing/2014/main" id="{0D4FDB9A-101F-3126-C825-9068B4F3B850}"/>
              </a:ext>
            </a:extLst>
          </p:cNvPr>
          <p:cNvSpPr/>
          <p:nvPr/>
        </p:nvSpPr>
        <p:spPr>
          <a:xfrm>
            <a:off x="6962504" y="1013964"/>
            <a:ext cx="1939834" cy="3407813"/>
          </a:xfrm>
          <a:prstGeom prst="roundRect">
            <a:avLst>
              <a:gd name="adj" fmla="val 232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pPr>
              <a:defRPr/>
            </a:pPr>
            <a:r>
              <a:rPr lang="de-DE" sz="1200" dirty="0">
                <a:solidFill>
                  <a:srgbClr val="0D1B2A"/>
                </a:solidFill>
                <a:latin typeface="Calibri" pitchFamily="34" charset="0"/>
              </a:rPr>
              <a:t>▸Wesentlich verbesserte Vorhersage des Preises durch Verwendung von </a:t>
            </a:r>
            <a:r>
              <a:rPr lang="de-DE" sz="1200" b="1" dirty="0">
                <a:solidFill>
                  <a:srgbClr val="0D1B2A"/>
                </a:solidFill>
                <a:latin typeface="Calibri" pitchFamily="34" charset="0"/>
              </a:rPr>
              <a:t>In-</a:t>
            </a:r>
            <a:r>
              <a:rPr lang="de-DE" sz="1200" b="1" dirty="0" err="1">
                <a:solidFill>
                  <a:srgbClr val="0D1B2A"/>
                </a:solidFill>
                <a:latin typeface="Calibri" pitchFamily="34" charset="0"/>
              </a:rPr>
              <a:t>Context</a:t>
            </a:r>
            <a:r>
              <a:rPr lang="de-DE" sz="1200" b="1" dirty="0">
                <a:solidFill>
                  <a:srgbClr val="0D1B2A"/>
                </a:solidFill>
                <a:latin typeface="Calibri" pitchFamily="34" charset="0"/>
              </a:rPr>
              <a:t>-Learning</a:t>
            </a:r>
            <a:r>
              <a:rPr lang="de-DE" sz="1200" dirty="0">
                <a:solidFill>
                  <a:srgbClr val="0D1B2A"/>
                </a:solidFill>
                <a:latin typeface="Calibri" pitchFamily="34" charset="0"/>
              </a:rPr>
              <a:t> </a:t>
            </a:r>
            <a:r>
              <a:rPr lang="de-DE" sz="1200" b="1" dirty="0">
                <a:solidFill>
                  <a:srgbClr val="0D1B2A"/>
                </a:solidFill>
                <a:latin typeface="Calibri" pitchFamily="34" charset="0"/>
              </a:rPr>
              <a:t>mit</a:t>
            </a:r>
            <a:r>
              <a:rPr lang="de-DE" sz="1200" dirty="0">
                <a:solidFill>
                  <a:srgbClr val="0D1B2A"/>
                </a:solidFill>
                <a:latin typeface="Calibri" pitchFamily="34" charset="0"/>
              </a:rPr>
              <a:t> den </a:t>
            </a:r>
            <a:r>
              <a:rPr lang="de-DE" sz="1200" b="1" dirty="0" err="1">
                <a:solidFill>
                  <a:srgbClr val="0D1B2A"/>
                </a:solidFill>
                <a:latin typeface="Calibri" pitchFamily="34" charset="0"/>
              </a:rPr>
              <a:t>Kovariaten</a:t>
            </a:r>
            <a:r>
              <a:rPr lang="de-DE" sz="1200" dirty="0">
                <a:solidFill>
                  <a:srgbClr val="0D1B2A"/>
                </a:solidFill>
                <a:latin typeface="Calibri" pitchFamily="34" charset="0"/>
              </a:rPr>
              <a:t> „Stromproduktion aus Sonne und Wind“ und „</a:t>
            </a:r>
            <a:r>
              <a:rPr lang="de-DE" sz="1200" dirty="0" err="1">
                <a:solidFill>
                  <a:srgbClr val="0D1B2A"/>
                </a:solidFill>
                <a:latin typeface="Calibri" pitchFamily="34" charset="0"/>
              </a:rPr>
              <a:t>Ampirion</a:t>
            </a:r>
            <a:r>
              <a:rPr lang="de-DE" sz="1200" dirty="0">
                <a:solidFill>
                  <a:srgbClr val="0D1B2A"/>
                </a:solidFill>
                <a:latin typeface="Calibri" pitchFamily="34" charset="0"/>
              </a:rPr>
              <a:t> Load: Stromnachfrage im Netz“</a:t>
            </a:r>
          </a:p>
          <a:p>
            <a:pPr>
              <a:defRPr/>
            </a:pPr>
            <a:endParaRPr lang="de-DE" sz="1200" dirty="0">
              <a:solidFill>
                <a:srgbClr val="0D1B2A"/>
              </a:solidFill>
              <a:latin typeface="Calibri" pitchFamily="34" charset="0"/>
            </a:endParaRPr>
          </a:p>
          <a:p>
            <a:pPr>
              <a:defRPr/>
            </a:pPr>
            <a:r>
              <a:rPr lang="de-DE" sz="1200" dirty="0">
                <a:solidFill>
                  <a:srgbClr val="0D1B2A"/>
                </a:solidFill>
                <a:latin typeface="Calibri" pitchFamily="34" charset="0"/>
              </a:rPr>
              <a:t>▸Ohne ICL wird der kurzzeitige Preissturz durch die plötzlich ansteigende Stromproduktion aus Sonne und Wind – und damit viel vorhandenem günstigen Ökostrom - nicht korrekt vorhergesagt.</a:t>
            </a:r>
          </a:p>
          <a:p>
            <a:pPr>
              <a:defRPr/>
            </a:pPr>
            <a:r>
              <a:rPr lang="de-DE" sz="1200" dirty="0">
                <a:solidFill>
                  <a:srgbClr val="0D1B2A"/>
                </a:solidFill>
                <a:latin typeface="Calibri" pitchFamily="34" charset="0"/>
              </a:rPr>
              <a:t> </a:t>
            </a:r>
            <a:endParaRPr lang="de-DE" sz="1200" dirty="0">
              <a:solidFill>
                <a:prstClr val="black"/>
              </a:solidFill>
              <a:latin typeface="Calibri" panose="020F0502020204030204"/>
            </a:endParaRPr>
          </a:p>
          <a:p>
            <a:pPr>
              <a:defRPr/>
            </a:pPr>
            <a:r>
              <a:rPr lang="de-DE" sz="1200" dirty="0">
                <a:solidFill>
                  <a:prstClr val="black"/>
                </a:solidFill>
                <a:latin typeface="Calibri" panose="020F0502020204030204"/>
              </a:rPr>
              <a:t> </a:t>
            </a: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7AE815E3-838C-54AA-75D4-C7672243C647}"/>
              </a:ext>
            </a:extLst>
          </p:cNvPr>
          <p:cNvGrpSpPr/>
          <p:nvPr/>
        </p:nvGrpSpPr>
        <p:grpSpPr>
          <a:xfrm>
            <a:off x="365760" y="1205574"/>
            <a:ext cx="8412480" cy="3080153"/>
            <a:chOff x="365760" y="1061886"/>
            <a:chExt cx="8412480" cy="3080153"/>
          </a:xfrm>
        </p:grpSpPr>
        <p:sp>
          <p:nvSpPr>
            <p:cNvPr id="4" name="Subtitle"/>
            <p:cNvSpPr/>
            <p:nvPr/>
          </p:nvSpPr>
          <p:spPr>
            <a:xfrm>
              <a:off x="365760" y="1061886"/>
              <a:ext cx="8412480" cy="31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200" b="0" i="1" u="none" strike="noStrike" kern="1200" cap="none" spc="0" normalizeH="0" baseline="0" noProof="0" dirty="0">
                  <a:ln>
                    <a:noFill/>
                  </a:ln>
                  <a:solidFill>
                    <a:srgbClr val="475569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Stündlicher Strompreis Deutschland an der Börse</a:t>
              </a:r>
            </a:p>
          </p:txBody>
        </p:sp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8B2726BE-9060-5083-6D20-9CB419F9C7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5760" y="1373796"/>
              <a:ext cx="6426838" cy="2444608"/>
            </a:xfrm>
            <a:prstGeom prst="rect">
              <a:avLst/>
            </a:prstGeom>
          </p:spPr>
        </p:pic>
        <p:sp>
          <p:nvSpPr>
            <p:cNvPr id="13" name="Subtitle">
              <a:extLst>
                <a:ext uri="{FF2B5EF4-FFF2-40B4-BE49-F238E27FC236}">
                  <a16:creationId xmlns:a16="http://schemas.microsoft.com/office/drawing/2014/main" id="{BCA22E58-086A-639A-A04B-BBC9654FA82E}"/>
                </a:ext>
              </a:extLst>
            </p:cNvPr>
            <p:cNvSpPr/>
            <p:nvPr/>
          </p:nvSpPr>
          <p:spPr>
            <a:xfrm>
              <a:off x="365760" y="3832039"/>
              <a:ext cx="8412480" cy="31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100" b="0" i="1" u="none" strike="noStrike" kern="1200" cap="none" spc="0" normalizeH="0" baseline="0" noProof="0" dirty="0">
                  <a:ln>
                    <a:noFill/>
                  </a:ln>
                  <a:solidFill>
                    <a:srgbClr val="475569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* </a:t>
              </a:r>
              <a:r>
                <a:rPr kumimoji="0" lang="de-DE" sz="1100" b="0" i="1" u="none" strike="noStrike" kern="1200" cap="none" spc="0" normalizeH="0" baseline="0" noProof="0" dirty="0" err="1">
                  <a:ln>
                    <a:noFill/>
                  </a:ln>
                  <a:solidFill>
                    <a:srgbClr val="475569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Amperion</a:t>
              </a:r>
              <a:r>
                <a:rPr kumimoji="0" lang="de-DE" sz="1100" b="0" i="1" u="none" strike="noStrike" kern="1200" cap="none" spc="0" normalizeH="0" baseline="0" noProof="0" dirty="0">
                  <a:ln>
                    <a:noFill/>
                  </a:ln>
                  <a:solidFill>
                    <a:srgbClr val="475569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: einer der vier großen Übertragungsnetzbetreiber in Deutschland</a:t>
              </a:r>
            </a:p>
          </p:txBody>
        </p:sp>
      </p:grpSp>
      <p:sp>
        <p:nvSpPr>
          <p:cNvPr id="16" name="Textfeld 15">
            <a:extLst>
              <a:ext uri="{FF2B5EF4-FFF2-40B4-BE49-F238E27FC236}">
                <a16:creationId xmlns:a16="http://schemas.microsoft.com/office/drawing/2014/main" id="{286F1608-EF56-FFD3-4742-E8589C985FEF}"/>
              </a:ext>
            </a:extLst>
          </p:cNvPr>
          <p:cNvSpPr txBox="1"/>
          <p:nvPr/>
        </p:nvSpPr>
        <p:spPr>
          <a:xfrm>
            <a:off x="7785462" y="4839292"/>
            <a:ext cx="152465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Ansari et al. (2025)</a:t>
            </a:r>
            <a:endParaRPr lang="de-DE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731520"/>
            <a:ext cx="3200400" cy="3200400"/>
          </a:xfrm>
          <a:prstGeom prst="ellipse">
            <a:avLst/>
          </a:prstGeom>
          <a:solidFill>
            <a:srgbClr val="00B4D8">
              <a:alpha val="15000"/>
            </a:srgbClr>
          </a:solidFill>
          <a:ln w="635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9144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Zusammenfassung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Chronos-</a:t>
            </a:r>
            <a:r>
              <a:rPr lang="en-US" sz="1600" i="1" dirty="0" err="1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</a:t>
            </a:r>
            <a:r>
              <a:rPr lang="en-US" sz="16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</a:t>
            </a:r>
            <a:r>
              <a:rPr lang="en-US" sz="16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Vergleich</a:t>
            </a:r>
            <a:r>
              <a:rPr lang="en-US" sz="16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Key Takeaways</a:t>
            </a:r>
            <a:endParaRPr lang="en-US" sz="1600" i="1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Header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>
            <a:pPr defTabSz="457189">
              <a:defRPr/>
            </a:pPr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65760" y="150763"/>
            <a:ext cx="841248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defTabSz="457189">
              <a:spcAft>
                <a:spcPts val="200"/>
              </a:spcAft>
              <a:defRPr/>
            </a:pPr>
            <a:r>
              <a:rPr sz="2200" b="1">
                <a:solidFill>
                  <a:srgbClr val="FFFFFF"/>
                </a:solidFill>
                <a:latin typeface="Cambria" pitchFamily="34" charset="0"/>
              </a:rPr>
              <a:t>Chronos-Familien im Überblick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76656"/>
            <a:ext cx="832104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189">
              <a:spcAft>
                <a:spcPts val="200"/>
              </a:spcAft>
              <a:defRPr/>
            </a:pPr>
            <a:r>
              <a:rPr sz="1150" i="1">
                <a:solidFill>
                  <a:srgbClr val="475569"/>
                </a:solidFill>
                <a:latin typeface="Calibri"/>
              </a:rPr>
              <a:t>Drei Generationen von Zeitreihen-Foundation-Models — </a:t>
            </a:r>
            <a:r>
              <a:rPr sz="1150" b="1" i="1">
                <a:solidFill>
                  <a:srgbClr val="475569"/>
                </a:solidFill>
                <a:latin typeface="Calibri"/>
              </a:rPr>
              <a:t>alle zero-shot (kein fit() auf eigene Daten)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60704"/>
            <a:ext cx="2590800" cy="3547872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" name="Oval 4"/>
          <p:cNvSpPr/>
          <p:nvPr/>
        </p:nvSpPr>
        <p:spPr>
          <a:xfrm>
            <a:off x="548640" y="1207007"/>
            <a:ext cx="566928" cy="566928"/>
          </a:xfrm>
          <a:prstGeom prst="ellipse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defTabSz="457189">
              <a:spcAft>
                <a:spcPts val="200"/>
              </a:spcAft>
              <a:defRPr/>
            </a:pPr>
            <a:r>
              <a:rPr sz="1050" b="1">
                <a:solidFill>
                  <a:srgbClr val="FFFFFF"/>
                </a:solidFill>
                <a:latin typeface="Calibri"/>
              </a:rPr>
              <a:t>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97864" y="1260030"/>
            <a:ext cx="1676400" cy="2231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defTabSz="457189">
              <a:spcAft>
                <a:spcPts val="200"/>
              </a:spcAft>
              <a:defRPr/>
            </a:pPr>
            <a:r>
              <a:rPr sz="1450" b="1">
                <a:solidFill>
                  <a:srgbClr val="0D1B2A"/>
                </a:solidFill>
                <a:latin typeface="Calibri"/>
              </a:rPr>
              <a:t>Chronos (T5)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7864" y="1517905"/>
            <a:ext cx="1676400" cy="1315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189">
              <a:lnSpc>
                <a:spcPct val="95000"/>
              </a:lnSpc>
              <a:spcAft>
                <a:spcPts val="200"/>
              </a:spcAft>
              <a:defRPr/>
            </a:pPr>
            <a:r>
              <a:rPr sz="900" i="1">
                <a:solidFill>
                  <a:srgbClr val="475569"/>
                </a:solidFill>
                <a:latin typeface="Calibri"/>
              </a:rPr>
              <a:t>„Original“ · Sprachmodell-Ansatz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1847088"/>
            <a:ext cx="2298192" cy="1432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189">
              <a:lnSpc>
                <a:spcPct val="98000"/>
              </a:lnSpc>
              <a:spcAft>
                <a:spcPts val="200"/>
              </a:spcAft>
              <a:defRPr/>
            </a:pPr>
            <a:r>
              <a:rPr sz="950">
                <a:solidFill>
                  <a:srgbClr val="0D1B2A"/>
                </a:solidFill>
                <a:latin typeface="Calibri"/>
              </a:rPr>
              <a:t>Skalieren → quantisieren → tokenisieren → T5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" y="2249424"/>
            <a:ext cx="2298192" cy="454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189">
              <a:spcAft>
                <a:spcPts val="100"/>
              </a:spcAft>
              <a:defRPr/>
            </a:pPr>
            <a:r>
              <a:rPr sz="930" b="1">
                <a:solidFill>
                  <a:srgbClr val="0D1B2A"/>
                </a:solidFill>
                <a:latin typeface="Calibri"/>
              </a:rPr>
              <a:t>Parameter: </a:t>
            </a:r>
            <a:r>
              <a:rPr sz="930">
                <a:solidFill>
                  <a:srgbClr val="0D1B2A"/>
                </a:solidFill>
                <a:latin typeface="Calibri"/>
              </a:rPr>
              <a:t>8M – 710M</a:t>
            </a:r>
          </a:p>
          <a:p>
            <a:pPr defTabSz="457189">
              <a:spcAft>
                <a:spcPts val="100"/>
              </a:spcAft>
              <a:defRPr/>
            </a:pPr>
            <a:r>
              <a:rPr sz="930" b="1">
                <a:solidFill>
                  <a:srgbClr val="0D1B2A"/>
                </a:solidFill>
                <a:latin typeface="Calibri"/>
              </a:rPr>
              <a:t>Kontext / Horizont: </a:t>
            </a:r>
            <a:r>
              <a:rPr sz="930">
                <a:solidFill>
                  <a:srgbClr val="0D1B2A"/>
                </a:solidFill>
                <a:latin typeface="Calibri"/>
              </a:rPr>
              <a:t>512 / 64</a:t>
            </a:r>
          </a:p>
          <a:p>
            <a:pPr defTabSz="457189">
              <a:spcAft>
                <a:spcPts val="100"/>
              </a:spcAft>
              <a:defRPr/>
            </a:pPr>
            <a:r>
              <a:rPr sz="930" b="1">
                <a:solidFill>
                  <a:srgbClr val="0D1B2A"/>
                </a:solidFill>
                <a:latin typeface="Calibri"/>
              </a:rPr>
              <a:t>Kovariaten: </a:t>
            </a:r>
            <a:r>
              <a:rPr sz="930">
                <a:solidFill>
                  <a:srgbClr val="0D1B2A"/>
                </a:solidFill>
                <a:latin typeface="Calibri"/>
              </a:rPr>
              <a:t>nein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" y="2871215"/>
            <a:ext cx="2298192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189">
              <a:spcAft>
                <a:spcPts val="200"/>
              </a:spcAft>
              <a:defRPr/>
            </a:pPr>
            <a:r>
              <a:rPr sz="950" b="1">
                <a:solidFill>
                  <a:srgbClr val="2E7D46"/>
                </a:solidFill>
                <a:latin typeface="Calibri"/>
              </a:rPr>
              <a:t>Vorteile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" y="3072385"/>
            <a:ext cx="2298192" cy="43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189">
              <a:lnSpc>
                <a:spcPct val="98000"/>
              </a:lnSpc>
              <a:spcAft>
                <a:spcPts val="100"/>
              </a:spcAft>
              <a:defRPr/>
            </a:pPr>
            <a:r>
              <a:rPr sz="900" b="1">
                <a:solidFill>
                  <a:srgbClr val="2E7D46"/>
                </a:solidFill>
                <a:latin typeface="Calibri"/>
              </a:rPr>
              <a:t>✓  </a:t>
            </a:r>
            <a:r>
              <a:rPr sz="900">
                <a:solidFill>
                  <a:srgbClr val="0D1B2A"/>
                </a:solidFill>
                <a:latin typeface="Calibri"/>
              </a:rPr>
              <a:t>Erstes etabliertes Foundation Model</a:t>
            </a:r>
          </a:p>
          <a:p>
            <a:pPr defTabSz="457189">
              <a:lnSpc>
                <a:spcPct val="98000"/>
              </a:lnSpc>
              <a:spcAft>
                <a:spcPts val="100"/>
              </a:spcAft>
              <a:defRPr/>
            </a:pPr>
            <a:r>
              <a:rPr sz="900" b="1">
                <a:solidFill>
                  <a:srgbClr val="2E7D46"/>
                </a:solidFill>
                <a:latin typeface="Calibri"/>
              </a:rPr>
              <a:t>✓  </a:t>
            </a:r>
            <a:r>
              <a:rPr sz="900">
                <a:solidFill>
                  <a:srgbClr val="0D1B2A"/>
                </a:solidFill>
                <a:latin typeface="Calibri"/>
              </a:rPr>
              <a:t>Probabilistisch (Quantile via Sampling)</a:t>
            </a:r>
          </a:p>
          <a:p>
            <a:pPr defTabSz="457189">
              <a:lnSpc>
                <a:spcPct val="98000"/>
              </a:lnSpc>
              <a:spcAft>
                <a:spcPts val="100"/>
              </a:spcAft>
              <a:defRPr/>
            </a:pPr>
            <a:r>
              <a:rPr sz="900" b="1">
                <a:solidFill>
                  <a:srgbClr val="2E7D46"/>
                </a:solidFill>
                <a:latin typeface="Calibri"/>
              </a:rPr>
              <a:t>✓  </a:t>
            </a:r>
            <a:r>
              <a:rPr sz="900">
                <a:solidFill>
                  <a:srgbClr val="0D1B2A"/>
                </a:solidFill>
                <a:latin typeface="Calibri"/>
              </a:rPr>
              <a:t>Einfaches Konzept „Zeit als Sprache“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" y="3803904"/>
            <a:ext cx="2298192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189">
              <a:spcAft>
                <a:spcPts val="200"/>
              </a:spcAft>
              <a:defRPr/>
            </a:pPr>
            <a:r>
              <a:rPr sz="950" b="1">
                <a:solidFill>
                  <a:srgbClr val="C0392B"/>
                </a:solidFill>
                <a:latin typeface="Calibri"/>
              </a:rPr>
              <a:t>Nachteile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" y="4005073"/>
            <a:ext cx="2298192" cy="43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189">
              <a:lnSpc>
                <a:spcPct val="98000"/>
              </a:lnSpc>
              <a:spcAft>
                <a:spcPts val="100"/>
              </a:spcAft>
              <a:defRPr/>
            </a:pPr>
            <a:r>
              <a:rPr sz="900" b="1">
                <a:solidFill>
                  <a:srgbClr val="C0392B"/>
                </a:solidFill>
                <a:latin typeface="Calibri"/>
              </a:rPr>
              <a:t>✗  </a:t>
            </a:r>
            <a:r>
              <a:rPr sz="900">
                <a:solidFill>
                  <a:srgbClr val="0D1B2A"/>
                </a:solidFill>
                <a:latin typeface="Calibri"/>
              </a:rPr>
              <a:t>Langsam (autoregressiv)</a:t>
            </a:r>
          </a:p>
          <a:p>
            <a:pPr defTabSz="457189">
              <a:lnSpc>
                <a:spcPct val="98000"/>
              </a:lnSpc>
              <a:spcAft>
                <a:spcPts val="100"/>
              </a:spcAft>
              <a:defRPr/>
            </a:pPr>
            <a:r>
              <a:rPr sz="900" b="1">
                <a:solidFill>
                  <a:srgbClr val="C0392B"/>
                </a:solidFill>
                <a:latin typeface="Calibri"/>
              </a:rPr>
              <a:t>✗  </a:t>
            </a:r>
            <a:r>
              <a:rPr sz="900">
                <a:solidFill>
                  <a:srgbClr val="0D1B2A"/>
                </a:solidFill>
                <a:latin typeface="Calibri"/>
              </a:rPr>
              <a:t>Kurzer Kontext (512)</a:t>
            </a:r>
          </a:p>
          <a:p>
            <a:pPr defTabSz="457189">
              <a:lnSpc>
                <a:spcPct val="98000"/>
              </a:lnSpc>
              <a:spcAft>
                <a:spcPts val="100"/>
              </a:spcAft>
              <a:defRPr/>
            </a:pPr>
            <a:r>
              <a:rPr sz="900" b="1">
                <a:solidFill>
                  <a:srgbClr val="C0392B"/>
                </a:solidFill>
                <a:latin typeface="Calibri"/>
              </a:rPr>
              <a:t>✗  </a:t>
            </a:r>
            <a:r>
              <a:rPr sz="900">
                <a:solidFill>
                  <a:srgbClr val="0D1B2A"/>
                </a:solidFill>
                <a:latin typeface="Calibri"/>
              </a:rPr>
              <a:t>Keine Kovariaten / Multivariat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76600" y="1060704"/>
            <a:ext cx="2590800" cy="3547872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3413760" y="1207007"/>
            <a:ext cx="566928" cy="566928"/>
          </a:xfrm>
          <a:prstGeom prst="ellipse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defTabSz="457189">
              <a:spcAft>
                <a:spcPts val="200"/>
              </a:spcAft>
              <a:defRPr/>
            </a:pPr>
            <a:r>
              <a:rPr sz="1050" b="1">
                <a:solidFill>
                  <a:srgbClr val="FFFFFF"/>
                </a:solidFill>
                <a:latin typeface="Calibri"/>
              </a:rPr>
              <a:t>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2984" y="1260030"/>
            <a:ext cx="1676400" cy="2231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defTabSz="457189">
              <a:spcAft>
                <a:spcPts val="200"/>
              </a:spcAft>
              <a:defRPr/>
            </a:pPr>
            <a:r>
              <a:rPr sz="1450" b="1">
                <a:solidFill>
                  <a:srgbClr val="0D1B2A"/>
                </a:solidFill>
                <a:latin typeface="Calibri"/>
              </a:rPr>
              <a:t>Chronos-Bolt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2984" y="1517905"/>
            <a:ext cx="1676400" cy="1315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189">
              <a:lnSpc>
                <a:spcPct val="95000"/>
              </a:lnSpc>
              <a:spcAft>
                <a:spcPts val="200"/>
              </a:spcAft>
              <a:defRPr/>
            </a:pPr>
            <a:r>
              <a:rPr sz="900" i="1">
                <a:solidFill>
                  <a:srgbClr val="475569"/>
                </a:solidFill>
                <a:latin typeface="Calibri"/>
              </a:rPr>
              <a:t>„Schnell“ · patch-basiert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2904" y="1847088"/>
            <a:ext cx="2298192" cy="1432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189">
              <a:lnSpc>
                <a:spcPct val="98000"/>
              </a:lnSpc>
              <a:spcAft>
                <a:spcPts val="200"/>
              </a:spcAft>
              <a:defRPr/>
            </a:pPr>
            <a:r>
              <a:rPr sz="950">
                <a:solidFill>
                  <a:srgbClr val="0D1B2A"/>
                </a:solidFill>
                <a:latin typeface="Calibri"/>
              </a:rPr>
              <a:t>Chunks + direkte Multi-Step-Prognose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2904" y="2249424"/>
            <a:ext cx="2298192" cy="454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189">
              <a:spcAft>
                <a:spcPts val="100"/>
              </a:spcAft>
              <a:defRPr/>
            </a:pPr>
            <a:r>
              <a:rPr sz="930" b="1">
                <a:solidFill>
                  <a:srgbClr val="0D1B2A"/>
                </a:solidFill>
                <a:latin typeface="Calibri"/>
              </a:rPr>
              <a:t>Parameter: </a:t>
            </a:r>
            <a:r>
              <a:rPr sz="930">
                <a:solidFill>
                  <a:srgbClr val="0D1B2A"/>
                </a:solidFill>
                <a:latin typeface="Calibri"/>
              </a:rPr>
              <a:t>9M – 205M</a:t>
            </a:r>
          </a:p>
          <a:p>
            <a:pPr defTabSz="457189">
              <a:spcAft>
                <a:spcPts val="100"/>
              </a:spcAft>
              <a:defRPr/>
            </a:pPr>
            <a:r>
              <a:rPr sz="930" b="1">
                <a:solidFill>
                  <a:srgbClr val="0D1B2A"/>
                </a:solidFill>
                <a:latin typeface="Calibri"/>
              </a:rPr>
              <a:t>Kontext / Horizont: </a:t>
            </a:r>
            <a:r>
              <a:rPr sz="930">
                <a:solidFill>
                  <a:srgbClr val="0D1B2A"/>
                </a:solidFill>
                <a:latin typeface="Calibri"/>
              </a:rPr>
              <a:t>2048 / 64</a:t>
            </a:r>
          </a:p>
          <a:p>
            <a:pPr defTabSz="457189">
              <a:spcAft>
                <a:spcPts val="100"/>
              </a:spcAft>
              <a:defRPr/>
            </a:pPr>
            <a:r>
              <a:rPr sz="930" b="1">
                <a:solidFill>
                  <a:srgbClr val="0D1B2A"/>
                </a:solidFill>
                <a:latin typeface="Calibri"/>
              </a:rPr>
              <a:t>Kovariaten: </a:t>
            </a:r>
            <a:r>
              <a:rPr sz="930">
                <a:solidFill>
                  <a:srgbClr val="0D1B2A"/>
                </a:solidFill>
                <a:latin typeface="Calibri"/>
              </a:rPr>
              <a:t>nein (nur extern)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2904" y="2871215"/>
            <a:ext cx="2298192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189">
              <a:spcAft>
                <a:spcPts val="200"/>
              </a:spcAft>
              <a:defRPr/>
            </a:pPr>
            <a:r>
              <a:rPr sz="950" b="1">
                <a:solidFill>
                  <a:srgbClr val="2E7D46"/>
                </a:solidFill>
                <a:latin typeface="Calibri"/>
              </a:rPr>
              <a:t>Vorteile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2904" y="3072385"/>
            <a:ext cx="2298192" cy="43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189">
              <a:lnSpc>
                <a:spcPct val="98000"/>
              </a:lnSpc>
              <a:spcAft>
                <a:spcPts val="100"/>
              </a:spcAft>
              <a:defRPr/>
            </a:pPr>
            <a:r>
              <a:rPr sz="900" b="1">
                <a:solidFill>
                  <a:srgbClr val="2E7D46"/>
                </a:solidFill>
                <a:latin typeface="Calibri"/>
              </a:rPr>
              <a:t>✓  </a:t>
            </a:r>
            <a:r>
              <a:rPr sz="900">
                <a:solidFill>
                  <a:srgbClr val="0D1B2A"/>
                </a:solidFill>
                <a:latin typeface="Calibri"/>
              </a:rPr>
              <a:t>Bis 250× schneller, 20× sparsamer*</a:t>
            </a:r>
          </a:p>
          <a:p>
            <a:pPr defTabSz="457189">
              <a:lnSpc>
                <a:spcPct val="98000"/>
              </a:lnSpc>
              <a:spcAft>
                <a:spcPts val="100"/>
              </a:spcAft>
              <a:defRPr/>
            </a:pPr>
            <a:r>
              <a:rPr sz="900" b="1">
                <a:solidFill>
                  <a:srgbClr val="2E7D46"/>
                </a:solidFill>
                <a:latin typeface="Calibri"/>
              </a:rPr>
              <a:t>✓  </a:t>
            </a:r>
            <a:r>
              <a:rPr sz="900">
                <a:solidFill>
                  <a:srgbClr val="0D1B2A"/>
                </a:solidFill>
                <a:latin typeface="Calibri"/>
              </a:rPr>
              <a:t>Genauer als Original; CPU-tauglich</a:t>
            </a:r>
          </a:p>
          <a:p>
            <a:pPr defTabSz="457189">
              <a:lnSpc>
                <a:spcPct val="98000"/>
              </a:lnSpc>
              <a:spcAft>
                <a:spcPts val="100"/>
              </a:spcAft>
              <a:defRPr/>
            </a:pPr>
            <a:r>
              <a:rPr sz="900" b="1">
                <a:solidFill>
                  <a:srgbClr val="2E7D46"/>
                </a:solidFill>
                <a:latin typeface="Calibri"/>
              </a:rPr>
              <a:t>✓  </a:t>
            </a:r>
            <a:r>
              <a:rPr sz="900">
                <a:solidFill>
                  <a:srgbClr val="0D1B2A"/>
                </a:solidFill>
                <a:latin typeface="Calibri"/>
              </a:rPr>
              <a:t>Ideal für viele Reihen parallel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2904" y="3803904"/>
            <a:ext cx="2298192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189">
              <a:spcAft>
                <a:spcPts val="200"/>
              </a:spcAft>
              <a:defRPr/>
            </a:pPr>
            <a:r>
              <a:rPr sz="950" b="1">
                <a:solidFill>
                  <a:srgbClr val="C0392B"/>
                </a:solidFill>
                <a:latin typeface="Calibri"/>
              </a:rPr>
              <a:t>Nachteile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2904" y="4005073"/>
            <a:ext cx="2298192" cy="43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189">
              <a:lnSpc>
                <a:spcPct val="98000"/>
              </a:lnSpc>
              <a:spcAft>
                <a:spcPts val="100"/>
              </a:spcAft>
              <a:defRPr/>
            </a:pPr>
            <a:r>
              <a:rPr sz="900" b="1">
                <a:solidFill>
                  <a:srgbClr val="C0392B"/>
                </a:solidFill>
                <a:latin typeface="Calibri"/>
              </a:rPr>
              <a:t>✗  </a:t>
            </a:r>
            <a:r>
              <a:rPr sz="900">
                <a:solidFill>
                  <a:srgbClr val="0D1B2A"/>
                </a:solidFill>
                <a:latin typeface="Calibri"/>
              </a:rPr>
              <a:t>Keine nativen Kovariaten</a:t>
            </a:r>
          </a:p>
          <a:p>
            <a:pPr defTabSz="457189">
              <a:lnSpc>
                <a:spcPct val="98000"/>
              </a:lnSpc>
              <a:spcAft>
                <a:spcPts val="100"/>
              </a:spcAft>
              <a:defRPr/>
            </a:pPr>
            <a:r>
              <a:rPr sz="900" b="1">
                <a:solidFill>
                  <a:srgbClr val="C0392B"/>
                </a:solidFill>
                <a:latin typeface="Calibri"/>
              </a:rPr>
              <a:t>✗  </a:t>
            </a:r>
            <a:r>
              <a:rPr sz="900">
                <a:solidFill>
                  <a:srgbClr val="0D1B2A"/>
                </a:solidFill>
                <a:latin typeface="Calibri"/>
              </a:rPr>
              <a:t>Kein Multivariat / Cross-Learning</a:t>
            </a:r>
          </a:p>
          <a:p>
            <a:pPr defTabSz="457189">
              <a:lnSpc>
                <a:spcPct val="98000"/>
              </a:lnSpc>
              <a:spcAft>
                <a:spcPts val="100"/>
              </a:spcAft>
              <a:defRPr/>
            </a:pPr>
            <a:r>
              <a:rPr sz="900" b="1">
                <a:solidFill>
                  <a:srgbClr val="C0392B"/>
                </a:solidFill>
                <a:latin typeface="Calibri"/>
              </a:rPr>
              <a:t>✗  </a:t>
            </a:r>
            <a:r>
              <a:rPr sz="900">
                <a:solidFill>
                  <a:srgbClr val="0D1B2A"/>
                </a:solidFill>
                <a:latin typeface="Calibri"/>
              </a:rPr>
              <a:t>Horizont auf 64 begrenzt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41720" y="1060704"/>
            <a:ext cx="2590800" cy="3547872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6278880" y="1207007"/>
            <a:ext cx="566928" cy="566928"/>
          </a:xfrm>
          <a:prstGeom prst="ellipse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defTabSz="457189">
              <a:spcAft>
                <a:spcPts val="200"/>
              </a:spcAft>
              <a:defRPr/>
            </a:pPr>
            <a:r>
              <a:rPr sz="1050" b="1">
                <a:solidFill>
                  <a:srgbClr val="FFFFFF"/>
                </a:solidFill>
                <a:latin typeface="Calibri"/>
              </a:rPr>
              <a:t>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8104" y="1260030"/>
            <a:ext cx="1676400" cy="2231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defTabSz="457189">
              <a:spcAft>
                <a:spcPts val="200"/>
              </a:spcAft>
              <a:defRPr/>
            </a:pPr>
            <a:r>
              <a:rPr sz="1450" b="1">
                <a:solidFill>
                  <a:srgbClr val="0D1B2A"/>
                </a:solidFill>
                <a:latin typeface="Calibri"/>
              </a:rPr>
              <a:t>Chronos-2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8104" y="1517905"/>
            <a:ext cx="1676400" cy="2631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189">
              <a:lnSpc>
                <a:spcPct val="95000"/>
              </a:lnSpc>
              <a:spcAft>
                <a:spcPts val="200"/>
              </a:spcAft>
              <a:defRPr/>
            </a:pPr>
            <a:r>
              <a:rPr sz="900" i="1">
                <a:solidFill>
                  <a:srgbClr val="475569"/>
                </a:solidFill>
                <a:latin typeface="Calibri"/>
              </a:rPr>
              <a:t>„Vielseitig“ · Encoder + Group-Attention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8024" y="1847088"/>
            <a:ext cx="2298192" cy="1432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189">
              <a:lnSpc>
                <a:spcPct val="98000"/>
              </a:lnSpc>
              <a:spcAft>
                <a:spcPts val="200"/>
              </a:spcAft>
              <a:defRPr/>
            </a:pPr>
            <a:r>
              <a:rPr sz="950">
                <a:solidFill>
                  <a:srgbClr val="0D1B2A"/>
                </a:solidFill>
                <a:latin typeface="Calibri"/>
              </a:rPr>
              <a:t>Univariat, multivariat &amp; Kovariaten in einem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88024" y="2249424"/>
            <a:ext cx="2298192" cy="454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189">
              <a:spcAft>
                <a:spcPts val="100"/>
              </a:spcAft>
              <a:defRPr/>
            </a:pPr>
            <a:r>
              <a:rPr sz="930" b="1">
                <a:solidFill>
                  <a:srgbClr val="0D1B2A"/>
                </a:solidFill>
                <a:latin typeface="Calibri"/>
              </a:rPr>
              <a:t>Parameter: </a:t>
            </a:r>
            <a:r>
              <a:rPr sz="930">
                <a:solidFill>
                  <a:srgbClr val="0D1B2A"/>
                </a:solidFill>
                <a:latin typeface="Calibri"/>
              </a:rPr>
              <a:t>120M</a:t>
            </a:r>
          </a:p>
          <a:p>
            <a:pPr defTabSz="457189">
              <a:spcAft>
                <a:spcPts val="100"/>
              </a:spcAft>
              <a:defRPr/>
            </a:pPr>
            <a:r>
              <a:rPr sz="930" b="1">
                <a:solidFill>
                  <a:srgbClr val="0D1B2A"/>
                </a:solidFill>
                <a:latin typeface="Calibri"/>
              </a:rPr>
              <a:t>Kontext / Horizont: </a:t>
            </a:r>
            <a:r>
              <a:rPr sz="930">
                <a:solidFill>
                  <a:srgbClr val="0D1B2A"/>
                </a:solidFill>
                <a:latin typeface="Calibri"/>
              </a:rPr>
              <a:t>8192 / 1024</a:t>
            </a:r>
          </a:p>
          <a:p>
            <a:pPr defTabSz="457189">
              <a:spcAft>
                <a:spcPts val="100"/>
              </a:spcAft>
              <a:defRPr/>
            </a:pPr>
            <a:r>
              <a:rPr sz="930" b="1">
                <a:solidFill>
                  <a:srgbClr val="0D1B2A"/>
                </a:solidFill>
                <a:latin typeface="Calibri"/>
              </a:rPr>
              <a:t>Kovariaten: </a:t>
            </a:r>
            <a:r>
              <a:rPr sz="930">
                <a:solidFill>
                  <a:srgbClr val="0D1B2A"/>
                </a:solidFill>
                <a:latin typeface="Calibri"/>
              </a:rPr>
              <a:t>ja (past + future)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8024" y="2871215"/>
            <a:ext cx="2298192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189">
              <a:spcAft>
                <a:spcPts val="200"/>
              </a:spcAft>
              <a:defRPr/>
            </a:pPr>
            <a:r>
              <a:rPr sz="950" b="1">
                <a:solidFill>
                  <a:srgbClr val="2E7D46"/>
                </a:solidFill>
                <a:latin typeface="Calibri"/>
              </a:rPr>
              <a:t>Vorteile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88024" y="3072385"/>
            <a:ext cx="2298192" cy="43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189">
              <a:lnSpc>
                <a:spcPct val="98000"/>
              </a:lnSpc>
              <a:spcAft>
                <a:spcPts val="100"/>
              </a:spcAft>
              <a:defRPr/>
            </a:pPr>
            <a:r>
              <a:rPr sz="900" b="1">
                <a:solidFill>
                  <a:srgbClr val="2E7D46"/>
                </a:solidFill>
                <a:latin typeface="Calibri"/>
              </a:rPr>
              <a:t>✓  </a:t>
            </a:r>
            <a:r>
              <a:rPr sz="900">
                <a:solidFill>
                  <a:srgbClr val="0D1B2A"/>
                </a:solidFill>
                <a:latin typeface="Calibri"/>
              </a:rPr>
              <a:t>Multivariat + Cross-Learning</a:t>
            </a:r>
          </a:p>
          <a:p>
            <a:pPr defTabSz="457189">
              <a:lnSpc>
                <a:spcPct val="98000"/>
              </a:lnSpc>
              <a:spcAft>
                <a:spcPts val="100"/>
              </a:spcAft>
              <a:defRPr/>
            </a:pPr>
            <a:r>
              <a:rPr sz="900" b="1">
                <a:solidFill>
                  <a:srgbClr val="2E7D46"/>
                </a:solidFill>
                <a:latin typeface="Calibri"/>
              </a:rPr>
              <a:t>✓  </a:t>
            </a:r>
            <a:r>
              <a:rPr sz="900">
                <a:solidFill>
                  <a:srgbClr val="0D1B2A"/>
                </a:solidFill>
                <a:latin typeface="Calibri"/>
              </a:rPr>
              <a:t>Native Kovariaten (Promo, Events)</a:t>
            </a:r>
          </a:p>
          <a:p>
            <a:pPr defTabSz="457189">
              <a:lnSpc>
                <a:spcPct val="98000"/>
              </a:lnSpc>
              <a:spcAft>
                <a:spcPts val="100"/>
              </a:spcAft>
              <a:defRPr/>
            </a:pPr>
            <a:r>
              <a:rPr sz="900" b="1">
                <a:solidFill>
                  <a:srgbClr val="2E7D46"/>
                </a:solidFill>
                <a:latin typeface="Calibri"/>
              </a:rPr>
              <a:t>✓  </a:t>
            </a:r>
            <a:r>
              <a:rPr sz="900">
                <a:solidFill>
                  <a:srgbClr val="0D1B2A"/>
                </a:solidFill>
                <a:latin typeface="Calibri"/>
              </a:rPr>
              <a:t>SOTA zero-shot; langer Kontext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8024" y="3803904"/>
            <a:ext cx="2298192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189">
              <a:spcAft>
                <a:spcPts val="200"/>
              </a:spcAft>
              <a:defRPr/>
            </a:pPr>
            <a:r>
              <a:rPr sz="950" b="1">
                <a:solidFill>
                  <a:srgbClr val="C0392B"/>
                </a:solidFill>
                <a:latin typeface="Calibri"/>
              </a:rPr>
              <a:t>Nachteile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8024" y="4005073"/>
            <a:ext cx="2298192" cy="43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189">
              <a:lnSpc>
                <a:spcPct val="98000"/>
              </a:lnSpc>
              <a:spcAft>
                <a:spcPts val="100"/>
              </a:spcAft>
              <a:defRPr/>
            </a:pPr>
            <a:r>
              <a:rPr sz="900" b="1">
                <a:solidFill>
                  <a:srgbClr val="C0392B"/>
                </a:solidFill>
                <a:latin typeface="Calibri"/>
              </a:rPr>
              <a:t>✗  </a:t>
            </a:r>
            <a:r>
              <a:rPr sz="900">
                <a:solidFill>
                  <a:srgbClr val="0D1B2A"/>
                </a:solidFill>
                <a:latin typeface="Calibri"/>
              </a:rPr>
              <a:t>Rechenintensiver als Bolt</a:t>
            </a:r>
          </a:p>
          <a:p>
            <a:pPr defTabSz="457189">
              <a:lnSpc>
                <a:spcPct val="98000"/>
              </a:lnSpc>
              <a:spcAft>
                <a:spcPts val="100"/>
              </a:spcAft>
              <a:defRPr/>
            </a:pPr>
            <a:r>
              <a:rPr sz="900" b="1">
                <a:solidFill>
                  <a:srgbClr val="C0392B"/>
                </a:solidFill>
                <a:latin typeface="Calibri"/>
              </a:rPr>
              <a:t>✗  </a:t>
            </a:r>
            <a:r>
              <a:rPr sz="900">
                <a:solidFill>
                  <a:srgbClr val="0D1B2A"/>
                </a:solidFill>
                <a:latin typeface="Calibri"/>
              </a:rPr>
              <a:t>DataFrame-API etwas komplexer</a:t>
            </a:r>
          </a:p>
          <a:p>
            <a:pPr defTabSz="457189">
              <a:lnSpc>
                <a:spcPct val="98000"/>
              </a:lnSpc>
              <a:spcAft>
                <a:spcPts val="100"/>
              </a:spcAft>
              <a:defRPr/>
            </a:pPr>
            <a:r>
              <a:rPr sz="900" b="1">
                <a:solidFill>
                  <a:srgbClr val="C0392B"/>
                </a:solidFill>
                <a:latin typeface="Calibri"/>
              </a:rPr>
              <a:t>✗  </a:t>
            </a:r>
            <a:r>
              <a:rPr sz="900">
                <a:solidFill>
                  <a:srgbClr val="0D1B2A"/>
                </a:solidFill>
                <a:latin typeface="Calibri"/>
              </a:rPr>
              <a:t>Jüngstes Modell (weniger erprobt)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4681729"/>
            <a:ext cx="832104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189">
              <a:spcAft>
                <a:spcPts val="200"/>
              </a:spcAft>
              <a:defRPr/>
            </a:pPr>
            <a:r>
              <a:rPr sz="900" b="1">
                <a:solidFill>
                  <a:srgbClr val="0D1B2A"/>
                </a:solidFill>
                <a:latin typeface="Calibri"/>
              </a:rPr>
              <a:t>Faustregel:  </a:t>
            </a:r>
            <a:r>
              <a:rPr sz="900">
                <a:solidFill>
                  <a:srgbClr val="0D1B2A"/>
                </a:solidFill>
                <a:latin typeface="Calibri"/>
              </a:rPr>
              <a:t>T5 = Verständnis-Baseline · Bolt = schnell für viele Reihen · Chronos-2 = wenn Kovariaten oder mehrere Serien zählen.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4901184"/>
            <a:ext cx="832104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189">
              <a:spcAft>
                <a:spcPts val="200"/>
              </a:spcAft>
              <a:defRPr/>
            </a:pPr>
            <a:r>
              <a:rPr sz="750" i="1">
                <a:solidFill>
                  <a:srgbClr val="64748B"/>
                </a:solidFill>
                <a:latin typeface="Calibri"/>
              </a:rPr>
              <a:t>*Bolt vs. Original-Chronos (Amazon).  Parameter/Specs: Amazon- &amp; Hugging-Face-Modellkarten, Stand Juli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274320"/>
            <a:ext cx="2926080" cy="2926080"/>
          </a:xfrm>
          <a:prstGeom prst="ellipse">
            <a:avLst/>
          </a:prstGeom>
          <a:solidFill>
            <a:srgbClr val="00B4D8">
              <a:alpha val="12000"/>
            </a:srgbClr>
          </a:solidFill>
          <a:ln w="635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pPr defTabSz="914378"/>
            <a:endParaRPr lang="de-DE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3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Bullets"/>
          <p:cNvSpPr txBox="1"/>
          <p:nvPr/>
        </p:nvSpPr>
        <p:spPr>
          <a:xfrm>
            <a:off x="548640" y="914400"/>
            <a:ext cx="7328263" cy="3898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16706" indent="-316706" defTabSz="914378">
              <a:lnSpc>
                <a:spcPct val="118000"/>
              </a:lnSpc>
              <a:spcAft>
                <a:spcPts val="1350"/>
              </a:spcAft>
            </a:pPr>
            <a:r>
              <a:rPr lang="de-DE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LLM-Architekturen funktionieren für Zeitreihen — ohne zeitreihen-spezifische Anpassungen</a:t>
            </a:r>
          </a:p>
          <a:p>
            <a:pPr marL="316706" indent="-316706" defTabSz="914378">
              <a:lnSpc>
                <a:spcPct val="118000"/>
              </a:lnSpc>
              <a:spcAft>
                <a:spcPts val="1350"/>
              </a:spcAft>
            </a:pPr>
            <a:r>
              <a:rPr lang="de-DE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Zero-Shot Forecasting mit der Chronos-Familie auf unbekannten Zeitreihen – konkurrenzfähig mit besten task-spezifischen DL-Modellen</a:t>
            </a:r>
          </a:p>
          <a:p>
            <a:pPr marL="316706" indent="-316706" defTabSz="914378">
              <a:lnSpc>
                <a:spcPct val="118000"/>
              </a:lnSpc>
              <a:spcAft>
                <a:spcPts val="1350"/>
              </a:spcAft>
            </a:pPr>
            <a:r>
              <a:rPr lang="de-DE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Kontext ist König – Zu kurze Zeitfenster führen zur Unterschätzung von Trends!</a:t>
            </a:r>
          </a:p>
          <a:p>
            <a:pPr marL="316706" indent="-316706" defTabSz="914378">
              <a:lnSpc>
                <a:spcPct val="118000"/>
              </a:lnSpc>
              <a:spcAft>
                <a:spcPts val="1350"/>
              </a:spcAft>
            </a:pPr>
            <a:r>
              <a:rPr lang="de-DE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Weiterentwicklungen Chronos-Bolt / Chronos-2: Recheneffizienz, multivariate Prognosen, externe Kovariaten</a:t>
            </a:r>
          </a:p>
          <a:p>
            <a:pPr marL="316706" indent="-316706" defTabSz="914378">
              <a:lnSpc>
                <a:spcPct val="118000"/>
              </a:lnSpc>
            </a:pPr>
            <a:r>
              <a:rPr lang="de-DE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In-Context Learning (ICL) macht den Unterschied – Chronos-2 kann externe Faktoren nutzen, um Preisstürze korrekt vorherzusagen</a:t>
            </a:r>
            <a:endParaRPr lang="de-DE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8640" y="49560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78"/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Ansari et al. (2024) — https://github.com/amazon-science/chronos-forecasting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D33BC5-3687-CD96-FF8F-F88AB1652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F916F10-F8F0-D290-D0B7-26236783997F}"/>
              </a:ext>
            </a:extLst>
          </p:cNvPr>
          <p:cNvSpPr/>
          <p:nvPr/>
        </p:nvSpPr>
        <p:spPr>
          <a:xfrm>
            <a:off x="6858000" y="-274320"/>
            <a:ext cx="2926080" cy="2926080"/>
          </a:xfrm>
          <a:prstGeom prst="ellipse">
            <a:avLst/>
          </a:prstGeom>
          <a:solidFill>
            <a:srgbClr val="00B4D8">
              <a:alpha val="12000"/>
            </a:srgbClr>
          </a:solidFill>
          <a:ln w="635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4073F16-C5DC-2FEC-B09E-751920C66C75}"/>
              </a:ext>
            </a:extLst>
          </p:cNvPr>
          <p:cNvSpPr/>
          <p:nvPr/>
        </p:nvSpPr>
        <p:spPr>
          <a:xfrm>
            <a:off x="548640" y="274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C61E62A-B32A-996A-BBDB-D1B38FC0E6D8}"/>
              </a:ext>
            </a:extLst>
          </p:cNvPr>
          <p:cNvSpPr/>
          <p:nvPr/>
        </p:nvSpPr>
        <p:spPr>
          <a:xfrm>
            <a:off x="548640" y="2492609"/>
            <a:ext cx="595013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chemeClr val="bg1"/>
                </a:solidFill>
              </a:rPr>
              <a:t>Ansari, A. F., Stella, L., Turkmen, C., Zhang, X., Mercado, P., Shen, H., </a:t>
            </a:r>
            <a:r>
              <a:rPr lang="de-DE" sz="1200" dirty="0" err="1">
                <a:solidFill>
                  <a:schemeClr val="bg1"/>
                </a:solidFill>
              </a:rPr>
              <a:t>Shchur</a:t>
            </a:r>
            <a:r>
              <a:rPr lang="de-DE" sz="1200" dirty="0">
                <a:solidFill>
                  <a:schemeClr val="bg1"/>
                </a:solidFill>
              </a:rPr>
              <a:t>, O., </a:t>
            </a:r>
            <a:r>
              <a:rPr lang="de-DE" sz="1200" dirty="0" err="1">
                <a:solidFill>
                  <a:schemeClr val="bg1"/>
                </a:solidFill>
              </a:rPr>
              <a:t>Rangapuram</a:t>
            </a:r>
            <a:r>
              <a:rPr lang="de-DE" sz="1200" dirty="0">
                <a:solidFill>
                  <a:schemeClr val="bg1"/>
                </a:solidFill>
              </a:rPr>
              <a:t>, S. S., Arango, S. P., Kapoor, S., </a:t>
            </a:r>
            <a:r>
              <a:rPr lang="de-DE" sz="1200" dirty="0" err="1">
                <a:solidFill>
                  <a:schemeClr val="bg1"/>
                </a:solidFill>
              </a:rPr>
              <a:t>Zschiegner</a:t>
            </a:r>
            <a:r>
              <a:rPr lang="de-DE" sz="1200" dirty="0">
                <a:solidFill>
                  <a:schemeClr val="bg1"/>
                </a:solidFill>
              </a:rPr>
              <a:t>, J., Maddix, D. C., Wang, H., Mahoney, M. W., </a:t>
            </a:r>
            <a:r>
              <a:rPr lang="de-DE" sz="1200" dirty="0" err="1">
                <a:solidFill>
                  <a:schemeClr val="bg1"/>
                </a:solidFill>
              </a:rPr>
              <a:t>Torkkola</a:t>
            </a:r>
            <a:r>
              <a:rPr lang="de-DE" sz="1200" dirty="0">
                <a:solidFill>
                  <a:schemeClr val="bg1"/>
                </a:solidFill>
              </a:rPr>
              <a:t>, K., Wilson, A. G., Bohlke-Schneider, M., &amp; Wang, Y. (2024). Chronos: Learning </a:t>
            </a:r>
            <a:r>
              <a:rPr lang="de-DE" sz="1200" dirty="0" err="1">
                <a:solidFill>
                  <a:schemeClr val="bg1"/>
                </a:solidFill>
              </a:rPr>
              <a:t>the</a:t>
            </a:r>
            <a:r>
              <a:rPr lang="de-DE" sz="1200" dirty="0">
                <a:solidFill>
                  <a:schemeClr val="bg1"/>
                </a:solidFill>
              </a:rPr>
              <a:t> Language </a:t>
            </a:r>
            <a:r>
              <a:rPr lang="de-DE" sz="1200" dirty="0" err="1">
                <a:solidFill>
                  <a:schemeClr val="bg1"/>
                </a:solidFill>
              </a:rPr>
              <a:t>of</a:t>
            </a:r>
            <a:r>
              <a:rPr lang="de-DE" sz="1200" dirty="0">
                <a:solidFill>
                  <a:schemeClr val="bg1"/>
                </a:solidFill>
              </a:rPr>
              <a:t> Time Series. Transactions on </a:t>
            </a:r>
            <a:r>
              <a:rPr lang="de-DE" sz="1200" dirty="0" err="1">
                <a:solidFill>
                  <a:schemeClr val="bg1"/>
                </a:solidFill>
              </a:rPr>
              <a:t>Machine</a:t>
            </a:r>
            <a:r>
              <a:rPr lang="de-DE" sz="1200" dirty="0">
                <a:solidFill>
                  <a:schemeClr val="bg1"/>
                </a:solidFill>
              </a:rPr>
              <a:t> Learning Research.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2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chemeClr val="bg1"/>
                </a:solidFill>
              </a:rPr>
              <a:t>Vaswani, A., </a:t>
            </a:r>
            <a:r>
              <a:rPr lang="de-DE" sz="1200" dirty="0" err="1">
                <a:solidFill>
                  <a:schemeClr val="bg1"/>
                </a:solidFill>
              </a:rPr>
              <a:t>Shazeer</a:t>
            </a:r>
            <a:r>
              <a:rPr lang="de-DE" sz="1200" dirty="0">
                <a:solidFill>
                  <a:schemeClr val="bg1"/>
                </a:solidFill>
              </a:rPr>
              <a:t>, N., Parmar, N., </a:t>
            </a:r>
            <a:r>
              <a:rPr lang="de-DE" sz="1200" dirty="0" err="1">
                <a:solidFill>
                  <a:schemeClr val="bg1"/>
                </a:solidFill>
              </a:rPr>
              <a:t>Uszkoreit</a:t>
            </a:r>
            <a:r>
              <a:rPr lang="de-DE" sz="1200" dirty="0">
                <a:solidFill>
                  <a:schemeClr val="bg1"/>
                </a:solidFill>
              </a:rPr>
              <a:t>, J., Jones, L., Gomez, A. N., Kaiser, Ł., &amp; </a:t>
            </a:r>
            <a:r>
              <a:rPr lang="de-DE" sz="1200" dirty="0" err="1">
                <a:solidFill>
                  <a:schemeClr val="bg1"/>
                </a:solidFill>
              </a:rPr>
              <a:t>Polosukhin</a:t>
            </a:r>
            <a:r>
              <a:rPr lang="de-DE" sz="1200" dirty="0">
                <a:solidFill>
                  <a:schemeClr val="bg1"/>
                </a:solidFill>
              </a:rPr>
              <a:t>, I. (2017). Attention </a:t>
            </a:r>
            <a:r>
              <a:rPr lang="de-DE" sz="1200" dirty="0" err="1">
                <a:solidFill>
                  <a:schemeClr val="bg1"/>
                </a:solidFill>
              </a:rPr>
              <a:t>is</a:t>
            </a:r>
            <a:r>
              <a:rPr lang="de-DE" sz="1200" dirty="0">
                <a:solidFill>
                  <a:schemeClr val="bg1"/>
                </a:solidFill>
              </a:rPr>
              <a:t> all </a:t>
            </a:r>
            <a:r>
              <a:rPr lang="de-DE" sz="1200" dirty="0" err="1">
                <a:solidFill>
                  <a:schemeClr val="bg1"/>
                </a:solidFill>
              </a:rPr>
              <a:t>you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need</a:t>
            </a:r>
            <a:r>
              <a:rPr lang="de-DE" sz="1200" dirty="0">
                <a:solidFill>
                  <a:schemeClr val="bg1"/>
                </a:solidFill>
              </a:rPr>
              <a:t>. </a:t>
            </a:r>
            <a:r>
              <a:rPr lang="de-DE" sz="1200" i="1" dirty="0" err="1">
                <a:solidFill>
                  <a:schemeClr val="bg1"/>
                </a:solidFill>
              </a:rPr>
              <a:t>Advances</a:t>
            </a:r>
            <a:r>
              <a:rPr lang="de-DE" sz="1200" i="1" dirty="0">
                <a:solidFill>
                  <a:schemeClr val="bg1"/>
                </a:solidFill>
              </a:rPr>
              <a:t> in </a:t>
            </a:r>
            <a:r>
              <a:rPr lang="de-DE" sz="1200" i="1" dirty="0" err="1">
                <a:solidFill>
                  <a:schemeClr val="bg1"/>
                </a:solidFill>
              </a:rPr>
              <a:t>Neural</a:t>
            </a:r>
            <a:r>
              <a:rPr lang="de-DE" sz="1200" i="1" dirty="0">
                <a:solidFill>
                  <a:schemeClr val="bg1"/>
                </a:solidFill>
              </a:rPr>
              <a:t> Information Processing Systems</a:t>
            </a:r>
            <a:r>
              <a:rPr lang="de-DE" sz="1200" dirty="0">
                <a:solidFill>
                  <a:schemeClr val="bg1"/>
                </a:solidFill>
              </a:rPr>
              <a:t>, </a:t>
            </a:r>
            <a:r>
              <a:rPr lang="de-DE" sz="1200" i="1" dirty="0">
                <a:solidFill>
                  <a:schemeClr val="bg1"/>
                </a:solidFill>
              </a:rPr>
              <a:t>30.</a:t>
            </a:r>
            <a:endParaRPr lang="en-US" sz="12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2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chemeClr val="bg1"/>
                </a:solidFill>
              </a:rPr>
              <a:t>Ansari, A. F., </a:t>
            </a:r>
            <a:r>
              <a:rPr lang="de-DE" sz="1200" dirty="0" err="1">
                <a:solidFill>
                  <a:schemeClr val="bg1"/>
                </a:solidFill>
              </a:rPr>
              <a:t>Shchur</a:t>
            </a:r>
            <a:r>
              <a:rPr lang="de-DE" sz="1200" dirty="0">
                <a:solidFill>
                  <a:schemeClr val="bg1"/>
                </a:solidFill>
              </a:rPr>
              <a:t>, O., Küken, J., Auer, A., Han, B., Mercado, P., </a:t>
            </a:r>
            <a:r>
              <a:rPr lang="de-DE" sz="1200" dirty="0" err="1">
                <a:solidFill>
                  <a:schemeClr val="bg1"/>
                </a:solidFill>
              </a:rPr>
              <a:t>Rangapuram</a:t>
            </a:r>
            <a:r>
              <a:rPr lang="de-DE" sz="1200" dirty="0">
                <a:solidFill>
                  <a:schemeClr val="bg1"/>
                </a:solidFill>
              </a:rPr>
              <a:t>, S. S., Shen, H., Stella, L., Zhang, X., Goswami, M., Kapoor, S., Maddix, D. C., Guerron, P., Hu, T., Yin, J., Erickson, N., Desai, P. M., Wang, H., Rangwala, H., </a:t>
            </a:r>
            <a:r>
              <a:rPr lang="de-DE" sz="1200" dirty="0" err="1">
                <a:solidFill>
                  <a:schemeClr val="bg1"/>
                </a:solidFill>
              </a:rPr>
              <a:t>Karypis</a:t>
            </a:r>
            <a:r>
              <a:rPr lang="de-DE" sz="1200" dirty="0">
                <a:solidFill>
                  <a:schemeClr val="bg1"/>
                </a:solidFill>
              </a:rPr>
              <a:t>, G., Wang, Y., &amp; Bohlke-Schneider, M. (2025). Chronos-2: From Univariate </a:t>
            </a:r>
            <a:r>
              <a:rPr lang="de-DE" sz="1200" dirty="0" err="1">
                <a:solidFill>
                  <a:schemeClr val="bg1"/>
                </a:solidFill>
              </a:rPr>
              <a:t>to</a:t>
            </a:r>
            <a:r>
              <a:rPr lang="de-DE" sz="1200" dirty="0">
                <a:solidFill>
                  <a:schemeClr val="bg1"/>
                </a:solidFill>
              </a:rPr>
              <a:t> Universal </a:t>
            </a:r>
            <a:r>
              <a:rPr lang="de-DE" sz="1200" dirty="0" err="1">
                <a:solidFill>
                  <a:schemeClr val="bg1"/>
                </a:solidFill>
              </a:rPr>
              <a:t>Forecasting</a:t>
            </a:r>
            <a:r>
              <a:rPr lang="de-DE" sz="1200" dirty="0">
                <a:solidFill>
                  <a:schemeClr val="bg1"/>
                </a:solidFill>
              </a:rPr>
              <a:t>. </a:t>
            </a:r>
            <a:r>
              <a:rPr lang="de-DE" sz="1200" i="1" dirty="0" err="1">
                <a:solidFill>
                  <a:schemeClr val="bg1"/>
                </a:solidFill>
              </a:rPr>
              <a:t>arXiv</a:t>
            </a:r>
            <a:r>
              <a:rPr lang="de-DE" sz="1200" i="1" dirty="0">
                <a:solidFill>
                  <a:schemeClr val="bg1"/>
                </a:solidFill>
              </a:rPr>
              <a:t> </a:t>
            </a:r>
            <a:r>
              <a:rPr lang="de-DE" sz="1200" i="1" dirty="0" err="1">
                <a:solidFill>
                  <a:schemeClr val="bg1"/>
                </a:solidFill>
              </a:rPr>
              <a:t>preprint</a:t>
            </a:r>
            <a:r>
              <a:rPr lang="de-DE" sz="1200" i="1" dirty="0">
                <a:solidFill>
                  <a:schemeClr val="bg1"/>
                </a:solidFill>
              </a:rPr>
              <a:t> arXiv:2510.15821</a:t>
            </a:r>
            <a:r>
              <a:rPr lang="de-DE" sz="1200" dirty="0">
                <a:solidFill>
                  <a:schemeClr val="bg1"/>
                </a:solidFill>
              </a:rPr>
              <a:t>.</a:t>
            </a:r>
            <a:endParaRPr lang="en-US" sz="1200" dirty="0">
              <a:solidFill>
                <a:schemeClr val="bg1"/>
              </a:solidFill>
            </a:endParaRPr>
          </a:p>
          <a:p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09A818A-B73C-88AB-5D62-6543F932B876}"/>
              </a:ext>
            </a:extLst>
          </p:cNvPr>
          <p:cNvSpPr/>
          <p:nvPr/>
        </p:nvSpPr>
        <p:spPr>
          <a:xfrm>
            <a:off x="496389" y="2533757"/>
            <a:ext cx="636161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FC994185-F256-A98A-2348-B225A664F961}"/>
              </a:ext>
            </a:extLst>
          </p:cNvPr>
          <p:cNvSpPr/>
          <p:nvPr/>
        </p:nvSpPr>
        <p:spPr>
          <a:xfrm>
            <a:off x="548640" y="3512165"/>
            <a:ext cx="609382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8D67BF93-FA10-E2BC-B126-DF3F8E44A23A}"/>
              </a:ext>
            </a:extLst>
          </p:cNvPr>
          <p:cNvSpPr/>
          <p:nvPr/>
        </p:nvSpPr>
        <p:spPr>
          <a:xfrm>
            <a:off x="548640" y="4846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github.com/amazon-science/chronos-forecasting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59539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00400"/>
            <a:ext cx="3657600" cy="3657600"/>
          </a:xfrm>
          <a:prstGeom prst="ellipse">
            <a:avLst/>
          </a:prstGeom>
          <a:solidFill>
            <a:srgbClr val="00B4D8">
              <a:alpha val="10000"/>
            </a:srgbClr>
          </a:solidFill>
          <a:ln w="6350">
            <a:solidFill>
              <a:srgbClr val="00B4D8">
                <a:alpha val="2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0B4D8">
              <a:alpha val="15000"/>
            </a:srgbClr>
          </a:solidFill>
          <a:ln w="635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i="1" dirty="0" err="1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Χρόνος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»Zeit«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Vielen Dank!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Fragen &amp; Diskussion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286000" y="3291840"/>
            <a:ext cx="457200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3474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Steffen  ·  Bettina Gertjerenken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 for Business Prognosis  ·  SoSe 2026  ·  Graduate Campus, HS Aalen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4846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github.com/amazon-science/chronos-forecasting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2924</Words>
  <Application>Microsoft Office PowerPoint</Application>
  <PresentationFormat>Bildschirmpräsentation (16:9)</PresentationFormat>
  <Paragraphs>350</Paragraphs>
  <Slides>27</Slides>
  <Notes>16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3</vt:i4>
      </vt:variant>
      <vt:variant>
        <vt:lpstr>Folientitel</vt:lpstr>
      </vt:variant>
      <vt:variant>
        <vt:i4>27</vt:i4>
      </vt:variant>
    </vt:vector>
  </HeadingPairs>
  <TitlesOfParts>
    <vt:vector size="37" baseType="lpstr">
      <vt:lpstr>Aptos</vt:lpstr>
      <vt:lpstr>Aptos Display</vt:lpstr>
      <vt:lpstr>Arial</vt:lpstr>
      <vt:lpstr>Calibri</vt:lpstr>
      <vt:lpstr>Cambria</vt:lpstr>
      <vt:lpstr>Consolas</vt:lpstr>
      <vt:lpstr>Courier New</vt:lpstr>
      <vt:lpstr>Office Theme</vt:lpstr>
      <vt:lpstr>Office</vt:lpstr>
      <vt:lpstr>1_Office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Chronos: Learning the Language of Time Series</dc:title>
  <dc:subject>PptxGenJS Presentation</dc:subject>
  <dc:creator>noname 1, noname 2</dc:creator>
  <cp:lastModifiedBy>Bettina Gertjerenken</cp:lastModifiedBy>
  <cp:revision>230</cp:revision>
  <dcterms:created xsi:type="dcterms:W3CDTF">2026-06-27T13:48:11Z</dcterms:created>
  <dcterms:modified xsi:type="dcterms:W3CDTF">2026-07-09T15:37:22Z</dcterms:modified>
</cp:coreProperties>
</file>