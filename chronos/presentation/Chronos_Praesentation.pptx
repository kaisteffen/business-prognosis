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83" r:id="rId2"/>
    <p:sldId id="301" r:id="rId3"/>
    <p:sldId id="258" r:id="rId4"/>
    <p:sldId id="300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88" r:id="rId15"/>
    <p:sldId id="291" r:id="rId16"/>
    <p:sldId id="289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90" r:id="rId28"/>
    <p:sldId id="279" r:id="rId29"/>
    <p:sldId id="297" r:id="rId30"/>
    <p:sldId id="298" r:id="rId31"/>
    <p:sldId id="293" r:id="rId32"/>
    <p:sldId id="294" r:id="rId33"/>
    <p:sldId id="302" r:id="rId34"/>
    <p:sldId id="303" r:id="rId35"/>
    <p:sldId id="295" r:id="rId36"/>
    <p:sldId id="296" r:id="rId37"/>
    <p:sldId id="280" r:id="rId38"/>
    <p:sldId id="281" r:id="rId39"/>
    <p:sldId id="304" r:id="rId4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2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125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Willkommen. Chronos – benannt nach dem griechischen Titan der Zeit. Das Paper erschien 2024 in den Transactions on Machine Learning Research und stammt von AWS AI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Agenda-Übersicht. Wir werden sowohl die Theorie als auch praktische Ergebnisse besprechen.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Klassische Methoden brauchen ein Modell pro Zeitreihe. Deep Learning lernt zwar über viele Reihen, muss aber für jede neue Aufgabe neu trainiert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zentrale Frage des Papers: Kann man ein Sprachmodell direkt für Zeitreihen nutzen, ohne zeitreihen-spezifische Modifikationen?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Kerndiagramm aus dem Paper. Links Tokenisierung, Mitte Training mit Cross-Entropy, rechts autoregressive Inferenz mit Sampling.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Scaling erhält Nullwerte — wichtig bei z.B. Verkaufsdaten. Uniform Binning statt datenabhängigem Quantile-Binning für bessere Zero-Shot-Generalisierung.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Der Loss ist nicht abstandsbasiert (distance-unaware). Das Modell assoziiert benachbarte Bins indirekt über die Trainingsverteilung.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Sample-Pfade werden autoregressiv generiert. Daraus schätzen wir Quantile für WQL-Bewertung und Median als Punktprognose für MASE.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A7568-0AF1-DE31-A0AE-B78B5D80B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29A8D3-D8D1-D904-FE7D-E08C5F69F4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BB400-89D5-AF56-CC5F-8540E57EC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TSMixup: konvexe Kombination skalierter Zeitreihen verschiedener Datensätze. KernelSynth: Gaussian Process mit zufällig zusammengesetzten Kerneln — ähnlich dem Automatic Statistician, aber in umgekehrter Richtung.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75240-93CC-8DA7-4C86-1BF381C31C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4218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C65F9-FEFB-A23C-2625-87B18D4FB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D6E81-73FB-E4A5-9E41-175495E0C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4C1BF-5492-1DE8-4B48-78E5557B1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TSMixup: konvexe Kombination skalierter Zeitreihen verschiedener Datensätze. KernelSynth: Gaussian Process mit zufällig zusammengesetzten Kerneln — ähnlich dem Automatic Statistician, aber in umgekehrter Richtung.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6A74D-0498-CC50-26C1-4177FE3D53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81751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Training: 200K Schritte, AdamW, lr=0.001, 8× A100. Context Length 512, Prediction Length 64. Alle Ergebnisse: Mittel über 3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I: 15 Datensätze aus dem Trainingscorpus. WQL: Chronos-T5 Large = 0.564, Seasonal Naive = 1.0. MASE: 0.695 vs. 1.0. Selbst das kleinste Chronos-Mini schlägt Moirai-1.0-R (Large, 311M Parameter), das auf deutlich mehr Daten trainiert wurde.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II: 27 Datensätze, die Chronos nie gesehen hat. Dennoch deutlich besser als lokale Modelle und vergleichbar mit besten task-spezifischen DL-Modellen. Moirai könnte Vorteil haben, da Benchmark-II-Daten teils in dessen Pretraining-Corpus waren.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zentrale Stärken. Besonders bemerkenswert: Das Skalierungsgesetz — Modell-Performance verbessert sich konsistent mit Größe und Training, genau wie bei Sprachmodellen.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Kritische Limitation: Tokenisierungsbereich [−15, +15] nach Mean-Scaling. Für sehr spärliche Reihen oder kleine Varianz kommt es zu Informationsverlust.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Zentrale Botschaft: Chronos schlägt die Lücke zwischen task-spezifischen DL-Modellen und einem echten Foundation Model für Zeitreihen.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Chronos erkennt Rauschen, linearen Trend, einfache und mehrfache Saisonalität sowie kombinierte Muster gut. Exponentieller Trend ist die Achillesferse des Ansatzes.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28692-FCF2-0A63-4EE2-811F6E19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F042D-D2F2-1963-D4A8-D01B8A4BEA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8CC043-072B-2340-6406-9EEB423AA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Chronos erkennt Rauschen, linearen Trend, einfache und mehrfache Saisonalität sowie kombinierte Muster gut. Exponentieller Trend ist die Achillesferse des Ansatzes.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5D8A-E180-60FA-5155-47586D707B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034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überraschendste Ergebnis: LLM-Initialisierung hilft nicht. Sprachgewichte sind nicht besonders relevant für Zeitreihen — die Transformer-Architektur ist 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Die Stärke von Chronos liegt nicht in einer ausgeklügelten Zeitreihen-Architektur, sondern in der cleveren Tokenisierung und dem Skalieren auf viele Datensätze.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 w="1270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223760" y="2560320"/>
            <a:ext cx="2286000" cy="2286000"/>
          </a:xfrm>
          <a:prstGeom prst="ellipse">
            <a:avLst/>
          </a:prstGeom>
          <a:solidFill>
            <a:srgbClr val="00B4D8">
              <a:alpha val="20000"/>
            </a:srgbClr>
          </a:solidFill>
          <a:ln w="6350">
            <a:solidFill>
              <a:srgbClr val="00B4D8">
                <a:alpha val="4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»Zeit« — der griechische Gott der Zeit und des Wandels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8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CHRONOS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73152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Wie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zu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Vokabeln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werden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Performance auf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ungesehenen</a:t>
            </a: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600" b="0" i="1" u="none" strike="noStrike" kern="1200" cap="none" spc="0" normalizeH="0" baseline="0" noProof="0" dirty="0" err="1">
                <a:ln>
                  <a:noFill/>
                </a:ln>
                <a:solidFill>
                  <a:srgbClr val="48CAE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Daten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420000"/>
            <a:ext cx="502920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6000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Graduate Campus, Hochschule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060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Transactions on Machine Learning Research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ard 1"/>
          <p:cNvSpPr/>
          <p:nvPr/>
        </p:nvSpPr>
        <p:spPr>
          <a:xfrm>
            <a:off x="365760" y="68580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Num 1"/>
          <p:cNvSpPr/>
          <p:nvPr/>
        </p:nvSpPr>
        <p:spPr>
          <a:xfrm>
            <a:off x="457200" y="80667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02" name="Title 1"/>
          <p:cNvSpPr/>
          <p:nvPr/>
        </p:nvSpPr>
        <p:spPr>
          <a:xfrm>
            <a:off x="960120" y="70380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Motivation &amp; Problemstellung</a:t>
            </a:r>
          </a:p>
        </p:txBody>
      </p:sp>
      <p:sp>
        <p:nvSpPr>
          <p:cNvPr id="103" name="Sub 1"/>
          <p:cNvSpPr/>
          <p:nvPr/>
        </p:nvSpPr>
        <p:spPr>
          <a:xfrm>
            <a:off x="960120" y="118320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Warum brauchen wir ein neues Paradigma?</a:t>
            </a:r>
          </a:p>
        </p:txBody>
      </p:sp>
      <p:sp>
        <p:nvSpPr>
          <p:cNvPr id="110" name="Card 2"/>
          <p:cNvSpPr/>
          <p:nvPr/>
        </p:nvSpPr>
        <p:spPr>
          <a:xfrm>
            <a:off x="4754880" y="68580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Num 2"/>
          <p:cNvSpPr/>
          <p:nvPr/>
        </p:nvSpPr>
        <p:spPr>
          <a:xfrm>
            <a:off x="4846320" y="80667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112" name="Title 2"/>
          <p:cNvSpPr/>
          <p:nvPr/>
        </p:nvSpPr>
        <p:spPr>
          <a:xfrm>
            <a:off x="5349240" y="70380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Chronos-Framework</a:t>
            </a:r>
          </a:p>
        </p:txBody>
      </p:sp>
      <p:sp>
        <p:nvSpPr>
          <p:cNvPr id="113" name="Sub 2"/>
          <p:cNvSpPr/>
          <p:nvPr/>
        </p:nvSpPr>
        <p:spPr>
          <a:xfrm>
            <a:off x="5349240" y="118320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Tokenisierung, Training, Inferenz</a:t>
            </a:r>
          </a:p>
        </p:txBody>
      </p:sp>
      <p:sp>
        <p:nvSpPr>
          <p:cNvPr id="120" name="Card 3"/>
          <p:cNvSpPr/>
          <p:nvPr/>
        </p:nvSpPr>
        <p:spPr>
          <a:xfrm>
            <a:off x="365760" y="153324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Num 3"/>
          <p:cNvSpPr/>
          <p:nvPr/>
        </p:nvSpPr>
        <p:spPr>
          <a:xfrm>
            <a:off x="457200" y="165411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122" name="Title 3"/>
          <p:cNvSpPr/>
          <p:nvPr/>
        </p:nvSpPr>
        <p:spPr>
          <a:xfrm>
            <a:off x="960120" y="155124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Mathematische Grundlagen</a:t>
            </a:r>
          </a:p>
        </p:txBody>
      </p:sp>
      <p:sp>
        <p:nvSpPr>
          <p:cNvPr id="123" name="Sub 3"/>
          <p:cNvSpPr/>
          <p:nvPr/>
        </p:nvSpPr>
        <p:spPr>
          <a:xfrm>
            <a:off x="960120" y="203064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Skalierung, Quantisierung, Cross-Entropy Loss</a:t>
            </a:r>
          </a:p>
        </p:txBody>
      </p:sp>
      <p:sp>
        <p:nvSpPr>
          <p:cNvPr id="130" name="Card 4"/>
          <p:cNvSpPr/>
          <p:nvPr/>
        </p:nvSpPr>
        <p:spPr>
          <a:xfrm>
            <a:off x="4754880" y="153324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Num 4"/>
          <p:cNvSpPr/>
          <p:nvPr/>
        </p:nvSpPr>
        <p:spPr>
          <a:xfrm>
            <a:off x="4846320" y="165411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132" name="Title 4"/>
          <p:cNvSpPr/>
          <p:nvPr/>
        </p:nvSpPr>
        <p:spPr>
          <a:xfrm>
            <a:off x="5349240" y="155124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Datengenerierung</a:t>
            </a:r>
          </a:p>
        </p:txBody>
      </p:sp>
      <p:sp>
        <p:nvSpPr>
          <p:cNvPr id="133" name="Sub 4"/>
          <p:cNvSpPr/>
          <p:nvPr/>
        </p:nvSpPr>
        <p:spPr>
          <a:xfrm>
            <a:off x="5349240" y="203064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TSMixup &amp; KernelSynth</a:t>
            </a:r>
          </a:p>
        </p:txBody>
      </p:sp>
      <p:sp>
        <p:nvSpPr>
          <p:cNvPr id="140" name="Card 5"/>
          <p:cNvSpPr/>
          <p:nvPr/>
        </p:nvSpPr>
        <p:spPr>
          <a:xfrm>
            <a:off x="365760" y="238068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1" name="Num 5"/>
          <p:cNvSpPr/>
          <p:nvPr/>
        </p:nvSpPr>
        <p:spPr>
          <a:xfrm>
            <a:off x="457200" y="250155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5</a:t>
            </a:r>
          </a:p>
        </p:txBody>
      </p:sp>
      <p:sp>
        <p:nvSpPr>
          <p:cNvPr id="142" name="Title 5"/>
          <p:cNvSpPr/>
          <p:nvPr/>
        </p:nvSpPr>
        <p:spPr>
          <a:xfrm>
            <a:off x="960120" y="239868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Experimentelle Ergebnisse</a:t>
            </a:r>
          </a:p>
        </p:txBody>
      </p:sp>
      <p:sp>
        <p:nvSpPr>
          <p:cNvPr id="143" name="Sub 5"/>
          <p:cNvSpPr/>
          <p:nvPr/>
        </p:nvSpPr>
        <p:spPr>
          <a:xfrm>
            <a:off x="960120" y="287808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42 Datensätze, In-Domain &amp; Zero-Shot</a:t>
            </a:r>
          </a:p>
        </p:txBody>
      </p:sp>
      <p:sp>
        <p:nvSpPr>
          <p:cNvPr id="150" name="Card 6"/>
          <p:cNvSpPr/>
          <p:nvPr/>
        </p:nvSpPr>
        <p:spPr>
          <a:xfrm>
            <a:off x="4754880" y="238068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Num 6"/>
          <p:cNvSpPr/>
          <p:nvPr/>
        </p:nvSpPr>
        <p:spPr>
          <a:xfrm>
            <a:off x="4846320" y="250155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6</a:t>
            </a:r>
          </a:p>
        </p:txBody>
      </p:sp>
      <p:sp>
        <p:nvSpPr>
          <p:cNvPr id="152" name="Title 6"/>
          <p:cNvSpPr/>
          <p:nvPr/>
        </p:nvSpPr>
        <p:spPr>
          <a:xfrm>
            <a:off x="5349240" y="239868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Stärken &amp; Schwächen</a:t>
            </a:r>
          </a:p>
        </p:txBody>
      </p:sp>
      <p:sp>
        <p:nvSpPr>
          <p:cNvPr id="153" name="Sub 6"/>
          <p:cNvSpPr/>
          <p:nvPr/>
        </p:nvSpPr>
        <p:spPr>
          <a:xfrm>
            <a:off x="5349240" y="287808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Vergleich klassisch vs. Deep Learning</a:t>
            </a:r>
          </a:p>
        </p:txBody>
      </p:sp>
      <p:sp>
        <p:nvSpPr>
          <p:cNvPr id="160" name="Card 7"/>
          <p:cNvSpPr/>
          <p:nvPr/>
        </p:nvSpPr>
        <p:spPr>
          <a:xfrm>
            <a:off x="365760" y="322812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1" name="Num 7"/>
          <p:cNvSpPr/>
          <p:nvPr/>
        </p:nvSpPr>
        <p:spPr>
          <a:xfrm>
            <a:off x="457200" y="334899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7</a:t>
            </a:r>
          </a:p>
        </p:txBody>
      </p:sp>
      <p:sp>
        <p:nvSpPr>
          <p:cNvPr id="162" name="Title 7"/>
          <p:cNvSpPr/>
          <p:nvPr/>
        </p:nvSpPr>
        <p:spPr>
          <a:xfrm>
            <a:off x="960120" y="324612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Qualitative Analyse &amp; Praxisbeispiele</a:t>
            </a:r>
          </a:p>
        </p:txBody>
      </p:sp>
      <p:sp>
        <p:nvSpPr>
          <p:cNvPr id="163" name="Sub 7"/>
          <p:cNvSpPr/>
          <p:nvPr/>
        </p:nvSpPr>
        <p:spPr>
          <a:xfrm>
            <a:off x="960120" y="372552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0" name="Card 8"/>
          <p:cNvSpPr/>
          <p:nvPr/>
        </p:nvSpPr>
        <p:spPr>
          <a:xfrm>
            <a:off x="4754880" y="322812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1" name="Num 8"/>
          <p:cNvSpPr/>
          <p:nvPr/>
        </p:nvSpPr>
        <p:spPr>
          <a:xfrm>
            <a:off x="4846320" y="334899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8</a:t>
            </a:r>
          </a:p>
        </p:txBody>
      </p:sp>
      <p:sp>
        <p:nvSpPr>
          <p:cNvPr id="172" name="Title 8"/>
          <p:cNvSpPr/>
          <p:nvPr/>
        </p:nvSpPr>
        <p:spPr>
          <a:xfrm>
            <a:off x="5349240" y="324612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Chronos-2</a:t>
            </a:r>
          </a:p>
        </p:txBody>
      </p:sp>
      <p:sp>
        <p:nvSpPr>
          <p:cNvPr id="173" name="Sub 8"/>
          <p:cNvSpPr/>
          <p:nvPr/>
        </p:nvSpPr>
        <p:spPr>
          <a:xfrm>
            <a:off x="5349240" y="372552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Von univariat zu universell · Group Attention · Bolt</a:t>
            </a:r>
          </a:p>
        </p:txBody>
      </p:sp>
      <p:sp>
        <p:nvSpPr>
          <p:cNvPr id="180" name="Card 9"/>
          <p:cNvSpPr/>
          <p:nvPr/>
        </p:nvSpPr>
        <p:spPr>
          <a:xfrm>
            <a:off x="365760" y="407556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Num 9"/>
          <p:cNvSpPr/>
          <p:nvPr/>
        </p:nvSpPr>
        <p:spPr>
          <a:xfrm>
            <a:off x="457200" y="419643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9</a:t>
            </a:r>
          </a:p>
        </p:txBody>
      </p:sp>
      <p:sp>
        <p:nvSpPr>
          <p:cNvPr id="182" name="Title 9"/>
          <p:cNvSpPr/>
          <p:nvPr/>
        </p:nvSpPr>
        <p:spPr>
          <a:xfrm>
            <a:off x="960120" y="409356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Vergleichbare Ansätze</a:t>
            </a:r>
          </a:p>
        </p:txBody>
      </p:sp>
      <p:sp>
        <p:nvSpPr>
          <p:cNvPr id="183" name="Sub 9"/>
          <p:cNvSpPr/>
          <p:nvPr/>
        </p:nvSpPr>
        <p:spPr>
          <a:xfrm>
            <a:off x="960120" y="457296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TimesFM · TiRex · Moirai-2 · COSMIC</a:t>
            </a:r>
          </a:p>
        </p:txBody>
      </p:sp>
      <p:sp>
        <p:nvSpPr>
          <p:cNvPr id="190" name="Card 10"/>
          <p:cNvSpPr/>
          <p:nvPr/>
        </p:nvSpPr>
        <p:spPr>
          <a:xfrm>
            <a:off x="4754880" y="4075560"/>
            <a:ext cx="4160520" cy="756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1" name="Num 10"/>
          <p:cNvSpPr/>
          <p:nvPr/>
        </p:nvSpPr>
        <p:spPr>
          <a:xfrm>
            <a:off x="4846320" y="419643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10</a:t>
            </a:r>
          </a:p>
        </p:txBody>
      </p:sp>
      <p:sp>
        <p:nvSpPr>
          <p:cNvPr id="192" name="Title 10"/>
          <p:cNvSpPr/>
          <p:nvPr/>
        </p:nvSpPr>
        <p:spPr>
          <a:xfrm>
            <a:off x="5349240" y="4093560"/>
            <a:ext cx="3474720" cy="3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Fazit &amp; Ausblick</a:t>
            </a:r>
          </a:p>
        </p:txBody>
      </p:sp>
      <p:sp>
        <p:nvSpPr>
          <p:cNvPr id="193" name="Sub 10"/>
          <p:cNvSpPr/>
          <p:nvPr/>
        </p:nvSpPr>
        <p:spPr>
          <a:xfrm>
            <a:off x="5349240" y="4572960"/>
            <a:ext cx="3474720" cy="25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Was lernen wir aus Chronos?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 &amp; Problemstellung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brauchen wir ein neues Paradigma?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Warum Amazon Chronos entwickelte</a:t>
            </a:r>
            <a:endParaRPr kumimoji="0" lang="de-DE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Lead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1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Prognosen steuern bei Amazon Lagerbestände, Cloud-Kapazitäten und Lieferketten — über Millionen unterschiedlicher Zeitreihen hinweg.</a:t>
            </a:r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ard Left"/>
          <p:cNvSpPr/>
          <p:nvPr/>
        </p:nvSpPr>
        <p:spPr>
          <a:xfrm>
            <a:off x="320040" y="1188720"/>
            <a:ext cx="3931920" cy="3072384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Card Left Heading"/>
          <p:cNvSpPr/>
          <p:nvPr/>
        </p:nvSpPr>
        <p:spPr>
          <a:xfrm>
            <a:off x="50292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50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Das Problem</a:t>
            </a:r>
            <a:endParaRPr kumimoji="0" lang="de-DE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ard Left Body"/>
          <p:cNvSpPr/>
          <p:nvPr/>
        </p:nvSpPr>
        <p:spPr>
          <a:xfrm>
            <a:off x="502920" y="1716528"/>
            <a:ext cx="356616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Klassische Modelle mussten für jede Zeitreihe einzeln trainiert und aufwendig angepasst werden — Feature-Engineering, Tuning, Domänenwissen.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Das skaliert nicht: unzählige Produkte, Regionen und Dienste mit je eigenem Verlauf.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Gesucht war EIN vortrainiertes Modell, das ohne Neutraining auf neue Reihen generalisiert — Zero-Shot.</a:t>
            </a:r>
          </a:p>
        </p:txBody>
      </p:sp>
      <p:sp>
        <p:nvSpPr>
          <p:cNvPr id="8" name="Card Right"/>
          <p:cNvSpPr/>
          <p:nvPr/>
        </p:nvSpPr>
        <p:spPr>
          <a:xfrm>
            <a:off x="4526280" y="1188720"/>
            <a:ext cx="4297680" cy="3072384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ard Right Heading"/>
          <p:cNvSpPr/>
          <p:nvPr/>
        </p:nvSpPr>
        <p:spPr>
          <a:xfrm>
            <a:off x="470916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5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Die Entwicklung</a:t>
            </a:r>
            <a:endParaRPr kumimoji="0" lang="de-DE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Card Right Body"/>
          <p:cNvSpPr/>
          <p:nvPr/>
        </p:nvSpPr>
        <p:spPr>
          <a:xfrm>
            <a:off x="4709160" y="1716528"/>
            <a:ext cx="393192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seit ~2017 — DeepAR &amp; Amazon Forecast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Amazons erste Deep-Learning-Prognose: probabilistische RNNs, später als Dienst Amazon Forecast.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2024 — Chronos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Zeitreihen werden wie Sprache behandelt: skaliert, quantisiert und mit T5-Transformern (20–710 Mio. Parameter) trainiert.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2025 — Chronos-2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Universelles Foundation-Model mit deutlich erweitertem Anwendungsbereich.</a:t>
            </a:r>
          </a:p>
        </p:txBody>
      </p:sp>
      <p:sp>
        <p:nvSpPr>
          <p:cNvPr id="11" name="Kernidee"/>
          <p:cNvSpPr/>
          <p:nvPr/>
        </p:nvSpPr>
        <p:spPr>
          <a:xfrm>
            <a:off x="320040" y="4326000"/>
            <a:ext cx="8503920" cy="356616"/>
          </a:xfrm>
          <a:prstGeom prst="roundRect">
            <a:avLst>
              <a:gd name="adj" fmla="val 12000"/>
            </a:avLst>
          </a:prstGeom>
          <a:solidFill>
            <a:srgbClr val="E8F0FA"/>
          </a:solidFill>
          <a:ln w="12700">
            <a:solidFill>
              <a:srgbClr val="BFD0E6"/>
            </a:solidFill>
            <a:prstDash val="solid"/>
          </a:ln>
        </p:spPr>
        <p:txBody>
          <a:bodyPr wrap="square" lIns="137160" tIns="0" rIns="13716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15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Kernidee:  </a:t>
            </a:r>
            <a:r>
              <a:rPr kumimoji="0" lang="de-DE" sz="115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Zeitreihe = Sprache. Werte werden zu Tokens; ein Sprachmodell lernt daraus und setzt den „Satz“ fort.</a:t>
            </a:r>
            <a:endParaRPr kumimoji="0" lang="de-DE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ooter"/>
          <p:cNvSpPr/>
          <p:nvPr/>
        </p:nvSpPr>
        <p:spPr>
          <a:xfrm>
            <a:off x="182880" y="489204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de-DE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ource"/>
          <p:cNvSpPr/>
          <p:nvPr/>
        </p:nvSpPr>
        <p:spPr>
          <a:xfrm>
            <a:off x="5486400" y="4892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TMLR  ·  amazon.science</a:t>
            </a:r>
            <a:endParaRPr kumimoji="0" lang="de-DE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Zeitreihenprognose: Der Status Quo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3931920" cy="4114800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Klassische Methoden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ARIMA, ETS, Theta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Interpretierbar, robust, wenig Daten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Gut für stationäre Prozesse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Ein Modell pro Zeitreihe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Kein Transfer-Learning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Schwach bei nichtlinearen Mustern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777240"/>
            <a:ext cx="4297680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709160" y="868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Learning Methoden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1298448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DeepAR, PatchTST, N-BEATS, TFT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Lernen über viele Zeitreihen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Erfassen nichtlinearer Muster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Training auf jedem Datensatz separat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Kein Zero-Shot Transfer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Zeitreihen-spezifisches Design nötig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96512" y="2103120"/>
            <a:ext cx="457200" cy="4572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09651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Vision: Foundation Models für Zeitreihen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 zu Large Language Models in NLP: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Einmal trainieren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Großes Modell auf vielen Zeitreihen aus verschiedensten Domänen vortrainieren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20040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9184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 anwenden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3756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weiteres Training direkt auf neue, ungesehene Datensätze anwenden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28016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080760" y="1417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7220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Fine-Tuning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1792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Effizienter als from-scratch Training — kurzes Fine-Tuning auf Zieldomäne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"Shouldn't good language models just work on time series?" — Ansari et al. (2024)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Chronos-Framework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Tokenisierung · Training · Inferenz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Chronos: Architektur-Überblick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Minimale Anpassung: Nur die Tokenisierung wird geändert — die LM-Architektur bleibt unverändert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65760" y="4645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</a:t>
            </a:r>
            <a:endParaRPr lang="en-US" sz="8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7AA49A0-CF2B-8209-73C4-AF319FE93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47" y="1232574"/>
            <a:ext cx="7666074" cy="31776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Schritt 1: Zeitreihen-Tokenisierung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160520" cy="1965960"/>
          </a:xfrm>
          <a:prstGeom prst="roundRect">
            <a:avLst>
              <a:gd name="adj" fmla="val 4651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Mean Scaling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435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Normalisierung: </a:t>
            </a: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x̃ᵢ = xᵢ / 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Skala s = (1/C) · Σ|xᵢ|  (Mittlerer absoluter Wert)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49808"/>
            <a:ext cx="4160520" cy="1965960"/>
          </a:xfrm>
          <a:prstGeom prst="roundRect">
            <a:avLst>
              <a:gd name="adj" fmla="val 4651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846320" y="8412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Gleichmäßige Quantisierung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46320" y="12435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4096 Bins  im Intervall [c₁ = −15, c_B = +15]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627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Quantisierungsfunktion: q(x) → {1, 2, …, B}  |  d(j) = cⱼ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880360"/>
            <a:ext cx="8503920" cy="960120"/>
          </a:xfrm>
          <a:prstGeom prst="roundRect">
            <a:avLst>
              <a:gd name="adj" fmla="val 9524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02920" y="29718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Spezial-Token: 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 (Auffüllen auf gleiche Länge / fehlende Werte)  ·  EOS  (End of Sequence)  →  |V_ts| = 4096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3375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Keine Zeit-/Frequenzmerkmale — Chronos behandelt Zeitreihen rein als Sequenz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977640"/>
            <a:ext cx="8503920" cy="822960"/>
          </a:xfrm>
          <a:prstGeom prst="roundRect">
            <a:avLst>
              <a:gd name="adj" fmla="val 777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548640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E2E8F0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548640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572768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1572768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96896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2596896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21024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3621024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···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645152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4645152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0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669280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···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693408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BFDBFE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6693408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7536" y="4096512"/>
            <a:ext cx="868680" cy="502920"/>
          </a:xfrm>
          <a:prstGeom prst="roundRect">
            <a:avLst>
              <a:gd name="adj" fmla="val 10909"/>
            </a:avLst>
          </a:prstGeom>
          <a:solidFill>
            <a:srgbClr val="E2E8F0"/>
          </a:solidFill>
          <a:ln w="63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7717536" y="40965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Mathematische Grundlagen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 · Regression via Classification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Zielfunktion: Cross-Entropy über diskrete Bins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betreibt Regression via Classification — eine kategoriale Ausgabeverteilung ersetzt die kontinuierliche.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ℓ(θ) = − </a:t>
            </a:r>
            <a:r>
              <a:rPr lang="en-US" sz="2200" b="1" dirty="0">
                <a:solidFill>
                  <a:srgbClr val="00B4D8"/>
                </a:solidFill>
                <a:latin typeface="Cambria" pitchFamily="34" charset="0"/>
              </a:rPr>
              <a:t>Σ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h=1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 </a:t>
            </a:r>
            <a:r>
              <a:rPr lang="en-US" sz="2200" b="1" dirty="0">
                <a:solidFill>
                  <a:srgbClr val="00B4D8"/>
                </a:solidFill>
                <a:latin typeface="Cambria" pitchFamily="34" charset="0"/>
              </a:rPr>
              <a:t>Σ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i=1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|V</a:t>
            </a:r>
            <a:r>
              <a:rPr lang="en-US" sz="800" b="1" baseline="15000" dirty="0">
                <a:solidFill>
                  <a:srgbClr val="00B4D8"/>
                </a:solidFill>
                <a:latin typeface="Cambria" pitchFamily="34" charset="0"/>
              </a:rPr>
              <a:t>ts</a:t>
            </a:r>
            <a:r>
              <a:rPr lang="en-US" sz="1100" b="1" baseline="30000" dirty="0">
                <a:solidFill>
                  <a:srgbClr val="00B4D8"/>
                </a:solidFill>
                <a:latin typeface="Cambria" pitchFamily="34" charset="0"/>
              </a:rPr>
              <a:t>|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 𝟙(z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C+h+1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= i) · log p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θ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(z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C+h+1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 = i | z</a:t>
            </a:r>
            <a:r>
              <a:rPr lang="en-US" sz="1100" b="1" baseline="-25000" dirty="0">
                <a:solidFill>
                  <a:srgbClr val="00B4D8"/>
                </a:solidFill>
                <a:latin typeface="Cambria" pitchFamily="34" charset="0"/>
              </a:rPr>
              <a:t>1:C+h</a:t>
            </a:r>
            <a:r>
              <a:rPr lang="en-US" sz="1800" b="1" dirty="0">
                <a:solidFill>
                  <a:srgbClr val="00B4D8"/>
                </a:solidFill>
                <a:latin typeface="Cambria" pitchFamily="34" charset="0"/>
              </a:rPr>
              <a:t>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30428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z₁:C = tokenisierter Kontext  ·  H = Prognosehorizont  ·  p_θ = vorhergesagte Softmax-Verteilung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29768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Nicht abstandsbasiert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erkennt nicht, dass Bin i näher an Bin i+1 ist als an i+2. Das Modell lernt die Nachbarschaft implizit aus den Daten.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27832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3337560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Kein Verteilungs-Constraint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Gegensatz zu parametrischen Verteilungen (Gauß, Student-t) kann die Ausgabe beliebige Formen annehmen — inkl. multimodaler Verteilungen.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35624" y="297180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6245352" y="306324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Standard-LM-Werkzeuge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349300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die Architektur und der Loss unverändert bleiben, sind sämtliche Hugging-Face-Utilities direkt anwendbar.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Inferenz: Autoregressive Stichprobenziehung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Probabilistische Prognosen durch wiederholte autoregressive Token-Samples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100584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x̃ᵢ = xᵢ / 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mean(|x₁,...,xC|)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5856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246888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315468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315468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7860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Quantisieren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6032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zᵢ = q(x̃ᵢ) ∈ {1,...,B}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 auf Bin-Index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0740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461772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530352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30352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2744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sampeln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0916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ẑ ~ p_θ(· | z₁:C+h)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 → Multinomial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56248" y="2560320"/>
            <a:ext cx="201168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6766560" y="128016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7452360" y="138988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7452360" y="1389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76288" y="19933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Rekonstruieren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0" y="242316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x̂ = d(ẑ) · 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Dequantisierung + Unskalierung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0233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Wiederholung für k = 1...20 Sample-Pfade  →  empirische prädiktive Verteilung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14400" y="4462272"/>
            <a:ext cx="7315200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1005840" y="450799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Quantil-Schätzung: Q̂_α = Quantil_α({x̂⁽ᵏ⁾_{C+h}}_{k=1}^{20})  →  WQL-Metrik über α ∈ {0.1, 0.2, ..., 0.9}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Datengenerierung &amp; Augmentation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TSMixup · KernelSynth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Datenstrategie: TSMixup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4297920" cy="411480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D4ED8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TSMixup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11480" y="132588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ourier New" pitchFamily="34" charset="0"/>
                <a:ea typeface="+mn-ea"/>
                <a:cs typeface="+mn-cs"/>
              </a:rPr>
              <a:t>x̃^{TSMixup}_{1:l} = Σ λᵢ · x̃ᵢ_{1:l}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k ~ U{1, K=3}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Länge l ~ U{128, 2048}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Gewichte [λ₁,...,λₖ] ~ Dir(α=1.5)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Reihen werden VOR dem Mixen skaliert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10 M Augmentierungen für Training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Ratio Training:Synth = 9:1</a:t>
            </a:r>
          </a:p>
        </p:txBody>
      </p:sp>
      <p:pic>
        <p:nvPicPr>
          <p:cNvPr id="14" name="Grafik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920" y="749808"/>
            <a:ext cx="42519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Datenstrategie: KernelSynth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KernelSynth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325880"/>
            <a:ext cx="786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ourier New" pitchFamily="34" charset="0"/>
                <a:ea typeface="+mn-ea"/>
                <a:cs typeface="+mn-cs"/>
              </a:rPr>
              <a:t>x_{1:l} ~ GP(0, κ̃(t, t'))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 Left"/>
          <p:cNvSpPr/>
          <p:nvPr/>
        </p:nvSpPr>
        <p:spPr>
          <a:xfrm>
            <a:off x="64008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Kernel-Bank K: Linear, RBF, Periodic, RQ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j ~ U{1, J=5} Kerne zufällig kombiniert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Operatoren: + oder × (zufällig)</a:t>
            </a:r>
          </a:p>
        </p:txBody>
      </p:sp>
      <p:sp>
        <p:nvSpPr>
          <p:cNvPr id="9" name="Text 6 Right"/>
          <p:cNvSpPr/>
          <p:nvPr/>
        </p:nvSpPr>
        <p:spPr>
          <a:xfrm>
            <a:off x="4617720" y="187452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κ̃ = κ₁ ⋆ κ₂ ⋆ ... ⋆ κⱼ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1 M synthetische Reihen erzeugt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▸ Länge l_syn = 1024 pro Reihe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5BD79-D67B-9EB7-C647-EF285A22A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54AAAE-ED5D-D00C-4965-29019FFA4B13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13B7BC-4070-AB2B-DB28-19E0CBF8959A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Datenstrategie: </a:t>
            </a:r>
            <a:r>
              <a:rPr kumimoji="0" 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KernelSynth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723EA2D-C26D-B2E5-B42F-CF1E05936E44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C7A1939-F6EB-81E1-51D4-507C5001262A}"/>
              </a:ext>
            </a:extLst>
          </p:cNvPr>
          <p:cNvSpPr/>
          <p:nvPr/>
        </p:nvSpPr>
        <p:spPr>
          <a:xfrm>
            <a:off x="182879" y="731520"/>
            <a:ext cx="8778239" cy="411480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26D388E-8B8A-42F7-90E2-B4C8E50F83E1}"/>
              </a:ext>
            </a:extLst>
          </p:cNvPr>
          <p:cNvSpPr/>
          <p:nvPr/>
        </p:nvSpPr>
        <p:spPr>
          <a:xfrm>
            <a:off x="365760" y="81866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KernelSynth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A737671-77CA-A58A-557D-B07C2E91F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8" y="1202714"/>
            <a:ext cx="8412480" cy="323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7485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Experimentelle Ergebnisse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Datensätze · In-Domain · Zero-Shot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Experimentelles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29768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Trainingsdaten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29768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Datensätze (890K Reihen, ~84B Token)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nur Pretraining-Datensätze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Benchmark-I-Datensätze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TSMixup-Augm. (10M) + KernelSynth (1M)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Real:Synth = 9:1 beim Sampling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27832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3337560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Modellvarianten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Mini (20M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Small (46M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Base (200M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Chronos-T5 Large (710M Parameter)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Chronos-GPT2 (90M, decoder-only)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35624" y="749808"/>
            <a:ext cx="2743200" cy="420624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245352" y="8686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45352" y="1325880"/>
            <a:ext cx="2514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Lokal: Naive, Saisonal-Naive, AutoETS, AutoARIMA, AutoTheta, SCUM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Deep: DeepAR, PatchTST, TFT, DLinear, WaveNet, N-BEATS, N-HiTS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Pretrained: Lag-Llama, Moirai-1.0-R, LLMTime, ForecastPFN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" y="46634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Metriken: WQL (probabilistisch, 9 Quantile α ∈ {0.1,...,0.9}) · MASE (Punktprognose, Median)  |  Aggregation: geometrisches Mittel relativer Scores (Baseline: Seasonal Naive)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I: In-Domain Ergebnisse (15 Datensätze)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Chronos-T5 (Large/Base) übertrifft alle Baselines — auch task-spezifische DL-Modelle &amp; andere Pretrained Models</a:t>
            </a:r>
            <a:endParaRPr lang="en-US" sz="11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199CE0D3-CA8B-0919-74E7-050206AE6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31843"/>
            <a:ext cx="8595360" cy="379411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II: Zero-Shot Ergebnisse (27 Datensätze)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32004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38912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WQL Rang 2–4: Besser als die meisten task-spezifischen Modelle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27832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3346704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MASE: Chronos-T5 Large auf Rang 2 (0.823) hinter PatchTST (0.810)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35624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6254496" y="443484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Fine-Tuning (Small, 1000 Schritte): Rang 1 auf Benchmark II (WQL 0.597)</a:t>
            </a:r>
            <a:endParaRPr lang="en-US" sz="1000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A696A48-73B8-E84B-E8DE-21919CCE3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690" y="749204"/>
            <a:ext cx="8049484" cy="351250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Stärken &amp; Schwächen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Vergleich: Klassisch · Deep Learning · Chronos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Stärken von Chronos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29768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 Generalisierung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 trainiert — auf beliebigen ungesehenen Zeitreihen einsetzbar, ohne erneutes Training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337560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76472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Architektur-Agnostisch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Funktioniert mit T5 (encoder-decoder) und GPT-2 (decoder-only). Kompatibel mit zukünftigen LLM-Advances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245352" y="841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84264" y="841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Flexible Ausgabeverteilung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12527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Kategoriale Verteilung erlaubt multimodale und beliebig geformte Prognoseverteilungen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29768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Skalierungseigenschaften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steigt mit Modellgröße und Trainingsschritten — klassische Scaling Laws wie bei LLMs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27832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3337560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776472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Einfache Deployment-Pipeline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37560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Modell für alle Zeitreihen-Aufgaben — kein task-spezifisches Training oder Hyperparameter-Tuning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35624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6245352" y="2898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84264" y="28986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Synthetische Datengenerierung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45352" y="3310128"/>
            <a:ext cx="2514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KernelSynth-Modell trainiert nur auf Synth-Daten übertrifft dennoch mehrere Baselines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Schwächen &amp; Limitierungen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320040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Exponentieller Trend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Scaling + Uniform Binning im Intervall [−15s, +15s] versagt bei starkem Trend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227832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37560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Sparse Zeitreihen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Selten auftretende Spikes können aus dem Darstellungsbereich fallen → Overflow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7498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135624" y="822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245352" y="1252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Präzisionsverlust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45352" y="16459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kleiner Varianz relativ zu Mittelwert: mehrere Werte fallen in denselben Bin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320040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⏱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29768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Inferenz-Geschwindigkeit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Langsamer als task-spezifische DL-Modelle, vergleichbar mit lokalen statistischen Modellen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27832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3227832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37560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 univariat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37560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Prognosen und externe Kovariaten aktuell nicht unterstützt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35624" y="2807208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  <a:effectLst>
            <a:outerShdw blurRad="63500" dist="25400" dir="27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6135624" y="2880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245352" y="33101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Zeitinformation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45352" y="37033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Saisonalität nur aus Daten, kein Kalender (Wochentag, etc.) — kann bei kurzen Kontexten scheitern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Vergleich: Klassisch vs. Deep Learning vs. Chronos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49808"/>
          <a:ext cx="8503920" cy="3950208"/>
        </p:xfrm>
        <a:graphic>
          <a:graphicData uri="http://schemas.openxmlformats.org/drawingml/2006/table">
            <a:tbl>
              <a:tblPr/>
              <a:tblGrid>
                <a:gridCol w="2125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Kriterium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Klassisch (ARIMA, ETS)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Deep Learning (DeepAR, PatchTST)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80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Chronos (T5-basiert)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3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Modell / Reihe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(lokal, schnell)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Datensatz-spezifisch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(global, aufwändig)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Einmal vortrainiert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(foundation model)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(out-of-the-box)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Probabilistik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(ETS, ARIMA)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(DeepAR, TFT)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Ja (beliebige Form)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&amp; Saisonalität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Explizit modelliert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Implizit gelernt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Gelernt, Trend schwach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Skalierbarkeit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O(n) Modelle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 Modell /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 Modell für alles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Multivariate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Begrenzt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Möglich (TFT, etc.)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Nur univariat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Inferenzgeschwindigkeit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Sehr schnell (CPU)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Schnell (GPU)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Mittel (GPU nötig)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Interpretierbarkeit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Hoch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Gering (Black Box)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Gering (LM)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Qualitative Analyse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Mustererkennung &amp; Praxisbeispiele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 in der Praxis: Mustererkennung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32004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41148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Gaußsches Rauschen  80%-Intervall trifft exakt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6888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256032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Linearer Trend  Korrekt extrapoliert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1772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470916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Exponentiell  Unterschätzt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766560" y="4315968"/>
            <a:ext cx="1920240" cy="621792"/>
          </a:xfrm>
          <a:prstGeom prst="roundRect">
            <a:avLst>
              <a:gd name="adj" fmla="val 10294"/>
            </a:avLst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6858000" y="43616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Saisonalität  Mehrfach-Perioden erkannt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58000" y="495604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12</a:t>
            </a:r>
            <a:endParaRPr lang="en-US" sz="8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D5312E82-11FD-B414-7589-71DB717B7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404" y="704088"/>
            <a:ext cx="5705431" cy="354645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FE7C49-38E7-5C01-41DC-870752C07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41A2589-706A-BD7F-2C77-48E94D662CE1}"/>
              </a:ext>
            </a:extLst>
          </p:cNvPr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90F9D44-21E5-92D6-7E36-C542E5C1F234}"/>
              </a:ext>
            </a:extLst>
          </p:cNvPr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Chronos in der Praxis: Mustererkennung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88366A-A30F-0C07-63E6-1E152BF26135}"/>
              </a:ext>
            </a:extLst>
          </p:cNvPr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BA892A2-1489-F7D8-0915-7372E025E77C}"/>
              </a:ext>
            </a:extLst>
          </p:cNvPr>
          <p:cNvSpPr/>
          <p:nvPr/>
        </p:nvSpPr>
        <p:spPr>
          <a:xfrm>
            <a:off x="6858000" y="495604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Ansari et al. (2024), Fig. 12</a:t>
            </a:r>
            <a:endParaRPr lang="en-US" sz="800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FCA9E4D-2F3B-540F-9A7C-3E3276EA1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784" y="724024"/>
            <a:ext cx="7200432" cy="394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3137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Design-Entscheidungen: Hyperparameter-Analyse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| AI for Business Prognosis | SoSe 2026 | Graduate Campus, HS Aalen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Modellgröße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verbessert sich monoton von 20M → 710M Parameter. Scaling Laws gelten auch für Zeitreihen.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27448" y="74980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864608" y="859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LLM-Initialisierung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64608" y="131673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Vortrainierte T5-Gewichte bieten KEINEN Vorteil gegenüber zufälliger Initialisierung — überraschend!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85292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296265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Synthetischer Datenanteil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KernelSynth optimal. Zu viel Synth-Daten verschlechtert In-Domain-Performance.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27448" y="2852928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5F3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4864608" y="296265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Kontextlänge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64608" y="3419856"/>
            <a:ext cx="38404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Verbesserung bis 1024 Tokens, dann Sättigung. Längere Kontexte könnten bei Hochfrequenzdaten helfen.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Num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</a:rPr>
              <a:t>08</a:t>
            </a:r>
          </a:p>
        </p:txBody>
      </p:sp>
      <p:sp>
        <p:nvSpPr>
          <p:cNvPr id="4" name="Line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itle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</a:rPr>
              <a:t>Chronos-2</a:t>
            </a:r>
          </a:p>
        </p:txBody>
      </p:sp>
      <p:sp>
        <p:nvSpPr>
          <p:cNvPr id="6" name="Sub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</a:rPr>
              <a:t>Von univariat zu universell · Group Attention · Chronos-Bolt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T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 vs. Chronos-2: Zusammenfassung der Änderungen</a:t>
            </a:r>
          </a:p>
        </p:txBody>
      </p:sp>
      <p:sp>
        <p:nvSpPr>
          <p:cNvPr id="4" name="Ft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TH"/>
          <p:cNvSpPr/>
          <p:nvPr/>
        </p:nvSpPr>
        <p:spPr>
          <a:xfrm>
            <a:off x="182880" y="730440"/>
            <a:ext cx="877824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TH1"/>
          <p:cNvSpPr/>
          <p:nvPr/>
        </p:nvSpPr>
        <p:spPr>
          <a:xfrm>
            <a:off x="182880" y="73044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</a:rPr>
              <a:t>Merkmal</a:t>
            </a:r>
          </a:p>
        </p:txBody>
      </p:sp>
      <p:sp>
        <p:nvSpPr>
          <p:cNvPr id="7" name="TH2"/>
          <p:cNvSpPr/>
          <p:nvPr/>
        </p:nvSpPr>
        <p:spPr>
          <a:xfrm>
            <a:off x="2560320" y="7304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</a:rPr>
              <a:t>Chronos (2024)</a:t>
            </a:r>
          </a:p>
        </p:txBody>
      </p:sp>
      <p:sp>
        <p:nvSpPr>
          <p:cNvPr id="8" name="TH3"/>
          <p:cNvSpPr/>
          <p:nvPr/>
        </p:nvSpPr>
        <p:spPr>
          <a:xfrm>
            <a:off x="5760720" y="7304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DE80"/>
                </a:solidFill>
                <a:latin typeface="Calibri" pitchFamily="34" charset="0"/>
              </a:rPr>
              <a:t>Chronos-2 &amp; Bolt (2025)</a:t>
            </a:r>
          </a:p>
        </p:txBody>
      </p:sp>
      <p:sp>
        <p:nvSpPr>
          <p:cNvPr id="9" name="R1bg"/>
          <p:cNvSpPr/>
          <p:nvPr/>
        </p:nvSpPr>
        <p:spPr>
          <a:xfrm>
            <a:off x="182880" y="114192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R1C1"/>
          <p:cNvSpPr/>
          <p:nvPr/>
        </p:nvSpPr>
        <p:spPr>
          <a:xfrm>
            <a:off x="182880" y="11419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Anwendungsbereich</a:t>
            </a:r>
          </a:p>
        </p:txBody>
      </p:sp>
      <p:sp>
        <p:nvSpPr>
          <p:cNvPr id="11" name="R1C2"/>
          <p:cNvSpPr/>
          <p:nvPr/>
        </p:nvSpPr>
        <p:spPr>
          <a:xfrm>
            <a:off x="2560320" y="114192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Nur univariat</a:t>
            </a:r>
          </a:p>
        </p:txBody>
      </p:sp>
      <p:sp>
        <p:nvSpPr>
          <p:cNvPr id="12" name="R1C3"/>
          <p:cNvSpPr/>
          <p:nvPr/>
        </p:nvSpPr>
        <p:spPr>
          <a:xfrm>
            <a:off x="5760720" y="114192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Multivariat &amp; univariat</a:t>
            </a:r>
          </a:p>
        </p:txBody>
      </p:sp>
      <p:sp>
        <p:nvSpPr>
          <p:cNvPr id="13" name="R2bg"/>
          <p:cNvSpPr/>
          <p:nvPr/>
        </p:nvSpPr>
        <p:spPr>
          <a:xfrm>
            <a:off x="182880" y="1690560"/>
            <a:ext cx="87782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R2C1"/>
          <p:cNvSpPr/>
          <p:nvPr/>
        </p:nvSpPr>
        <p:spPr>
          <a:xfrm>
            <a:off x="182880" y="169056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Externe Kovariaten</a:t>
            </a:r>
          </a:p>
        </p:txBody>
      </p:sp>
      <p:sp>
        <p:nvSpPr>
          <p:cNvPr id="15" name="R2C2"/>
          <p:cNvSpPr/>
          <p:nvPr/>
        </p:nvSpPr>
        <p:spPr>
          <a:xfrm>
            <a:off x="2560320" y="16905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</a:rPr>
              <a:t>Nicht unterstützt</a:t>
            </a:r>
          </a:p>
        </p:txBody>
      </p:sp>
      <p:sp>
        <p:nvSpPr>
          <p:cNvPr id="16" name="R2C3"/>
          <p:cNvSpPr/>
          <p:nvPr/>
        </p:nvSpPr>
        <p:spPr>
          <a:xfrm>
            <a:off x="5760720" y="169056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Nativ (vergangen &amp; bekannt-zukünftig)</a:t>
            </a:r>
          </a:p>
        </p:txBody>
      </p:sp>
      <p:sp>
        <p:nvSpPr>
          <p:cNvPr id="17" name="R3bg"/>
          <p:cNvSpPr/>
          <p:nvPr/>
        </p:nvSpPr>
        <p:spPr>
          <a:xfrm>
            <a:off x="182880" y="223920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R3C1"/>
          <p:cNvSpPr/>
          <p:nvPr/>
        </p:nvSpPr>
        <p:spPr>
          <a:xfrm>
            <a:off x="182880" y="223920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Attention-Mechanismus</a:t>
            </a:r>
          </a:p>
        </p:txBody>
      </p:sp>
      <p:sp>
        <p:nvSpPr>
          <p:cNvPr id="19" name="R3C2"/>
          <p:cNvSpPr/>
          <p:nvPr/>
        </p:nvSpPr>
        <p:spPr>
          <a:xfrm>
            <a:off x="2560320" y="223920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Nur Zeit-Attention (entlang der Sequenz)</a:t>
            </a:r>
          </a:p>
        </p:txBody>
      </p:sp>
      <p:sp>
        <p:nvSpPr>
          <p:cNvPr id="20" name="R3C3"/>
          <p:cNvSpPr/>
          <p:nvPr/>
        </p:nvSpPr>
        <p:spPr>
          <a:xfrm>
            <a:off x="5760720" y="223920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Zeit- &amp; Gruppen-Attention (wechselnd)</a:t>
            </a:r>
          </a:p>
        </p:txBody>
      </p:sp>
      <p:sp>
        <p:nvSpPr>
          <p:cNvPr id="21" name="R4bg"/>
          <p:cNvSpPr/>
          <p:nvPr/>
        </p:nvSpPr>
        <p:spPr>
          <a:xfrm>
            <a:off x="182880" y="2787840"/>
            <a:ext cx="87782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R4C1"/>
          <p:cNvSpPr/>
          <p:nvPr/>
        </p:nvSpPr>
        <p:spPr>
          <a:xfrm>
            <a:off x="182880" y="278784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Inferenzgeschwindigkeit</a:t>
            </a:r>
          </a:p>
        </p:txBody>
      </p:sp>
      <p:sp>
        <p:nvSpPr>
          <p:cNvPr id="23" name="R4C2"/>
          <p:cNvSpPr/>
          <p:nvPr/>
        </p:nvSpPr>
        <p:spPr>
          <a:xfrm>
            <a:off x="2560320" y="278784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Langsamer (autoregressiv, Token für Token)</a:t>
            </a:r>
          </a:p>
        </p:txBody>
      </p:sp>
      <p:sp>
        <p:nvSpPr>
          <p:cNvPr id="24" name="R4C3"/>
          <p:cNvSpPr/>
          <p:nvPr/>
        </p:nvSpPr>
        <p:spPr>
          <a:xfrm>
            <a:off x="5760720" y="278784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Bis zu 250× schneller (Bolt: direkte Mehrschritt-Prognose)</a:t>
            </a:r>
          </a:p>
        </p:txBody>
      </p:sp>
      <p:sp>
        <p:nvSpPr>
          <p:cNvPr id="25" name="R5bg"/>
          <p:cNvSpPr/>
          <p:nvPr/>
        </p:nvSpPr>
        <p:spPr>
          <a:xfrm>
            <a:off x="182880" y="3336480"/>
            <a:ext cx="8778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R5C1"/>
          <p:cNvSpPr/>
          <p:nvPr/>
        </p:nvSpPr>
        <p:spPr>
          <a:xfrm>
            <a:off x="182880" y="333648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Trainingsdaten (synthetisch)</a:t>
            </a:r>
          </a:p>
        </p:txBody>
      </p:sp>
      <p:sp>
        <p:nvSpPr>
          <p:cNvPr id="27" name="R5C2"/>
          <p:cNvSpPr/>
          <p:nvPr/>
        </p:nvSpPr>
        <p:spPr>
          <a:xfrm>
            <a:off x="2560320" y="333648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Reale Daten + GP-Synthese (TSMixup, KernelSynth)</a:t>
            </a:r>
          </a:p>
        </p:txBody>
      </p:sp>
      <p:sp>
        <p:nvSpPr>
          <p:cNvPr id="28" name="R5C3"/>
          <p:cNvSpPr/>
          <p:nvPr/>
        </p:nvSpPr>
        <p:spPr>
          <a:xfrm>
            <a:off x="5760720" y="3336480"/>
            <a:ext cx="32004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Zusätzlich: umfangreiche multivariate Strukturen (Multivariatizer)</a:t>
            </a:r>
          </a:p>
        </p:txBody>
      </p:sp>
      <p:sp>
        <p:nvSpPr>
          <p:cNvPr id="29" name="BottomLine"/>
          <p:cNvSpPr/>
          <p:nvPr/>
        </p:nvSpPr>
        <p:spPr>
          <a:xfrm>
            <a:off x="182880" y="3885120"/>
            <a:ext cx="8778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KeyBox"/>
          <p:cNvSpPr/>
          <p:nvPr/>
        </p:nvSpPr>
        <p:spPr>
          <a:xfrm>
            <a:off x="182880" y="3976560"/>
            <a:ext cx="8778240" cy="731520"/>
          </a:xfrm>
          <a:prstGeom prst="roundRect">
            <a:avLst>
              <a:gd name="adj" fmla="val 5000"/>
            </a:avLst>
          </a:prstGeom>
          <a:solidFill>
            <a:srgbClr val="0D1B2A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</a:rPr>
              <a:t>💡 Kern-Erkenntnis: </a:t>
            </a:r>
            <a:r>
              <a:rPr lang="en-US" sz="1000" dirty="0">
                <a:solidFill>
                  <a:srgbClr val="E2E8F0"/>
                </a:solidFill>
                <a:latin typeface="Calibri" pitchFamily="34" charset="0"/>
              </a:rPr>
              <a:t>Chronos-2 verschiebt den Fokus vom reinen Mustererkennen in einer einzelnen Zeitreihe hin zum kontextbewussten Lernen über verwandte Reihen hinweg. Der Group Attention Mechanismus ermöglicht echtes In-Context Learning — das Modell passt sich dynamisch an, ohne neu trainiert zu werden. Chronos-Bolt erhöht dabei die Geschwindigkeit bis um den Faktor 250.</a:t>
            </a:r>
          </a:p>
        </p:txBody>
      </p:sp>
      <p:sp>
        <p:nvSpPr>
          <p:cNvPr id="31" name="Src"/>
          <p:cNvSpPr/>
          <p:nvPr/>
        </p:nvSpPr>
        <p:spPr>
          <a:xfrm>
            <a:off x="182880" y="4753080"/>
            <a:ext cx="87782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Chronos-2: Von univariat zu universell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Card L"/>
          <p:cNvSpPr/>
          <p:nvPr/>
        </p:nvSpPr>
        <p:spPr>
          <a:xfrm>
            <a:off x="228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L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</a:rPr>
              <a:t>Chronos-1: Limitierungen</a:t>
            </a:r>
          </a:p>
        </p:txBody>
      </p:sp>
      <p:sp>
        <p:nvSpPr>
          <p:cNvPr id="7" name="LBody"/>
          <p:cNvSpPr/>
          <p:nvPr/>
        </p:nvSpPr>
        <p:spPr>
          <a:xfrm>
            <a:off x="411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Nur univariat — keine Kovariaten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multivariates Forecasting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In-Context Learning (ICL)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Quantisierung (4096 Bins) — Präzisionsverlust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</a:rPr>
              <a:t>▸ Kein Cross-Learning über verwandte Reihen</a:t>
            </a:r>
          </a:p>
        </p:txBody>
      </p:sp>
      <p:sp>
        <p:nvSpPr>
          <p:cNvPr id="8" name="Card R"/>
          <p:cNvSpPr/>
          <p:nvPr/>
        </p:nvSpPr>
        <p:spPr>
          <a:xfrm>
            <a:off x="4800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Chronos-2: Neuerungen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Group Attention Mechanismus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Informationsaustausch zwischen verwandten Reihen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Universelles Forecasting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Univariat + Multivariat + Kovariaten (Zero-Shot)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Patch-basierte Tokenisierung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Kein Quantisierungsfehler — direkte Quantilvorhersage (21 Quantile)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Synthetische multivariate Daten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Multivariatizer auf Basis von AR, ETS, KernelSynth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▸ SOTA auf 3 Benchmarks (fev-bench, GIFT-Eval, Chronos II)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120M Parameter | 300 Reihen/s auf NVIDIA A10G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012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Chronos-2: Anwendungsbeispiele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ECard"/>
          <p:cNvSpPr/>
          <p:nvPr/>
        </p:nvSpPr>
        <p:spPr>
          <a:xfrm>
            <a:off x="228600" y="730440"/>
            <a:ext cx="4114800" cy="4042440"/>
          </a:xfrm>
          <a:prstGeom prst="roundRect">
            <a:avLst>
              <a:gd name="adj" fmla="val 2222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E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mbria" pitchFamily="34" charset="0"/>
              </a:rPr>
              <a:t>⚡ Energiepreisprognose (EPF-DE)</a:t>
            </a:r>
          </a:p>
        </p:txBody>
      </p:sp>
      <p:sp>
        <p:nvSpPr>
          <p:cNvPr id="7" name="EBody"/>
          <p:cNvSpPr/>
          <p:nvPr/>
        </p:nvSpPr>
        <p:spPr>
          <a:xfrm>
            <a:off x="411480" y="1234440"/>
            <a:ext cx="3840480" cy="33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Ziel: Stündlicher Strompreis für Deutschland (D+1)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Kovariaten: Amprion Last + Solar/Wind-Prognosen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Mit ICL: deutlich präzisere Prognosen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Modell nutzt Last- und Erzeugungsdaten als Kontext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Yamasaki et al. (2026): Energie-Autarkie ZEH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 + Monte-Carlo-Simulation: prob. ESSR-Prognose für 39 Haushalte — übertrifft Seasonal-Naive-Baseline bei allen Variablen (PV, Strom, Gas)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Liao et al. (2026): Zero-Shot Lastprognose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 übertrifft 9 Baselines (1–48h Horizont) — RMSE −7–84 %; keine Anpassung an Zieldaten nötig</a:t>
            </a:r>
          </a:p>
        </p:txBody>
      </p:sp>
      <p:sp>
        <p:nvSpPr>
          <p:cNvPr id="8" name="RCard"/>
          <p:cNvSpPr/>
          <p:nvPr/>
        </p:nvSpPr>
        <p:spPr>
          <a:xfrm>
            <a:off x="4800600" y="730440"/>
            <a:ext cx="4114800" cy="404244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🛒 Retail-Nachfrageprognose (Rossmann)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3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Ziel: Wöchentliche Filialumsätze (nächstes Quartal)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</a:rPr>
              <a:t>Kovariaten: Kunden, Aktionen, Feiertage, Öffnungszeiten</a:t>
            </a:r>
          </a:p>
          <a:p>
            <a:pPr marL="0" indent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Ohne ICL: Fast konstante Prognose, hohe Unsicherheit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Mit ICL: Promotions &amp; Feiertagsmuster korrekt erfasst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Chronos-2 übertrifft TabPFN-TS und TiRex auf allen 17 Retail-Aufgaben mit Kovariaten (fev-bench)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</a:rPr>
              <a:t>▸ Wolff et al. (2025): LLM-basierte Nachfrageprognose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</a:rPr>
              <a:t>Fine-Tuning von GPT-2/Flan-T5/MPT-7B mit multivariaten Patches — MPT-7B (MLP) übertrifft MQCNN-Baseline auf P50 &amp; P90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828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Quellen: Ansari et al. (2025) | Yamasaki et al. (2026), Energies 19(2):362 | Liao et al. (2026), IJEPES 177:111792 | Wolff et al. (2025), arXiv:2501.06386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Prognosebeispiel: Energiepreis EPF-DE</a:t>
            </a:r>
          </a:p>
        </p:txBody>
      </p:sp>
      <p:sp>
        <p:nvSpPr>
          <p:cNvPr id="4" name="Subtitle"/>
          <p:cNvSpPr/>
          <p:nvPr/>
        </p:nvSpPr>
        <p:spPr>
          <a:xfrm>
            <a:off x="365760" y="670000"/>
            <a:ext cx="8412480" cy="3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1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Stündlicher Strompreis Deutschland — Wirkung von In-Context Learning (ICL) mit Kovariaten</a:t>
            </a:r>
          </a:p>
        </p:txBody>
      </p:sp>
      <p:pic>
        <p:nvPicPr>
          <p:cNvPr id="5" name="Figu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8778240" cy="3840000"/>
          </a:xfrm>
          <a:prstGeom prst="rect">
            <a:avLst/>
          </a:prstGeom>
        </p:spPr>
      </p:pic>
      <p:sp>
        <p:nvSpPr>
          <p:cNvPr id="6" name="Foote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+mn-ea"/>
                <a:cs typeface="+mn-cs"/>
              </a:rPr>
              <a:t>Prognosebeispiel: Retail-Nachfrage (Rossmann)</a:t>
            </a:r>
          </a:p>
        </p:txBody>
      </p:sp>
      <p:sp>
        <p:nvSpPr>
          <p:cNvPr id="4" name="Subtitle"/>
          <p:cNvSpPr/>
          <p:nvPr/>
        </p:nvSpPr>
        <p:spPr>
          <a:xfrm>
            <a:off x="365760" y="670000"/>
            <a:ext cx="8412480" cy="3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1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Wöchentliche Filialumsätze — Wirkung von In-Context Learning (ICL) mit Kovariaten</a:t>
            </a:r>
          </a:p>
        </p:txBody>
      </p:sp>
      <p:pic>
        <p:nvPicPr>
          <p:cNvPr id="5" name="Figu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8778240" cy="3840000"/>
          </a:xfrm>
          <a:prstGeom prst="rect">
            <a:avLst/>
          </a:prstGeom>
        </p:spPr>
      </p:pic>
      <p:sp>
        <p:nvSpPr>
          <p:cNvPr id="6" name="Footer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+mn-ea"/>
                <a:cs typeface="+mn-cs"/>
              </a:rPr>
              <a:t>Chronos | AI for Business Prognosis | SoSe 2026 | Graduate Campus, HS Aalen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</a:rPr>
              <a:t>09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</a:rPr>
              <a:t>Vergleichbare Ansätze</a:t>
            </a:r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</a:rPr>
              <a:t>LLM-basiert · Multivariate Foundation Models · Energie &amp; Retail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</a:rPr>
              <a:t>Vergleichbare Ansätze im Überblick</a:t>
            </a:r>
          </a:p>
        </p:txBody>
      </p:sp>
      <p:sp>
        <p:nvSpPr>
          <p:cNvPr id="4" name="Text 2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</a:rPr>
              <a:t>Chronos | AI for Business Prognosis | SoSe 2026 | Graduate Campus, HS Aalen</a:t>
            </a:r>
          </a:p>
        </p:txBody>
      </p:sp>
      <p:sp>
        <p:nvSpPr>
          <p:cNvPr id="5" name="Card L"/>
          <p:cNvSpPr/>
          <p:nvPr/>
        </p:nvSpPr>
        <p:spPr>
          <a:xfrm>
            <a:off x="228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LHead"/>
          <p:cNvSpPr/>
          <p:nvPr/>
        </p:nvSpPr>
        <p:spPr>
          <a:xfrm>
            <a:off x="411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</a:rPr>
              <a:t>LLM-basierte Ansätze</a:t>
            </a:r>
          </a:p>
        </p:txBody>
      </p:sp>
      <p:sp>
        <p:nvSpPr>
          <p:cNvPr id="7" name="LBody"/>
          <p:cNvSpPr/>
          <p:nvPr/>
        </p:nvSpPr>
        <p:spPr>
          <a:xfrm>
            <a:off x="411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TimesFM-2.5 (Google)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Decoder-only, patch-basiert, univariat. GIFT-Eval #2 hinter Chronos-2 (WQL/MASE)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TiRex (JKU Linz)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Enhanced ICL, Zero-Shot, kurze &amp; lange Horizonte. Stark auf fev-bench (Rang 2)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Moirai-2.0 / TabPFN-TS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Moirai: Multivariate, aber O(V²) Speicher. TabPFN-TS: tabellarische FM, unterstützt bekannte Kovariaten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</a:rPr>
              <a:t>COSMIC / Toto-1.0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COSMIC: Kovariaten via synthetische Augmentierung, nur univariate Targets. Toto: Cross-Variate Attention, keine kategorischen Kovariaten</a:t>
            </a:r>
          </a:p>
        </p:txBody>
      </p:sp>
      <p:sp>
        <p:nvSpPr>
          <p:cNvPr id="8" name="Card R"/>
          <p:cNvSpPr/>
          <p:nvPr/>
        </p:nvSpPr>
        <p:spPr>
          <a:xfrm>
            <a:off x="4800600" y="730440"/>
            <a:ext cx="4114800" cy="4133880"/>
          </a:xfrm>
          <a:prstGeom prst="roundRect">
            <a:avLst>
              <a:gd name="adj" fmla="val 2222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RHead"/>
          <p:cNvSpPr/>
          <p:nvPr/>
        </p:nvSpPr>
        <p:spPr>
          <a:xfrm>
            <a:off x="4983480" y="7952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Cambria" pitchFamily="34" charset="0"/>
              </a:rPr>
              <a:t>Alleinstellungsmerkmale Chronos-2</a:t>
            </a:r>
          </a:p>
        </p:txBody>
      </p:sp>
      <p:sp>
        <p:nvSpPr>
          <p:cNvPr id="10" name="RBody"/>
          <p:cNvSpPr/>
          <p:nvPr/>
        </p:nvSpPr>
        <p:spPr>
          <a:xfrm>
            <a:off x="4983480" y="1234440"/>
            <a:ext cx="3840480" cy="340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Einziges Modell: Univ. + Multiv. + Kov.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Inklusive past-only &amp; kategorische Kovariaten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Linearer Speicherbedarf O(V)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Moirai: O(V²) — skaliert nicht bei vielen Variaten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SOTA auf fev-bench (90,7 % Win Rate)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Skill Score 47,3 % vs. TiRex 42,6 % (SQL)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Cross Learning auch ohne Kovariaten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Besonders stark bei kurzen Zeitreihen (Chronos Bench. II)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</a:rPr>
              <a:t>✅ 21 Quantile statt 9 — bessere Extremwertabdeckung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</a:rPr>
              <a:t>   Verbessert Anomalieerkennung und risikobasiertes Forecasting</a:t>
            </a:r>
          </a:p>
        </p:txBody>
      </p:sp>
      <p:sp>
        <p:nvSpPr>
          <p:cNvPr id="11" name="Src"/>
          <p:cNvSpPr/>
          <p:nvPr/>
        </p:nvSpPr>
        <p:spPr>
          <a:xfrm>
            <a:off x="228600" y="4770120"/>
            <a:ext cx="86868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</a:rPr>
              <a:t>Quelle: Ansari et al. (2025), Tab. 1 &amp; Tab. 3 — Chronos-2: From Univariate to Universal Forecasting, arXiv:2510.15821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9144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 &amp; Ausblick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lernen wir aus Chronos?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274320"/>
            <a:ext cx="2926080" cy="2926080"/>
          </a:xfrm>
          <a:prstGeom prst="ellipse">
            <a:avLst/>
          </a:prstGeom>
          <a:solidFill>
            <a:srgbClr val="00B4D8">
              <a:alpha val="12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LLM-Architekturen funktionieren für Zeitreihen — ohne zeitreihen-spezifische Anpassungen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1848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Tokenisierung via Skalierung + Quantisierung: elegant, einfach, effektiv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76856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Zero-Shot Performance konkurrenzfähig mit besten task-spezifischen DL-Modellen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3522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Synthetische Daten (KernelSynth) verbessern Zero-Shot Generalisierung messbar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59359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Skalierungsgesetze aus NLP gelten — größer = besser, mehr Training = besser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27939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1B2A3B"/>
          </a:solidFill>
          <a:ln w="889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594360" y="434340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Multivariate Prognosen · Exogene Kovariaten · LoRA Fine-Tuning · Längere Kontexte · Bessere Tokenisierung (Logarithmische Skalierung)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956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Ansari et al. (2024) — https://github.com/amazon-science/chronos-forecasting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00B4D8">
              <a:alpha val="10000"/>
            </a:srgbClr>
          </a:solidFill>
          <a:ln w="6350">
            <a:solidFill>
              <a:srgbClr val="00B4D8">
                <a:alpha val="2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0B4D8">
              <a:alpha val="15000"/>
            </a:srgbClr>
          </a:solidFill>
          <a:ln w="6350">
            <a:solidFill>
              <a:srgbClr val="00B4D8">
                <a:alpha val="3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i="1" dirty="0" err="1">
                <a:solidFill>
                  <a:srgbClr val="00B4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Χρόνος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»Zeit«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Dank!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Fragen &amp; Diskussion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86000" y="3291840"/>
            <a:ext cx="45720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Kai Wiebke Steffen  ·  Bettina Gertjerenken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 for Business Prognosis  ·  SoSe 2026  ·  Graduate Campus, HS Aalen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846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Paper: Ansari et al. (2024) — Transactions on Machine Learning Research  |  github.com/amazon-science/chronos-forecasting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3677</Words>
  <Application>Microsoft Office PowerPoint</Application>
  <PresentationFormat>Bildschirmpräsentation (16:9)</PresentationFormat>
  <Paragraphs>477</Paragraphs>
  <Slides>39</Slides>
  <Notes>29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39</vt:i4>
      </vt:variant>
    </vt:vector>
  </HeadingPairs>
  <TitlesOfParts>
    <vt:vector size="45" baseType="lpstr">
      <vt:lpstr>Aptos</vt:lpstr>
      <vt:lpstr>Arial</vt:lpstr>
      <vt:lpstr>Calibri</vt:lpstr>
      <vt:lpstr>Cambria</vt:lpstr>
      <vt:lpstr>Courier New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Chronos: Learning the Language of Time Series</dc:title>
  <dc:subject>PptxGenJS Presentation</dc:subject>
  <dc:creator>noname 1, noname 2</dc:creator>
  <cp:lastModifiedBy>Bettina Gertjerenken</cp:lastModifiedBy>
  <cp:revision>43</cp:revision>
  <dcterms:created xsi:type="dcterms:W3CDTF">2026-06-27T13:48:11Z</dcterms:created>
  <dcterms:modified xsi:type="dcterms:W3CDTF">2026-06-28T12:50:01Z</dcterms:modified>
</cp:coreProperties>
</file>