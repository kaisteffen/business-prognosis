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88" r:id="rId3"/>
    <p:sldId id="256" r:id="rId4"/>
    <p:sldId id="258" r:id="rId5"/>
    <p:sldId id="259" r:id="rId6"/>
    <p:sldId id="260" r:id="rId7"/>
    <p:sldId id="261" r:id="rId8"/>
    <p:sldId id="262" r:id="rId9"/>
    <p:sldId id="264" r:id="rId10"/>
    <p:sldId id="263" r:id="rId11"/>
    <p:sldId id="265" r:id="rId12"/>
    <p:sldId id="266" r:id="rId13"/>
    <p:sldId id="267" r:id="rId14"/>
    <p:sldId id="268" r:id="rId15"/>
    <p:sldId id="271" r:id="rId16"/>
    <p:sldId id="270" r:id="rId17"/>
    <p:sldId id="274" r:id="rId18"/>
    <p:sldId id="275" r:id="rId19"/>
    <p:sldId id="277" r:id="rId20"/>
    <p:sldId id="276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9" r:id="rId30"/>
    <p:sldId id="286" r:id="rId31"/>
    <p:sldId id="287" r:id="rId3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1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1583AD-CDE3-DB6A-2BE1-FA1570513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CCDB90D-67D1-F6E8-041C-C760A510F3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F8A37CF-2C17-59D3-76DB-FD568DC21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61D5-8827-442E-970E-BA110410EF5F}" type="datetimeFigureOut">
              <a:rPr lang="de-DE" smtClean="0"/>
              <a:t>04.06.2026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17B027-A38E-3C92-44AF-E1162D17B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D4E0DB-0CDB-3C53-3932-38D9B344A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43E4-B010-4274-983C-DF09B4CEE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1071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AFBFE5-8229-B234-C294-E205AED5D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927AFC-69AA-EB76-2B97-4A6533DD8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7C91CD-06EA-BDDD-78F9-1108B9E4B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61D5-8827-442E-970E-BA110410EF5F}" type="datetimeFigureOut">
              <a:rPr lang="de-DE" smtClean="0"/>
              <a:t>04.06.2026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62857FB-3984-4E66-E91D-3C5F8867A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F4453E-A5C7-BC83-4403-1C728E9C3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43E4-B010-4274-983C-DF09B4CEE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579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DA56E9-5B5A-7529-65AD-D1ECA1AD1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1AB3DC9-F3E3-EAF3-CD43-E84E147F7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AAB300A-EEDA-7D76-BD5E-C510BCF47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61D5-8827-442E-970E-BA110410EF5F}" type="datetimeFigureOut">
              <a:rPr lang="de-DE" smtClean="0"/>
              <a:t>04.06.2026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999F746-A634-B4CB-0805-471D8BD38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5CFA9D-B043-E9EF-C951-7FC86664D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43E4-B010-4274-983C-DF09B4CEE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9800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B9C5B8-D48D-E58E-E29B-D4B103B57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A1D97A-1436-30AF-C12C-76F59469EC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39516AA-1C3E-2AF2-5620-E404C4DC41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83FB2BD-8443-9A5D-C2E1-85BE64492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61D5-8827-442E-970E-BA110410EF5F}" type="datetimeFigureOut">
              <a:rPr lang="de-DE" smtClean="0"/>
              <a:t>04.06.2026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9418460-5D93-C72F-58BD-DA8D693E3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B38B303-88B2-BA3D-F9EB-05A418285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43E4-B010-4274-983C-DF09B4CEE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6903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50BB33-37C0-F258-E464-C8D98BC3F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595D08F-C05C-1CD9-54FD-1AFE5345C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DEE6B9D-5749-3D89-4295-3A7184773F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E04D48B-7963-EEB2-84F6-2117B56DBF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724A26C-5547-5807-135D-D50F79392B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04DF78F-E5C8-4172-283D-B46BF8439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61D5-8827-442E-970E-BA110410EF5F}" type="datetimeFigureOut">
              <a:rPr lang="de-DE" smtClean="0"/>
              <a:t>04.06.2026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EF5DC79-5A98-8DB3-5010-4E34EC0B2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1F748B8-FB10-133F-D527-F690BCFE0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43E4-B010-4274-983C-DF09B4CEE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9717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128315-A65F-41E3-6274-A1AD8335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7FF4771-22EA-6BA1-7FFB-36C474445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61D5-8827-442E-970E-BA110410EF5F}" type="datetimeFigureOut">
              <a:rPr lang="de-DE" smtClean="0"/>
              <a:t>04.06.2026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C495078-8293-F8D5-0C69-3D074EFC5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1310D68-D52F-337C-0665-6F3516BE1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43E4-B010-4274-983C-DF09B4CEE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4338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7622CA6-72DD-907D-5AC2-BFB6ABDDD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61D5-8827-442E-970E-BA110410EF5F}" type="datetimeFigureOut">
              <a:rPr lang="de-DE" smtClean="0"/>
              <a:t>04.06.2026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1C0FA10-07F7-4361-80B5-19C40D709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792D890-A0EF-234A-7F84-D8D514733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43E4-B010-4274-983C-DF09B4CEE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1756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EBAE4D-A700-D8D0-EBE8-BC5FB4DD0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E4261D6-980C-37B9-2D94-0F3608113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68B58E7-D15D-5055-CACC-D90B3C9F2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589FC8F-9B53-C0C2-4E29-CBC4F4E5C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61D5-8827-442E-970E-BA110410EF5F}" type="datetimeFigureOut">
              <a:rPr lang="de-DE" smtClean="0"/>
              <a:t>04.06.2026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F4E8A90-DCF3-A7CF-6D37-D56D96621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0DF4E4E-0C33-EC2A-9178-C766D596C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43E4-B010-4274-983C-DF09B4CEE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9027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F28B67-637E-0A9E-DB13-B97893266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4A4D03C-4A56-97A5-3803-D70B393196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1195A22-5D75-6E2C-84C3-6CCBA3BB5E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1DA00AC-5DD5-B2D7-AA1C-B8574E4C2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61D5-8827-442E-970E-BA110410EF5F}" type="datetimeFigureOut">
              <a:rPr lang="de-DE" smtClean="0"/>
              <a:t>04.06.2026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4092FC3-5549-BFB4-4505-76C378A40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BF59870-5985-EC0E-C2A0-4CD533C50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43E4-B010-4274-983C-DF09B4CEE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2454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5D8C46-0DE7-90CA-F508-B38F892C8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489D3DD-E307-9267-F43E-3A21D48DA2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024306-28BA-2213-B8FE-7D1C38858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61D5-8827-442E-970E-BA110410EF5F}" type="datetimeFigureOut">
              <a:rPr lang="de-DE" smtClean="0"/>
              <a:t>04.06.2026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B0CE41-345E-DEE0-13BE-A6871FECB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61C79E-993A-CE95-B563-222E531BE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43E4-B010-4274-983C-DF09B4CEE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0611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2CD1CC9-B3A7-C641-2AF7-80883FC160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C92E1C1-6531-2A69-0AAE-3C86A08A8E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97FC532-07FE-993D-6ACF-FBC329469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61D5-8827-442E-970E-BA110410EF5F}" type="datetimeFigureOut">
              <a:rPr lang="de-DE" smtClean="0"/>
              <a:t>04.06.2026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C5FF4A5-0C72-36C8-3B3C-AC73B3B0D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CFA57D-86AF-9E7D-5F83-D9E7024EB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43E4-B010-4274-983C-DF09B4CEE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2251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2C844BB-2994-B04F-0C2A-F5A3483A3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B1A40D9-8151-F620-5B78-785E1D348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C986B5-4E0C-5A4E-23B4-13B80549AD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5561D5-8827-442E-970E-BA110410EF5F}" type="datetimeFigureOut">
              <a:rPr lang="de-DE" smtClean="0"/>
              <a:t>04.06.2026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E19D340-7817-3656-08E9-D32439E9D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DE3AB8-52F3-4CD4-C2F9-45ACEFDCCF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FC43E4-B010-4274-983C-DF09B4CEE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309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amazon/chronos-2" TargetMode="External"/><Relationship Id="rId2" Type="http://schemas.openxmlformats.org/officeDocument/2006/relationships/hyperlink" Target="https://facebook.github.io/prophet/docs/multiplicative_seasonality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ppl-ai-file-upload.s3.amazonaws.com/web/direct-files/collection_8df529c6-0c22-4536-b9f4-8b6b7c247be3/140623be-33c5-4660-916f-0325dfccf81e/4__Ansari_et-al_2024_Chronos_Learning-the-Language-of-Time-Series.pdf?AWSAccessKeyId=ASIA2F3EMEYESBYMLOZX&amp;Signature=FruaUOscM2fvJ%2B8gSlqOwxgYbiw%3D&amp;x-amz-security-token=IQoJb3JpZ2luX2VjEIz%2F%2F%2F%2F%2F%2F%2F%2F%2F%2FwEaCXVzLWVhc3QtMSJHMEUCICx8huQEDcpKbxWAPwP8pSLJ1CsyZF1L0jkwP1ZJLtngAiEA9bpfn5R0o5REAfdutbGUhW3%2BBsBz%2BG%2FBf5NBlIN3s%2FIq8wQIVRABGgw2OTk3NTMzMDk3MDUiDBLrBM7bQ48X8u1lcCrQBDS4rZ%2Bha2i%2FpRoI1n9ZtIlOyjYMhDcHyrP8IuBcyp2H9jybha2D%2Ba13cPtFavmMmbZXMLSzY%2BsrHPmL7on%2BOW101Sgc4LUOdxEKM07USog89T6xhjEewZhCJNInrczJvX7NqvfQHpHQmgwOKrPTq2HvTkDi%2BfhIwJbw89BJnAW6zNVwZKb8BIRCU0QskRazH8STj2%2FTKmQZpUW1ZwwEO7C0wvOi0NqA1fXWFawBJtLEfzSuAjZrbKiakeoZs%2BAiDnM6R4Sjm8BgPD60q1j4%2B4%2BD7yLzpLyrsK6u4IM24Fs1i24dh9C%2Fa4Et2E%2FI%2BBWMsfO10%2BfexG8u1CzMRsoyBKnNDQ1BUpjgyGRYJSxlLREtroAYGTz8dDWXDxpTWuoHBIEnlwIRT5c81AVoxjbf73liJvdeKmwOUuZtfcWyNeKJXKxRFmNibDNl0azbaOyMhDV6Gt7uzV0DF1mAm1itSiffrSpCHDqgc51EZZVb2jMwoajHteMdaOJuQ4o%2BSqArJwKG8JZHFoVBIGFT14l%2B8oSqLjWmsPaKY4H%2BApBWVtQBW1aQgi1xC5hSuCI4CpBuXBcKcceDQFaLSm7O0rzfrzT9VjMfZLrjCR6DeHI4cTiYpTqxkhzVWvf7mRXIvRraB0Dtqa%2BMSg42rJSH%2BD3ebePI5VcSiPy0%2FsRxttH9KAHyI5kMxrt2yiGsWzEbIGLI8hkRGZ%2FV%2FYG3iQdKSckkWnTgtPNce8qwjEGsZufk9hC623%2Bg68ibc4i1twKBoAR%2BdL9AnkSzJlb3sIr0bv0hWIIwjceF0QY6mAHvqGsz9Jhcu%2B3nZyD8l6MVB8v4egacEixXF1q6oGP0mACQUD8s8gaJNC6lEWZvzrIdFkY2MsUa0fOhATPwe1C7YAtxBmXeOsp%2B%2Br5RMKYKMgZ0h3vNL6wykcqOxNuFF3QSJjJfVzniAmpgrXgU9VDOHzM83gLfJB8iOrF8DzByfXvu6IJaWmtHSY7Xzdop5DujfiOps2jB0A%3D%3D&amp;Expires=1780576608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42939F-4887-0BD4-B517-917CB9D9CA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9F25507-5CA9-72CA-C05C-B7D87979B1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B53D9C5-6623-3C26-FA1E-9F7D3AC08078}"/>
              </a:ext>
            </a:extLst>
          </p:cNvPr>
          <p:cNvSpPr txBox="1"/>
          <p:nvPr/>
        </p:nvSpPr>
        <p:spPr>
          <a:xfrm>
            <a:off x="2252247" y="1122364"/>
            <a:ext cx="68932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Slides 20–25 min Method overview, math, business context</a:t>
            </a:r>
          </a:p>
          <a:p>
            <a:r>
              <a:rPr lang="en-US" dirty="0"/>
              <a:t>Live Demo 15–20 min </a:t>
            </a:r>
            <a:r>
              <a:rPr lang="en-US" dirty="0" err="1"/>
              <a:t>Jupyter</a:t>
            </a:r>
            <a:r>
              <a:rPr lang="en-US" dirty="0"/>
              <a:t> notebook walkthrough</a:t>
            </a:r>
          </a:p>
          <a:p>
            <a:r>
              <a:rPr lang="en-US" dirty="0"/>
              <a:t>Hands-on 15–20 min Peers work through exercise</a:t>
            </a:r>
          </a:p>
          <a:p>
            <a:r>
              <a:rPr lang="en-US" dirty="0"/>
              <a:t>Discussion 10 min Q&amp;A, comparison with other methods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86134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73B8FE-C8A4-9392-133D-0BC9BB8CF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420" y="242099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de-DE" sz="1300" b="1" dirty="0"/>
              <a:t>Warum Flugdaten didaktisch stark sind</a:t>
            </a:r>
            <a:br>
              <a:rPr lang="de-DE" sz="1300" b="1" dirty="0"/>
            </a:br>
            <a:r>
              <a:rPr lang="de-DE" sz="1300" b="1" dirty="0"/>
              <a:t>Klarer Business-Kontext:</a:t>
            </a:r>
            <a:r>
              <a:rPr lang="de-DE" sz="1300" dirty="0"/>
              <a:t> Nachfrage nach Flügen ist ein klassisches </a:t>
            </a:r>
            <a:r>
              <a:rPr lang="de-DE" sz="1300" dirty="0" err="1"/>
              <a:t>Forecasting</a:t>
            </a:r>
            <a:r>
              <a:rPr lang="de-DE" sz="1300" dirty="0"/>
              <a:t>-Thema (Kapazitätsplanung, Revenue Management, Personalplanung) und wird in FPP explizit als Beispiel erwähnt.otexts+1</a:t>
            </a:r>
            <a:br>
              <a:rPr lang="de-DE" sz="1300" dirty="0"/>
            </a:br>
            <a:r>
              <a:rPr lang="de-DE" sz="1300" b="1" dirty="0"/>
              <a:t>Deutliche Struktur:</a:t>
            </a:r>
            <a:r>
              <a:rPr lang="de-DE" sz="1300" dirty="0"/>
              <a:t> Viele Flug-/Passagierdaten haben klaren Trend und starke Jahres‑ und ggf. Wochen‑Saisonalität; genau das wollen Prophet (Trend + </a:t>
            </a:r>
            <a:r>
              <a:rPr lang="de-DE" sz="1300" dirty="0" err="1"/>
              <a:t>Seasonality</a:t>
            </a:r>
            <a:r>
              <a:rPr lang="de-DE" sz="1300" dirty="0"/>
              <a:t> + Holidays) und </a:t>
            </a:r>
            <a:r>
              <a:rPr lang="de-DE" sz="1300" dirty="0" err="1"/>
              <a:t>Foundation</a:t>
            </a:r>
            <a:r>
              <a:rPr lang="de-DE" sz="1300" dirty="0"/>
              <a:t>‑Modelle wie Chronos ausnutzen.otexts+2</a:t>
            </a:r>
            <a:br>
              <a:rPr lang="de-DE" sz="1300" dirty="0"/>
            </a:br>
            <a:r>
              <a:rPr lang="de-DE" sz="1300" b="1" dirty="0"/>
              <a:t>Bekannte Lehr-Datensätze:</a:t>
            </a:r>
            <a:br>
              <a:rPr lang="de-DE" sz="1300" dirty="0"/>
            </a:br>
            <a:r>
              <a:rPr lang="de-DE" sz="1300" dirty="0"/>
              <a:t>Das </a:t>
            </a:r>
            <a:r>
              <a:rPr lang="de-DE" sz="1300" dirty="0" err="1"/>
              <a:t>AirPassengers</a:t>
            </a:r>
            <a:r>
              <a:rPr lang="de-DE" sz="1300" dirty="0"/>
              <a:t>‑Dataset (monatliche Passagierzahlen 1949–1960) ist ein Standardbeispiel in der Literatur und wird u. a. in FPP für neuronale Netze verwendet.papers.ssrn+1</a:t>
            </a:r>
            <a:br>
              <a:rPr lang="de-DE" sz="1300" dirty="0"/>
            </a:br>
            <a:r>
              <a:rPr lang="de-DE" sz="1300" dirty="0"/>
              <a:t>Facebook/Prophet nutzt genau diese Daten in der Doku als Beispiel für </a:t>
            </a:r>
            <a:r>
              <a:rPr lang="de-DE" sz="1300" b="1" dirty="0"/>
              <a:t>multiplikative </a:t>
            </a:r>
            <a:r>
              <a:rPr lang="de-DE" sz="1300" b="1" dirty="0" err="1"/>
              <a:t>Saisonalität</a:t>
            </a:r>
            <a:r>
              <a:rPr lang="de-DE" sz="1300" dirty="0" err="1"/>
              <a:t>.</a:t>
            </a:r>
            <a:r>
              <a:rPr lang="de-DE" sz="1300" dirty="0" err="1">
                <a:hlinkClick r:id="rId2"/>
              </a:rPr>
              <a:t>facebook.github</a:t>
            </a:r>
            <a:br>
              <a:rPr lang="de-DE" sz="1300" dirty="0"/>
            </a:br>
            <a:r>
              <a:rPr lang="de-DE" sz="1300" dirty="0"/>
              <a:t>Chronos‑2‑Beispiele nutzen ebenfalls </a:t>
            </a:r>
            <a:r>
              <a:rPr lang="de-DE" sz="1300" dirty="0" err="1"/>
              <a:t>AirPassengers</a:t>
            </a:r>
            <a:r>
              <a:rPr lang="de-DE" sz="1300" dirty="0"/>
              <a:t> als einfaches Demo‑</a:t>
            </a:r>
            <a:r>
              <a:rPr lang="de-DE" sz="1300" dirty="0" err="1"/>
              <a:t>Dataset.</a:t>
            </a:r>
            <a:r>
              <a:rPr lang="de-DE" sz="1300" dirty="0" err="1">
                <a:hlinkClick r:id="rId3"/>
              </a:rPr>
              <a:t>huggingface</a:t>
            </a:r>
            <a:br>
              <a:rPr lang="de-DE" sz="1300" dirty="0"/>
            </a:br>
            <a:r>
              <a:rPr lang="de-DE" sz="1300" dirty="0"/>
              <a:t>Damit habt ihr ein Szenario, das:</a:t>
            </a:r>
            <a:br>
              <a:rPr lang="de-DE" sz="1300" dirty="0"/>
            </a:br>
            <a:r>
              <a:rPr lang="de-DE" sz="1300" dirty="0"/>
              <a:t>für Prophet didaktisch ideal ist (Trend, Saison, </a:t>
            </a:r>
            <a:r>
              <a:rPr lang="de-DE" sz="1300" dirty="0" err="1"/>
              <a:t>multiplicative</a:t>
            </a:r>
            <a:r>
              <a:rPr lang="de-DE" sz="1300" dirty="0"/>
              <a:t> </a:t>
            </a:r>
            <a:r>
              <a:rPr lang="de-DE" sz="1300" dirty="0" err="1"/>
              <a:t>Seasonality</a:t>
            </a:r>
            <a:r>
              <a:rPr lang="de-DE" sz="1300" dirty="0"/>
              <a:t>),</a:t>
            </a:r>
            <a:br>
              <a:rPr lang="de-DE" sz="1300" dirty="0"/>
            </a:br>
            <a:r>
              <a:rPr lang="de-DE" sz="1300" dirty="0"/>
              <a:t>für Chronos perfekt als Zero‑Shot‑Beispiel taugt,</a:t>
            </a:r>
            <a:br>
              <a:rPr lang="de-DE" sz="1300" dirty="0"/>
            </a:br>
            <a:r>
              <a:rPr lang="de-DE" sz="1300" dirty="0"/>
              <a:t>und in FPP schon etabliert ist, was gut zu euren Kursanforderungen passt.otexts+1</a:t>
            </a:r>
            <a:br>
              <a:rPr lang="de-DE" sz="1300" dirty="0"/>
            </a:br>
            <a:r>
              <a:rPr lang="de-DE" sz="1300" b="1" dirty="0"/>
              <a:t>Wie ihr Flugdaten einsetzen könnt</a:t>
            </a:r>
            <a:br>
              <a:rPr lang="de-DE" sz="1300" b="1" dirty="0"/>
            </a:br>
            <a:r>
              <a:rPr lang="de-DE" sz="1300" dirty="0"/>
              <a:t>Ich würde folgendes Setup empfehlen:</a:t>
            </a:r>
            <a:br>
              <a:rPr lang="de-DE" sz="1300" dirty="0"/>
            </a:br>
            <a:r>
              <a:rPr lang="de-DE" sz="1300" b="1" dirty="0"/>
              <a:t>Externer Datensatz:</a:t>
            </a:r>
            <a:br>
              <a:rPr lang="de-DE" sz="1300" dirty="0"/>
            </a:br>
            <a:r>
              <a:rPr lang="de-DE" sz="1300" dirty="0" err="1"/>
              <a:t>AirPassengers</a:t>
            </a:r>
            <a:r>
              <a:rPr lang="de-DE" sz="1300" dirty="0"/>
              <a:t> (Monatszahlen) oder ein moderner Air‑Traffic‑Datensatz (z. B. aus </a:t>
            </a:r>
            <a:r>
              <a:rPr lang="de-DE" sz="1300" dirty="0" err="1"/>
              <a:t>Kaggle</a:t>
            </a:r>
            <a:r>
              <a:rPr lang="de-DE" sz="1300" dirty="0"/>
              <a:t>).kaggle+1</a:t>
            </a:r>
            <a:br>
              <a:rPr lang="de-DE" sz="1300" dirty="0"/>
            </a:br>
            <a:r>
              <a:rPr lang="de-DE" sz="1300" dirty="0"/>
              <a:t>Prophet: zeigen, wie additive vs. </a:t>
            </a:r>
            <a:r>
              <a:rPr lang="de-DE" sz="1300" dirty="0" err="1"/>
              <a:t>multiplicative</a:t>
            </a:r>
            <a:r>
              <a:rPr lang="de-DE" sz="1300" dirty="0"/>
              <a:t> </a:t>
            </a:r>
            <a:r>
              <a:rPr lang="de-DE" sz="1300" dirty="0" err="1"/>
              <a:t>Seasonality</a:t>
            </a:r>
            <a:r>
              <a:rPr lang="de-DE" sz="1300" dirty="0"/>
              <a:t> funktioniert (Prophet-Doku hat genau </a:t>
            </a:r>
            <a:r>
              <a:rPr lang="de-DE" sz="1100" dirty="0"/>
              <a:t>dazu ein </a:t>
            </a:r>
            <a:r>
              <a:rPr lang="de-DE" sz="1100" dirty="0" err="1"/>
              <a:t>AirPassengers</a:t>
            </a:r>
            <a:r>
              <a:rPr lang="de-DE" sz="1100" dirty="0"/>
              <a:t>‑Beispiel).</a:t>
            </a:r>
            <a:r>
              <a:rPr lang="de-DE" sz="1100" dirty="0" err="1">
                <a:hlinkClick r:id="rId2"/>
              </a:rPr>
              <a:t>facebook.github</a:t>
            </a:r>
            <a:br>
              <a:rPr lang="de-DE" sz="1100" dirty="0"/>
            </a:br>
            <a:r>
              <a:rPr lang="de-DE" sz="1100" dirty="0"/>
              <a:t>Chronos/Chronos‑2: Zero‑Shot‑Forecast über denselben Horizont mit </a:t>
            </a:r>
            <a:r>
              <a:rPr lang="de-DE" sz="1100" dirty="0" err="1"/>
              <a:t>quantilen</a:t>
            </a:r>
            <a:r>
              <a:rPr lang="de-DE" sz="1100" dirty="0"/>
              <a:t> </a:t>
            </a:r>
            <a:r>
              <a:rPr lang="de-DE" sz="1100" dirty="0" err="1"/>
              <a:t>Vorhersagen.</a:t>
            </a:r>
            <a:r>
              <a:rPr lang="de-DE" sz="1100" dirty="0" err="1">
                <a:hlinkClick r:id="rId3"/>
              </a:rPr>
              <a:t>huggingface</a:t>
            </a:r>
            <a:br>
              <a:rPr lang="de-DE" sz="1100" dirty="0"/>
            </a:br>
            <a:r>
              <a:rPr lang="de-DE" sz="1100" b="1" dirty="0"/>
              <a:t>Synthetische Flugdaten für Übungen:</a:t>
            </a:r>
            <a:br>
              <a:rPr lang="de-DE" sz="1100" dirty="0"/>
            </a:br>
            <a:r>
              <a:rPr lang="de-DE" sz="1100" dirty="0"/>
              <a:t>z. B. künstliche Passagierzeitreihe mit:</a:t>
            </a:r>
            <a:br>
              <a:rPr lang="de-DE" sz="1100" dirty="0"/>
            </a:br>
            <a:r>
              <a:rPr lang="de-DE" sz="1100" dirty="0"/>
              <a:t>sauberem Trend,</a:t>
            </a:r>
            <a:br>
              <a:rPr lang="de-DE" sz="1100" dirty="0"/>
            </a:br>
            <a:r>
              <a:rPr lang="de-DE" sz="1100" dirty="0"/>
              <a:t>klarer Jahres‑Saison,</a:t>
            </a:r>
            <a:br>
              <a:rPr lang="de-DE" sz="1100" dirty="0"/>
            </a:br>
            <a:r>
              <a:rPr lang="de-DE" sz="1100" dirty="0"/>
              <a:t>einem „Shock“ (z. B. plötzlicher Nachfrageeinbruch) oder Event.</a:t>
            </a:r>
            <a:br>
              <a:rPr lang="de-DE" sz="1100" dirty="0"/>
            </a:br>
            <a:r>
              <a:rPr lang="de-DE" sz="1100" dirty="0"/>
              <a:t>Vorteil: ihr kennt die „wahre“ Struktur und könnt sehr gezielt zeigen, wie Prophet und Chronos auf Trendbrüche, Events usw. reagieren.</a:t>
            </a:r>
            <a:br>
              <a:rPr lang="de-DE" sz="1100" dirty="0"/>
            </a:br>
            <a:endParaRPr lang="de-DE" sz="1100" dirty="0"/>
          </a:p>
        </p:txBody>
      </p:sp>
    </p:spTree>
    <p:extLst>
      <p:ext uri="{BB962C8B-B14F-4D97-AF65-F5344CB8AC3E}">
        <p14:creationId xmlns:p14="http://schemas.microsoft.com/office/powerpoint/2010/main" val="360449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CAD872-DD8A-7E4F-9B99-898ED21D5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06651"/>
            <a:ext cx="9144000" cy="2603312"/>
          </a:xfrm>
        </p:spPr>
        <p:txBody>
          <a:bodyPr/>
          <a:lstStyle/>
          <a:p>
            <a:r>
              <a:rPr lang="de-DE" dirty="0"/>
              <a:t>Prophet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3EF5271-6AB0-03CA-B872-40D1B48940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DE" b="1" dirty="0"/>
              <a:t>Prophet: </a:t>
            </a:r>
            <a:r>
              <a:rPr lang="de-DE" b="1" dirty="0" err="1"/>
              <a:t>Forecasting</a:t>
            </a:r>
            <a:r>
              <a:rPr lang="de-DE" b="1" dirty="0"/>
              <a:t> für Business-Zeitreihen</a:t>
            </a:r>
          </a:p>
          <a:p>
            <a:r>
              <a:rPr lang="de-DE" dirty="0"/>
              <a:t>Interpretierbare Prognosen mit Trend, Saisonalität und Eventeffekten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0" i="0" dirty="0">
                <a:solidFill>
                  <a:srgbClr val="27251E"/>
                </a:solidFill>
                <a:effectLst/>
                <a:latin typeface="pplxSerif"/>
              </a:rPr>
              <a:t>Klassische </a:t>
            </a:r>
            <a:r>
              <a:rPr lang="de-DE" b="0" i="0" dirty="0" err="1">
                <a:solidFill>
                  <a:srgbClr val="27251E"/>
                </a:solidFill>
                <a:effectLst/>
                <a:latin typeface="pplxSerif"/>
              </a:rPr>
              <a:t>Forecasting</a:t>
            </a:r>
            <a:r>
              <a:rPr lang="de-DE" b="0" i="0" dirty="0">
                <a:solidFill>
                  <a:srgbClr val="27251E"/>
                </a:solidFill>
                <a:effectLst/>
                <a:latin typeface="pplxSerif"/>
              </a:rPr>
              <a:t>-Methode für strukturierte Zeitreihen</a:t>
            </a:r>
            <a:r>
              <a:rPr lang="de-DE" dirty="0">
                <a:solidFill>
                  <a:srgbClr val="27251E"/>
                </a:solidFill>
                <a:latin typeface="var(--pplx-mono)"/>
              </a:rPr>
              <a:t>folge</a:t>
            </a:r>
            <a:endParaRPr lang="de-DE" b="0" i="0" dirty="0">
              <a:solidFill>
                <a:srgbClr val="27251E"/>
              </a:solidFill>
              <a:effectLst/>
              <a:latin typeface="pplxSerif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e-DE" b="0" i="0" dirty="0">
                <a:solidFill>
                  <a:srgbClr val="27251E"/>
                </a:solidFill>
                <a:effectLst/>
                <a:latin typeface="pplxSerif"/>
              </a:rPr>
              <a:t>Entwickelt für Business-Daten mit Kalenderlogik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0" i="0" dirty="0">
                <a:solidFill>
                  <a:srgbClr val="27251E"/>
                </a:solidFill>
                <a:effectLst/>
                <a:latin typeface="pplxSerif"/>
              </a:rPr>
              <a:t>Verfügbar in Python und R</a:t>
            </a:r>
          </a:p>
          <a:p>
            <a:endParaRPr lang="de-DE" dirty="0"/>
          </a:p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04431B7-0559-77E4-5AF1-5CDB425A7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62" y="3742841"/>
            <a:ext cx="2330540" cy="2913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044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C3E59E-A8E6-CCE3-3162-FD0509C20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Warum wurde Prophet entwickelt?</a:t>
            </a:r>
            <a:br>
              <a:rPr lang="de-DE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383FE0-E094-3BE4-AA4A-7EA53E5F6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Viele Business-Zeitreihen enthalten gleichzeitig Trend, Wochenmuster, Jahresmuster und Feiertagseffekte</a:t>
            </a:r>
          </a:p>
          <a:p>
            <a:r>
              <a:rPr lang="de-DE" dirty="0"/>
              <a:t>Klassische Modelle sind oft erklärbar, aber aufwendig zu spezifizieren</a:t>
            </a:r>
          </a:p>
          <a:p>
            <a:r>
              <a:rPr lang="de-DE" dirty="0"/>
              <a:t>Prophet verbindet Automatisierung mit Interpretierbarkeit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49305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843E9E-F772-9986-98F4-E2008022D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b="1" dirty="0"/>
              <a:t>Typische Anwendungsfelder</a:t>
            </a:r>
            <a:br>
              <a:rPr lang="de-DE" dirty="0"/>
            </a:br>
            <a:br>
              <a:rPr lang="de-DE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64F735-A43C-EA78-43B6-AFC0D7882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>
                <a:effectLst/>
              </a:rPr>
              <a:t>Absatz- und Nachfrageprognosen</a:t>
            </a:r>
          </a:p>
          <a:p>
            <a:r>
              <a:rPr lang="de-DE" dirty="0">
                <a:effectLst/>
              </a:rPr>
              <a:t>Website-Traffic und App-Nutzung</a:t>
            </a:r>
          </a:p>
          <a:p>
            <a:r>
              <a:rPr lang="de-DE" dirty="0">
                <a:effectLst/>
              </a:rPr>
              <a:t>Kampagnen- und Marketingeffekte</a:t>
            </a:r>
          </a:p>
          <a:p>
            <a:r>
              <a:rPr lang="de-DE" dirty="0">
                <a:effectLst/>
              </a:rPr>
              <a:t>Kapazitäts- und Ressourcenplanung</a:t>
            </a:r>
          </a:p>
          <a:p>
            <a:r>
              <a:rPr lang="de-DE" dirty="0">
                <a:effectLst/>
              </a:rPr>
              <a:t>Forecasts mit Feiertagen oder Sonderereignissen</a:t>
            </a:r>
          </a:p>
          <a:p>
            <a:br>
              <a:rPr lang="de-DE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37050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522CF0-B3C0-5922-DB5C-A094FAA18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Wann passt Prophet gut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4BED156-5137-C49A-D990-4AF3EC873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Starke und wiederkehrende Saisonalität</a:t>
            </a:r>
          </a:p>
          <a:p>
            <a:r>
              <a:rPr lang="de-DE" dirty="0"/>
              <a:t>Mehrere Saisons historischer Daten</a:t>
            </a:r>
          </a:p>
          <a:p>
            <a:r>
              <a:rPr lang="de-DE" dirty="0"/>
              <a:t>Trend mit möglichen Strukturbrüchen</a:t>
            </a:r>
          </a:p>
          <a:p>
            <a:r>
              <a:rPr lang="de-DE" dirty="0"/>
              <a:t>Kalendereffekte wie Feiertage, Aktionen oder Events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Prophet funktioniert besonders gut bei Zeitreihen mit starker Saisonalität und mehreren Saisons Historie.</a:t>
            </a:r>
            <a:br>
              <a:rPr lang="de-DE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41106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BA9EDF-91F6-2127-5143-4249C09D4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Grundidee des Prophet-Modells</a:t>
            </a:r>
            <a:endParaRPr lang="de-DE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D8EC191E-31AB-A227-7F1B-768AE79D0C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3310" y="1690688"/>
            <a:ext cx="10284321" cy="202077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5EFE7732-3BBE-DEB6-9BF7-9AAE0C748226}"/>
                  </a:ext>
                </a:extLst>
              </p:cNvPr>
              <p:cNvSpPr txBox="1"/>
              <p:nvPr/>
            </p:nvSpPr>
            <p:spPr>
              <a:xfrm>
                <a:off x="2740508" y="4148272"/>
                <a:ext cx="6094708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de-DE" b="0" i="1" dirty="0">
                    <a:solidFill>
                      <a:srgbClr val="27251E"/>
                    </a:solidFill>
                    <a:effectLst/>
                    <a:latin typeface="KaTeX_Math"/>
                  </a:rPr>
                  <a:t>g</a:t>
                </a:r>
                <a:r>
                  <a:rPr lang="de-DE" b="0" i="0" dirty="0">
                    <a:solidFill>
                      <a:srgbClr val="27251E"/>
                    </a:solidFill>
                    <a:effectLst/>
                    <a:latin typeface="KaTeX_Main"/>
                  </a:rPr>
                  <a:t>(</a:t>
                </a:r>
                <a:r>
                  <a:rPr lang="de-DE" b="0" i="1" dirty="0">
                    <a:solidFill>
                      <a:srgbClr val="27251E"/>
                    </a:solidFill>
                    <a:effectLst/>
                    <a:latin typeface="KaTeX_Math"/>
                  </a:rPr>
                  <a:t>t</a:t>
                </a:r>
                <a:r>
                  <a:rPr lang="de-DE" b="0" i="0" dirty="0">
                    <a:solidFill>
                      <a:srgbClr val="27251E"/>
                    </a:solidFill>
                    <a:effectLst/>
                    <a:latin typeface="KaTeX_Main"/>
                  </a:rPr>
                  <a:t>)</a:t>
                </a:r>
                <a:r>
                  <a:rPr lang="de-DE" b="0" i="0" dirty="0">
                    <a:solidFill>
                      <a:srgbClr val="27251E"/>
                    </a:solidFill>
                    <a:effectLst/>
                    <a:latin typeface="pplxSerif"/>
                  </a:rPr>
                  <a:t>: Trend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de-DE" b="0" i="0" dirty="0">
                    <a:solidFill>
                      <a:srgbClr val="27251E"/>
                    </a:solidFill>
                    <a:effectLst/>
                    <a:latin typeface="pplxSerif"/>
                  </a:rPr>
                  <a:t>: Saisonalität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de-DE" b="0" i="0" dirty="0">
                    <a:solidFill>
                      <a:srgbClr val="27251E"/>
                    </a:solidFill>
                    <a:effectLst/>
                    <a:latin typeface="pplxSerif"/>
                  </a:rPr>
                  <a:t>: Feiertage und Events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de-DE" b="0" i="0" dirty="0">
                    <a:solidFill>
                      <a:srgbClr val="27251E"/>
                    </a:solidFill>
                    <a:effectLst/>
                    <a:latin typeface="pplxSerif"/>
                  </a:rPr>
                  <a:t>: Restfehler</a:t>
                </a:r>
              </a:p>
            </p:txBody>
          </p:sp>
        </mc:Choice>
        <mc:Fallback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5EFE7732-3BBE-DEB6-9BF7-9AAE0C748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0508" y="4148272"/>
                <a:ext cx="6094708" cy="1200329"/>
              </a:xfrm>
              <a:prstGeom prst="rect">
                <a:avLst/>
              </a:prstGeom>
              <a:blipFill>
                <a:blip r:embed="rId3"/>
                <a:stretch>
                  <a:fillRect l="-701" t="-2538" b="-710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1722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F8EFE724-C258-5786-6F62-BE16D634CEB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de-DE" b="1" dirty="0"/>
                  <a:t>Trendkomponente </a:t>
                </a:r>
                <a14:m>
                  <m:oMath xmlns:m="http://schemas.openxmlformats.org/officeDocument/2006/math">
                    <m:r>
                      <a:rPr lang="de-DE" i="1"/>
                      <m:t>𝑔</m:t>
                    </m:r>
                    <m:d>
                      <m:dPr>
                        <m:ctrlPr>
                          <a:rPr lang="de-DE" i="1"/>
                        </m:ctrlPr>
                      </m:dPr>
                      <m:e>
                        <m:r>
                          <a:rPr lang="de-DE" i="1"/>
                          <m:t>𝑡</m:t>
                        </m:r>
                      </m:e>
                    </m:d>
                  </m:oMath>
                </a14:m>
                <a:br>
                  <a:rPr lang="de-DE" dirty="0"/>
                </a:br>
                <a:br>
                  <a:rPr lang="de-DE" dirty="0"/>
                </a:br>
                <a:endParaRPr lang="de-DE" dirty="0"/>
              </a:p>
            </p:txBody>
          </p:sp>
        </mc:Choice>
        <mc:Fallback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F8EFE724-C258-5786-6F62-BE16D634CE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2811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8B4FD0-0578-0B44-51CA-78C1748AD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Prophet nutzt standardmäßig einen stückweise linearen Trend</a:t>
            </a:r>
          </a:p>
          <a:p>
            <a:r>
              <a:rPr lang="de-DE" dirty="0" err="1"/>
              <a:t>Changepoints</a:t>
            </a:r>
            <a:r>
              <a:rPr lang="de-DE" dirty="0"/>
              <a:t> werden automatisch gesetzt, wenn sie nicht vorgegeben werden</a:t>
            </a:r>
          </a:p>
          <a:p>
            <a:r>
              <a:rPr lang="de-DE" dirty="0"/>
              <a:t>Optional kann logistisches Wachstum mit Obergrenze modelliert werden</a:t>
            </a:r>
          </a:p>
          <a:p>
            <a:endParaRPr lang="de-DE" dirty="0"/>
          </a:p>
          <a:p>
            <a:pPr marL="0" indent="0">
              <a:buNone/>
            </a:pPr>
            <a:r>
              <a:rPr lang="de-DE" dirty="0"/>
              <a:t>Trendwechsel werden explizit berücksichtigt und nicht nur indirekt „mitgelernt“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6464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C6FCAC9C-FFAA-4BCD-B20E-F3A6FB0EDF5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de-DE" b="1" dirty="0"/>
                  <a:t>Saisonale Komponente </a:t>
                </a:r>
                <a14:m>
                  <m:oMath xmlns:m="http://schemas.openxmlformats.org/officeDocument/2006/math">
                    <m:r>
                      <a:rPr lang="de-DE" i="1"/>
                      <m:t>𝑠</m:t>
                    </m:r>
                    <m:d>
                      <m:dPr>
                        <m:ctrlPr>
                          <a:rPr lang="de-DE" i="1"/>
                        </m:ctrlPr>
                      </m:dPr>
                      <m:e>
                        <m:r>
                          <a:rPr lang="de-DE" i="1"/>
                          <m:t>𝑡</m:t>
                        </m:r>
                      </m:e>
                    </m:d>
                  </m:oMath>
                </a14:m>
                <a:endParaRPr lang="de-DE" dirty="0"/>
              </a:p>
            </p:txBody>
          </p:sp>
        </mc:Choice>
        <mc:Fallback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C6FCAC9C-FFAA-4BCD-B20E-F3A6FB0EDF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B4FA34-0993-C16E-6F20-DAABB581F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Saisonale Muster werden durch Fourier-Terme modelliert</a:t>
            </a:r>
          </a:p>
          <a:p>
            <a:r>
              <a:rPr lang="de-DE" dirty="0"/>
              <a:t>Standardmäßig relevant: wöchentliche und jährliche Saisonalität</a:t>
            </a:r>
          </a:p>
          <a:p>
            <a:r>
              <a:rPr lang="de-DE" dirty="0"/>
              <a:t>Standardwerte: Fourier-Ordnung 10 für jährlich, 3 für wöchentlich</a:t>
            </a:r>
          </a:p>
          <a:p>
            <a:r>
              <a:rPr lang="de-DE" dirty="0"/>
              <a:t>Weitere saisonale Muster, z. B. monatlich oder quartalsweise</a:t>
            </a:r>
            <a:br>
              <a:rPr lang="de-DE" dirty="0"/>
            </a:br>
            <a:br>
              <a:rPr lang="de-DE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69562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116516D7-D8F5-10ED-8163-7BDFF3A0D0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de-DE" b="1" dirty="0"/>
                  <a:t>Holiday-Komponente </a:t>
                </a:r>
                <a14:m>
                  <m:oMath xmlns:m="http://schemas.openxmlformats.org/officeDocument/2006/math">
                    <m:r>
                      <a:rPr lang="de-DE" i="1"/>
                      <m:t>h</m:t>
                    </m:r>
                    <m:d>
                      <m:dPr>
                        <m:ctrlPr>
                          <a:rPr lang="de-DE" i="1"/>
                        </m:ctrlPr>
                      </m:dPr>
                      <m:e>
                        <m:r>
                          <a:rPr lang="de-DE" i="1"/>
                          <m:t>𝑡</m:t>
                        </m:r>
                      </m:e>
                    </m:d>
                  </m:oMath>
                </a14:m>
                <a:endParaRPr lang="de-DE" dirty="0"/>
              </a:p>
            </p:txBody>
          </p:sp>
        </mc:Choice>
        <mc:Fallback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116516D7-D8F5-10ED-8163-7BDFF3A0D0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C729D7F-A293-D285-D07F-615256A99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Feiertage werden als Dummy-Variablen in das Modell aufgenommen</a:t>
            </a:r>
          </a:p>
          <a:p>
            <a:r>
              <a:rPr lang="de-DE" dirty="0"/>
              <a:t>Benutzerdefinierte Events können explizit ergänzt werden</a:t>
            </a:r>
          </a:p>
          <a:p>
            <a:r>
              <a:rPr lang="de-DE" dirty="0"/>
              <a:t>Auch mehrtägige Effekte lassen sich modellieren</a:t>
            </a:r>
          </a:p>
          <a:p>
            <a:pPr marL="0" indent="0">
              <a:buNone/>
            </a:pPr>
            <a:br>
              <a:rPr lang="de-DE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88576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0AC5A1-2446-4F8F-194D-1D3AA3EE2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b="1" dirty="0"/>
              <a:t>Wie wirken die Effekte zusammen?</a:t>
            </a:r>
            <a:br>
              <a:rPr lang="de-DE" dirty="0"/>
            </a:br>
            <a:br>
              <a:rPr lang="de-DE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63395DF-E2A9-2CFA-6CA8-DA4178F5D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Standardmäßig verwendet Prophet additive Saisonalität</a:t>
            </a:r>
          </a:p>
          <a:p>
            <a:r>
              <a:rPr lang="de-DE" dirty="0"/>
              <a:t>Wenn Saisonmuster mit dem Trend mitwachsen, ist multiplikative Saisonalität sinnvoll</a:t>
            </a:r>
          </a:p>
          <a:p>
            <a:r>
              <a:rPr lang="de-DE" dirty="0"/>
              <a:t>Dafür kann </a:t>
            </a:r>
            <a:r>
              <a:rPr lang="de-DE" dirty="0" err="1"/>
              <a:t>seasonality_mode</a:t>
            </a:r>
            <a:r>
              <a:rPr lang="de-DE" dirty="0"/>
              <a:t>='</a:t>
            </a:r>
            <a:r>
              <a:rPr lang="de-DE" dirty="0" err="1"/>
              <a:t>multiplicative</a:t>
            </a:r>
            <a:r>
              <a:rPr lang="de-DE" dirty="0"/>
              <a:t>' gesetzt werden</a:t>
            </a:r>
          </a:p>
          <a:p>
            <a:pPr marL="0" indent="0">
              <a:buNone/>
            </a:pPr>
            <a:r>
              <a:rPr lang="de-DE" b="1" dirty="0"/>
              <a:t>Beispiel:</a:t>
            </a:r>
            <a:endParaRPr lang="de-DE" dirty="0"/>
          </a:p>
          <a:p>
            <a:r>
              <a:rPr lang="de-DE" dirty="0"/>
              <a:t>Additiv: immer +100 Einheiten im Dezember</a:t>
            </a:r>
          </a:p>
          <a:p>
            <a:r>
              <a:rPr lang="de-DE" dirty="0"/>
              <a:t>Multiplikativ: immer +10 Prozent im Dezember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7471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DCBCF6-D6C4-D41C-4707-6ADF0B5A2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DBB79C6B-14C9-171D-E254-92F5264E11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9617" y="302217"/>
            <a:ext cx="10862531" cy="5153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654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8FC87C-8691-2DBE-E8A3-37D89EBB7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b="1" dirty="0"/>
              <a:t>Stärken und Schwächen von Prophet</a:t>
            </a:r>
            <a:br>
              <a:rPr lang="de-DE" dirty="0"/>
            </a:br>
            <a:br>
              <a:rPr lang="de-DE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3D630A8-443D-A7B2-330B-A6AF94CC4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e-DE" b="1" dirty="0"/>
              <a:t>Vorteile</a:t>
            </a:r>
          </a:p>
          <a:p>
            <a:r>
              <a:rPr lang="de-DE" dirty="0"/>
              <a:t>Schnell und weitgehend automatisiert</a:t>
            </a:r>
          </a:p>
          <a:p>
            <a:r>
              <a:rPr lang="de-DE" dirty="0"/>
              <a:t>Gut interpretierbar durch Trend-, Saison- und Holiday-Komponenten</a:t>
            </a:r>
          </a:p>
          <a:p>
            <a:r>
              <a:rPr lang="de-DE" dirty="0"/>
              <a:t>Robust gegenüber fehlenden Werten und Trendverschiebungen</a:t>
            </a:r>
          </a:p>
          <a:p>
            <a:pPr marL="0" indent="0">
              <a:buNone/>
            </a:pPr>
            <a:r>
              <a:rPr lang="de-DE" b="1" dirty="0"/>
              <a:t>Grenzen</a:t>
            </a:r>
          </a:p>
          <a:p>
            <a:r>
              <a:rPr lang="de-DE" dirty="0">
                <a:effectLst/>
              </a:rPr>
              <a:t>Nicht immer </a:t>
            </a:r>
            <a:r>
              <a:rPr lang="de-DE" dirty="0" err="1">
                <a:effectLst/>
              </a:rPr>
              <a:t>Accuracy</a:t>
            </a:r>
            <a:r>
              <a:rPr lang="de-DE" dirty="0">
                <a:effectLst/>
              </a:rPr>
              <a:t>-Sieger gegenüber Alternativen</a:t>
            </a:r>
          </a:p>
          <a:p>
            <a:r>
              <a:rPr lang="de-DE" dirty="0">
                <a:effectLst/>
              </a:rPr>
              <a:t>Stückweise linearer Trend ist nicht in jedem Kontext plausibel</a:t>
            </a:r>
          </a:p>
          <a:p>
            <a:r>
              <a:rPr lang="de-DE" dirty="0">
                <a:effectLst/>
              </a:rPr>
              <a:t>Gute Performance hängt stark von Datenstruktur und Saisonalität ab</a:t>
            </a:r>
          </a:p>
          <a:p>
            <a:pPr marL="0" indent="0">
              <a:buNone/>
            </a:pPr>
            <a:br>
              <a:rPr lang="de-DE" dirty="0"/>
            </a:br>
            <a:r>
              <a:rPr lang="de-DE" dirty="0"/>
              <a:t>Prophet ist besonders wertvoll, wenn Forecasts nicht nur präzise, sondern auch für Business-Stakeholder verständlich sein sollen</a:t>
            </a:r>
            <a:br>
              <a:rPr lang="de-DE" dirty="0"/>
            </a:b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57094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D8DD14-2F8B-E55B-9F39-1116AD94A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Prophet im Methodenvergleich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E468504-8F05-B46D-A71A-0A0C7C70B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Gegenüber ARIMA oder ETS oft einfacher aufzusetzen und leichter zu erklären</a:t>
            </a:r>
          </a:p>
          <a:p>
            <a:r>
              <a:rPr lang="de-DE" dirty="0"/>
              <a:t>Gegenüber Deep-Learning-Methoden deutlich transparenter</a:t>
            </a:r>
          </a:p>
          <a:p>
            <a:r>
              <a:rPr lang="de-DE" dirty="0"/>
              <a:t>Sehr gut geeignet als klassische Referenzmethode </a:t>
            </a:r>
          </a:p>
          <a:p>
            <a:pPr marL="0" indent="0">
              <a:buNone/>
            </a:pPr>
            <a:br>
              <a:rPr lang="de-DE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0155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F6636C-0113-1C8C-C0E5-B93FFFF11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Demo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C75845-436F-BE35-64C0-630A5ACDE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18105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A5A6BC-99DC-E6D3-3C38-F11C3AAD2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Hands on Übung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E5B414A-4460-8D9F-1F90-C021D8FE5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36751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8BD87-5BAD-2806-8B8A-809E04B5D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291CB7-4A32-3CFA-A59E-B6A3DE1EEF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06651"/>
            <a:ext cx="9144000" cy="2603312"/>
          </a:xfrm>
        </p:spPr>
        <p:txBody>
          <a:bodyPr/>
          <a:lstStyle/>
          <a:p>
            <a:r>
              <a:rPr lang="de-DE" dirty="0"/>
              <a:t>Chronos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CD7CE67-7B75-8792-688B-71CD616317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DE" b="1" dirty="0"/>
              <a:t>Chronos: </a:t>
            </a:r>
            <a:r>
              <a:rPr lang="de-DE" b="1" dirty="0" err="1"/>
              <a:t>Foundation</a:t>
            </a:r>
            <a:r>
              <a:rPr lang="de-DE" b="1" dirty="0"/>
              <a:t> Models </a:t>
            </a:r>
            <a:r>
              <a:rPr lang="de-DE" b="1" dirty="0" err="1"/>
              <a:t>for</a:t>
            </a:r>
            <a:r>
              <a:rPr lang="de-DE" b="1" dirty="0"/>
              <a:t> Zero-Shot Time Series </a:t>
            </a:r>
            <a:r>
              <a:rPr lang="de-DE" b="1" dirty="0" err="1"/>
              <a:t>Forecasting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Chronos behandelt </a:t>
            </a:r>
            <a:r>
              <a:rPr lang="de-DE" dirty="0" err="1"/>
              <a:t>Forecasting</a:t>
            </a:r>
            <a:r>
              <a:rPr lang="de-DE" dirty="0"/>
              <a:t> als Sprachmodellierungsproblem für Zeitreihen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Die Methode zielt auf probabilistische (Wahrscheinlichkeitsverteilung) Forecasts ohne task-spezifisches Training auf dem Zieldatensatz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Damit positioniert sich Chronos als moderner </a:t>
            </a:r>
            <a:r>
              <a:rPr lang="de-DE" dirty="0" err="1"/>
              <a:t>Foundation</a:t>
            </a:r>
            <a:r>
              <a:rPr lang="de-DE" dirty="0"/>
              <a:t>-Ansatz für </a:t>
            </a:r>
            <a:r>
              <a:rPr lang="de-DE" dirty="0" err="1"/>
              <a:t>Forecasting</a:t>
            </a:r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F27F265-620C-CAC4-E309-35125AADD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986" y="464408"/>
            <a:ext cx="2038027" cy="209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7442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B15FFD-D879-8F89-B305-3A534AB47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Warum wurde Chronos entwickelt?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3B156D6-0C8C-0969-2C14-EA84EEA26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Klassische Modelle werden lokal pro Zeitreihe geschätzt und nutzen kaum Wissen über viele Datensätze hinweg</a:t>
            </a:r>
          </a:p>
          <a:p>
            <a:r>
              <a:rPr lang="de-DE" dirty="0"/>
              <a:t>Viele Deep-Learning-Modelle sind zwar leistungsfähig, müssen aber weiterhin pro Datensatz trainiert oder feinjustiert werden</a:t>
            </a:r>
          </a:p>
          <a:p>
            <a:r>
              <a:rPr lang="de-DE" dirty="0"/>
              <a:t>Chronos verfolgt deshalb die Idee eines allgemeinen, vortrainierten </a:t>
            </a:r>
            <a:r>
              <a:rPr lang="de-DE" dirty="0" err="1"/>
              <a:t>Forecasting</a:t>
            </a:r>
            <a:r>
              <a:rPr lang="de-DE" dirty="0"/>
              <a:t>-Modells mit Zero-Shot-Fähigkeit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Der zentrale Schmerzpunkt ist der Modellierungsaufwand: Für jede neue </a:t>
            </a:r>
            <a:r>
              <a:rPr lang="de-DE" dirty="0" err="1"/>
              <a:t>Forecasting</a:t>
            </a:r>
            <a:r>
              <a:rPr lang="de-DE" dirty="0"/>
              <a:t>-Aufgabe wieder neu trainieren ist teuer und langsam.</a:t>
            </a:r>
          </a:p>
        </p:txBody>
      </p:sp>
    </p:spTree>
    <p:extLst>
      <p:ext uri="{BB962C8B-B14F-4D97-AF65-F5344CB8AC3E}">
        <p14:creationId xmlns:p14="http://schemas.microsoft.com/office/powerpoint/2010/main" val="593719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C3CC32-6B61-08BC-0BBE-7E3DACEB7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Typische Einsatzfelder für Chronos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2B83D0-5A96-7F17-5962-B5E7697D8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Retail, Energie, Finanzen, Gesundheit und Supply-Chain-Planung werden im Paper als relevante </a:t>
            </a:r>
            <a:r>
              <a:rPr lang="de-DE" dirty="0" err="1"/>
              <a:t>Forecasting</a:t>
            </a:r>
            <a:r>
              <a:rPr lang="de-DE" dirty="0"/>
              <a:t>-Domänen genannt</a:t>
            </a:r>
          </a:p>
          <a:p>
            <a:r>
              <a:rPr lang="de-DE" dirty="0"/>
              <a:t>Chronos ist besonders attraktiv, wenn schnell ein starker erster Forecast ohne langes Training benötigt wird</a:t>
            </a:r>
          </a:p>
          <a:p>
            <a:r>
              <a:rPr lang="de-DE" dirty="0"/>
              <a:t>Der Nutzen liegt vor allem in vereinfachten </a:t>
            </a:r>
            <a:r>
              <a:rPr lang="de-DE" dirty="0" err="1"/>
              <a:t>Forecasting</a:t>
            </a:r>
            <a:r>
              <a:rPr lang="de-DE" dirty="0"/>
              <a:t>-Pipelines und schneller Einsetzbarkeit in neuen Datensätzen</a:t>
            </a:r>
            <a:br>
              <a:rPr lang="de-DE" dirty="0"/>
            </a:br>
            <a:endParaRPr lang="de-DE" dirty="0"/>
          </a:p>
          <a:p>
            <a:endParaRPr lang="de-DE" dirty="0"/>
          </a:p>
          <a:p>
            <a:r>
              <a:rPr lang="de-DE" dirty="0"/>
              <a:t>Chronos ist weniger ein feinmanuell abgestimmtes Spezialmodell, sondern eher ein sofort einsetzbarer Generalis</a:t>
            </a:r>
          </a:p>
        </p:txBody>
      </p:sp>
    </p:spTree>
    <p:extLst>
      <p:ext uri="{BB962C8B-B14F-4D97-AF65-F5344CB8AC3E}">
        <p14:creationId xmlns:p14="http://schemas.microsoft.com/office/powerpoint/2010/main" val="25410847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A7CC31-6FF1-E0F2-8E55-A1B116AB2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Von der Zeitreihe zur ‘Sprache der Zeitreihen’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74D6B1-8078-16CA-2C9E-160869BD2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Sprachmodelle arbeiten mit Tokens aus einem endlichen Vokabular, Zeitreihen dagegen mit reellen Werten</a:t>
            </a:r>
          </a:p>
          <a:p>
            <a:r>
              <a:rPr lang="de-DE" dirty="0"/>
              <a:t>Chronos löst dieses Problem durch zwei Schritte: Skalierung und Quantisierung</a:t>
            </a:r>
          </a:p>
          <a:p>
            <a:r>
              <a:rPr lang="de-DE" dirty="0"/>
              <a:t>Danach kann die Zeitreihe wie eine Token-Sequenz von einem Transformer verarbeitet werden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Die Kernidee ist überraschend einfach: Wir machen aus Zahlen eine diskrete Sprache, damit ein Sprachmodell sie lernen kann</a:t>
            </a:r>
            <a:br>
              <a:rPr lang="de-DE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370333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DA166D-3020-272E-B1B6-C198C4048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1280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de-DE" dirty="0"/>
            </a:br>
            <a:br>
              <a:rPr lang="de-DE" dirty="0"/>
            </a:br>
            <a:r>
              <a:rPr lang="de-DE" b="1" dirty="0" err="1"/>
              <a:t>Forecasting</a:t>
            </a:r>
            <a:r>
              <a:rPr lang="de-DE" b="1" dirty="0"/>
              <a:t> als Verteilungsprognose</a:t>
            </a:r>
            <a:br>
              <a:rPr lang="de-DE" b="1" dirty="0"/>
            </a:br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2828F50-2728-D4F7-F287-8E279D5EAF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9608" y="1313299"/>
                <a:ext cx="10654192" cy="4863664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de-DE" dirty="0"/>
                  <a:t>Gegeben eine Zeitreihe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/>
                        </m:ctrlPr>
                      </m:sSubPr>
                      <m:e>
                        <m:r>
                          <a:rPr lang="de-DE" i="1"/>
                          <m:t>𝑥</m:t>
                        </m:r>
                      </m:e>
                      <m:sub>
                        <m:r>
                          <a:rPr lang="de-DE"/>
                          <m:t>1</m:t>
                        </m:r>
                      </m:sub>
                    </m:sSub>
                    <m:r>
                      <a:rPr lang="de-DE"/>
                      <m:t>,…,</m:t>
                    </m:r>
                    <m:sSub>
                      <m:sSubPr>
                        <m:ctrlPr>
                          <a:rPr lang="de-DE" i="1"/>
                        </m:ctrlPr>
                      </m:sSubPr>
                      <m:e>
                        <m:r>
                          <a:rPr lang="de-DE" i="1"/>
                          <m:t>𝑥</m:t>
                        </m:r>
                      </m:e>
                      <m:sub>
                        <m:r>
                          <a:rPr lang="de-DE" i="1"/>
                          <m:t>𝐶</m:t>
                        </m:r>
                      </m:sub>
                    </m:sSub>
                  </m:oMath>
                </a14:m>
                <a:r>
                  <a:rPr lang="de-DE" dirty="0"/>
                  <a:t>, soll die Verteilung der nächsten </a:t>
                </a:r>
                <a14:m>
                  <m:oMath xmlns:m="http://schemas.openxmlformats.org/officeDocument/2006/math">
                    <m:r>
                      <a:rPr lang="de-DE" i="1"/>
                      <m:t>𝐻</m:t>
                    </m:r>
                  </m:oMath>
                </a14:m>
                <a:r>
                  <a:rPr lang="de-DE" dirty="0"/>
                  <a:t> Werte prognostiziert werden: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de-DE" i="1"/>
                      <m:t>𝑝</m:t>
                    </m:r>
                    <m:d>
                      <m:dPr>
                        <m:ctrlPr>
                          <a:rPr lang="de-DE" i="1"/>
                        </m:ctrlPr>
                      </m:dPr>
                      <m:e>
                        <m:sSub>
                          <m:sSubPr>
                            <m:ctrlPr>
                              <a:rPr lang="de-DE" i="1"/>
                            </m:ctrlPr>
                          </m:sSubPr>
                          <m:e>
                            <m:r>
                              <a:rPr lang="de-DE" i="1"/>
                              <m:t>𝑥</m:t>
                            </m:r>
                          </m:e>
                          <m:sub>
                            <m:r>
                              <a:rPr lang="de-DE" i="1"/>
                              <m:t>𝐶</m:t>
                            </m:r>
                            <m:r>
                              <a:rPr lang="de-DE"/>
                              <m:t>+1:</m:t>
                            </m:r>
                            <m:r>
                              <a:rPr lang="de-DE" i="1"/>
                              <m:t>𝐶</m:t>
                            </m:r>
                            <m:r>
                              <a:rPr lang="de-DE"/>
                              <m:t>+</m:t>
                            </m:r>
                            <m:r>
                              <a:rPr lang="de-DE" i="1"/>
                              <m:t>𝐻</m:t>
                            </m:r>
                          </m:sub>
                        </m:sSub>
                        <m:r>
                          <a:rPr lang="de-DE"/>
                          <m:t>∣</m:t>
                        </m:r>
                        <m:sSub>
                          <m:sSubPr>
                            <m:ctrlPr>
                              <a:rPr lang="de-DE" i="1"/>
                            </m:ctrlPr>
                          </m:sSubPr>
                          <m:e>
                            <m:r>
                              <a:rPr lang="de-DE" i="1"/>
                              <m:t>𝑥</m:t>
                            </m:r>
                          </m:e>
                          <m:sub>
                            <m:r>
                              <a:rPr lang="de-DE"/>
                              <m:t>1:</m:t>
                            </m:r>
                            <m:r>
                              <a:rPr lang="de-DE" i="1"/>
                              <m:t>𝐶</m:t>
                            </m:r>
                          </m:sub>
                        </m:sSub>
                      </m:e>
                    </m:d>
                  </m:oMath>
                </a14:m>
                <a:r>
                  <a:rPr lang="de-DE" dirty="0"/>
                  <a:t> (| gegeben)</a:t>
                </a:r>
              </a:p>
              <a:p>
                <a:endParaRPr lang="de-DE" dirty="0"/>
              </a:p>
              <a:p>
                <a:r>
                  <a:rPr lang="de-DE" dirty="0"/>
                  <a:t>Chronos fokussiert im Originalpaper auf univariate </a:t>
                </a:r>
                <a:r>
                  <a:rPr lang="de-DE" dirty="0" err="1"/>
                  <a:t>Forecasting</a:t>
                </a:r>
                <a:r>
                  <a:rPr lang="de-DE" dirty="0"/>
                  <a:t>-Aufgaben</a:t>
                </a:r>
              </a:p>
              <a:p>
                <a:r>
                  <a:rPr lang="de-DE" dirty="0"/>
                  <a:t>Ziel ist nicht nur ein </a:t>
                </a:r>
                <a:r>
                  <a:rPr lang="de-DE" dirty="0" err="1"/>
                  <a:t>Punktforecast</a:t>
                </a:r>
                <a:r>
                  <a:rPr lang="de-DE" dirty="0"/>
                  <a:t>, sondern eine gesamte prädiktive Verteilung</a:t>
                </a:r>
              </a:p>
              <a:p>
                <a:r>
                  <a:rPr lang="de-DE" dirty="0"/>
                  <a:t>Dadurch sind Unsicherheiten und Quantile direkt ableitbar</a:t>
                </a:r>
              </a:p>
              <a:p>
                <a:pPr marL="0" indent="0">
                  <a:buNone/>
                </a:pPr>
                <a:endParaRPr lang="de-DE" b="0" i="0" dirty="0">
                  <a:solidFill>
                    <a:srgbClr val="27251E"/>
                  </a:solidFill>
                  <a:effectLst/>
                  <a:latin typeface="pplxSerif"/>
                </a:endParaRPr>
              </a:p>
              <a:p>
                <a:pPr marL="0" indent="0">
                  <a:buNone/>
                </a:pPr>
                <a:endParaRPr lang="de-DE" b="0" i="0" dirty="0">
                  <a:solidFill>
                    <a:srgbClr val="27251E"/>
                  </a:solidFill>
                  <a:effectLst/>
                  <a:latin typeface="pplxSerif"/>
                </a:endParaRPr>
              </a:p>
              <a:p>
                <a:pPr marL="0" indent="0">
                  <a:buNone/>
                </a:pPr>
                <a:r>
                  <a:rPr lang="de-DE" b="0" i="0" dirty="0">
                    <a:solidFill>
                      <a:srgbClr val="27251E"/>
                    </a:solidFill>
                    <a:effectLst/>
                    <a:latin typeface="pplxSerif"/>
                  </a:rPr>
                  <a:t>Chronos ist probabilistisch gedacht, nicht nur als reiner Punktprognose-Mechanismus</a:t>
                </a:r>
                <a:endParaRPr lang="de-DE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2828F50-2728-D4F7-F287-8E279D5EAF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9608" y="1313299"/>
                <a:ext cx="10654192" cy="4863664"/>
              </a:xfrm>
              <a:blipFill>
                <a:blip r:embed="rId2"/>
                <a:stretch>
                  <a:fillRect l="-1030" t="-3133" r="-1144" b="-6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38917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BC8E57-F979-8D1E-0CA4-2B570BAB3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b="1" dirty="0" err="1"/>
              <a:t>Scaling</a:t>
            </a:r>
            <a:r>
              <a:rPr lang="de-DE" b="1" dirty="0"/>
              <a:t> + </a:t>
            </a:r>
            <a:r>
              <a:rPr lang="de-DE" b="1" dirty="0" err="1"/>
              <a:t>Quantization</a:t>
            </a:r>
            <a:br>
              <a:rPr lang="de-DE" dirty="0"/>
            </a:br>
            <a:br>
              <a:rPr lang="de-DE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9A9D0DD-B7A6-2ECD-0F37-3E7D7B0D2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Zuerst wird die Zeitreihe skaliert, im Paper standardmäßig per </a:t>
            </a:r>
            <a:r>
              <a:rPr lang="de-DE" b="1" dirty="0"/>
              <a:t>Mean </a:t>
            </a:r>
            <a:r>
              <a:rPr lang="de-DE" b="1" dirty="0" err="1"/>
              <a:t>Scaling</a:t>
            </a:r>
            <a:r>
              <a:rPr lang="de-DE" b="1" dirty="0"/>
              <a:t> </a:t>
            </a:r>
            <a:r>
              <a:rPr lang="de-DE" dirty="0"/>
              <a:t>über den historischen Kontext</a:t>
            </a:r>
          </a:p>
          <a:p>
            <a:r>
              <a:rPr lang="de-DE" dirty="0"/>
              <a:t>Danach werden die skalierten Werte in diskrete </a:t>
            </a:r>
            <a:r>
              <a:rPr lang="de-DE" b="1" dirty="0"/>
              <a:t>Bins</a:t>
            </a:r>
            <a:r>
              <a:rPr lang="de-DE" dirty="0"/>
              <a:t> quantisiert</a:t>
            </a:r>
          </a:p>
          <a:p>
            <a:r>
              <a:rPr lang="de-DE" dirty="0"/>
              <a:t>Das Ergebnis ist eine Token-Sequenz aus einem festen Zeitreihen-Vokabular plus Spezialtokens wie </a:t>
            </a:r>
            <a:r>
              <a:rPr lang="de-DE" b="1" dirty="0"/>
              <a:t>PAD</a:t>
            </a:r>
            <a:r>
              <a:rPr lang="de-DE" dirty="0"/>
              <a:t> (Padding) und </a:t>
            </a:r>
            <a:r>
              <a:rPr lang="de-DE" b="1" dirty="0"/>
              <a:t>EOS </a:t>
            </a:r>
            <a:r>
              <a:rPr lang="de-DE" dirty="0"/>
              <a:t>(End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Sequence</a:t>
            </a:r>
            <a:r>
              <a:rPr lang="de-DE" dirty="0"/>
              <a:t>)</a:t>
            </a:r>
          </a:p>
          <a:p>
            <a:pPr marL="0" indent="0">
              <a:buNone/>
            </a:pPr>
            <a:br>
              <a:rPr lang="de-DE" dirty="0"/>
            </a:br>
            <a:r>
              <a:rPr lang="de-DE" dirty="0"/>
              <a:t>Das ist der wichtigste mathematische Schritt in Chronos, weil hier kontinuierliche Werte in eine diskrete Modellwelt übersetzt werden</a:t>
            </a:r>
          </a:p>
        </p:txBody>
      </p:sp>
    </p:spTree>
    <p:extLst>
      <p:ext uri="{BB962C8B-B14F-4D97-AF65-F5344CB8AC3E}">
        <p14:creationId xmlns:p14="http://schemas.microsoft.com/office/powerpoint/2010/main" val="3448814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537FBF-BB62-122E-98C2-6583CB438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Transformer ohne spezielle </a:t>
            </a:r>
            <a:r>
              <a:rPr lang="de-DE" b="1" dirty="0" err="1"/>
              <a:t>Forecasting</a:t>
            </a:r>
            <a:r>
              <a:rPr lang="de-DE" b="1" dirty="0"/>
              <a:t>-Architektur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1152106-0557-3858-0579-488CE4145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/>
              <a:t>Chronos verwendet weitgehend unveränderte Sprachmodellarchitekturen, vor allem Modelle aus der T5-Familie</a:t>
            </a:r>
          </a:p>
          <a:p>
            <a:r>
              <a:rPr lang="de-DE" dirty="0"/>
              <a:t>Im Paper reichen die Modellgrößen von 20 Millionen bis 710 Millionen Parametern (</a:t>
            </a:r>
            <a:r>
              <a:rPr lang="de-DE" dirty="0">
                <a:hlinkClick r:id="rId2"/>
              </a:rPr>
              <a:t>Ansari_et-al_2024_Chronos_Learning-the-Language-of-Time-Series.pdf</a:t>
            </a:r>
            <a:r>
              <a:rPr lang="de-DE" dirty="0"/>
              <a:t>)</a:t>
            </a:r>
          </a:p>
          <a:p>
            <a:r>
              <a:rPr lang="de-DE" dirty="0"/>
              <a:t>Die Grundidee ist bewusst minimalistisch: möglichst wenig zeitreihenspezifisches Engineering, möglichst viel Nutzung bestehender LM-Infrastruktur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Chronos zeigt, dass man nicht zwingend eine völlig neue Architektur bauen muss, um starke Forecasts zu erhalten</a:t>
            </a:r>
          </a:p>
        </p:txBody>
      </p:sp>
    </p:spTree>
    <p:extLst>
      <p:ext uri="{BB962C8B-B14F-4D97-AF65-F5344CB8AC3E}">
        <p14:creationId xmlns:p14="http://schemas.microsoft.com/office/powerpoint/2010/main" val="17780295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5DB491-023B-A6F4-9C5C-B0BB1CBFF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b="1" dirty="0"/>
              <a:t>Regression via Classification</a:t>
            </a:r>
            <a:br>
              <a:rPr lang="de-DE" dirty="0"/>
            </a:br>
            <a:br>
              <a:rPr lang="de-DE" dirty="0"/>
            </a:br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618453A-382A-7983-874A-9F23EC12B8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de-DE" dirty="0"/>
                  <a:t>Nach der Quantisierung sagt das Modell den nächsten Token statt direkt den nächsten reellen Wert vorher</a:t>
                </a:r>
              </a:p>
              <a:p>
                <a:r>
                  <a:rPr lang="de-DE" dirty="0"/>
                  <a:t>Trainiert wird mit Cross-</a:t>
                </a:r>
                <a:r>
                  <a:rPr lang="de-DE" dirty="0" err="1"/>
                  <a:t>Entropy</a:t>
                </a:r>
                <a:r>
                  <a:rPr lang="de-DE" dirty="0"/>
                  <a:t>-Loss auf die </a:t>
                </a:r>
                <a:r>
                  <a:rPr lang="de-DE" dirty="0" err="1"/>
                  <a:t>Tokenverteilung</a:t>
                </a:r>
                <a:endParaRPr lang="de-DE" dirty="0"/>
              </a:p>
              <a:p>
                <a:r>
                  <a:rPr lang="de-DE" dirty="0"/>
                  <a:t>Damit modelliert Chronos </a:t>
                </a:r>
                <a:r>
                  <a:rPr lang="de-DE" dirty="0" err="1"/>
                  <a:t>Forecasting</a:t>
                </a:r>
                <a:r>
                  <a:rPr lang="de-DE" dirty="0"/>
                  <a:t> als Klassifikationsproblem auf diskreten Bins</a:t>
                </a:r>
              </a:p>
              <a:p>
                <a:r>
                  <a:rPr lang="de-DE" dirty="0"/>
                  <a:t>Die Verlustfunktion wird im Paper als kategorische Cross </a:t>
                </a:r>
                <a:r>
                  <a:rPr lang="de-DE" dirty="0" err="1"/>
                  <a:t>Entropy</a:t>
                </a:r>
                <a:r>
                  <a:rPr lang="de-DE" dirty="0"/>
                  <a:t> formuliert: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/>
                        <m:t>−</m:t>
                      </m:r>
                      <m:func>
                        <m:funcPr>
                          <m:ctrlPr>
                            <a:rPr lang="de-DE" i="1"/>
                          </m:ctrlPr>
                        </m:funcPr>
                        <m:fName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de-DE" i="1"/>
                              </m:ctrlPr>
                            </m:naryPr>
                            <m:sub/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de-DE"/>
                                <m:t>log</m:t>
                              </m:r>
                            </m:e>
                          </m:nary>
                        </m:fName>
                        <m:e>
                          <m:r>
                            <a:rPr lang="de-DE" i="1"/>
                            <m:t>𝑝</m:t>
                          </m:r>
                        </m:e>
                      </m:func>
                      <m:d>
                        <m:dPr>
                          <m:ctrlPr>
                            <a:rPr lang="de-DE" i="1"/>
                          </m:ctrlPr>
                        </m:dPr>
                        <m:e>
                          <m:sSub>
                            <m:sSubPr>
                              <m:ctrlPr>
                                <a:rPr lang="de-DE" i="1"/>
                              </m:ctrlPr>
                            </m:sSubPr>
                            <m:e>
                              <m:r>
                                <a:rPr lang="de-DE" i="1"/>
                                <m:t>𝑧</m:t>
                              </m:r>
                            </m:e>
                            <m:sub>
                              <m:r>
                                <a:rPr lang="de-DE" i="1"/>
                                <m:t>𝐶</m:t>
                              </m:r>
                              <m:r>
                                <a:rPr lang="de-DE"/>
                                <m:t>+</m:t>
                              </m:r>
                              <m:r>
                                <a:rPr lang="de-DE" i="1"/>
                                <m:t>h</m:t>
                              </m:r>
                              <m:r>
                                <a:rPr lang="de-DE"/>
                                <m:t>+1</m:t>
                              </m:r>
                            </m:sub>
                          </m:sSub>
                          <m:r>
                            <a:rPr lang="de-DE"/>
                            <m:t>∣</m:t>
                          </m:r>
                          <m:sSub>
                            <m:sSubPr>
                              <m:ctrlPr>
                                <a:rPr lang="de-DE" i="1"/>
                              </m:ctrlPr>
                            </m:sSubPr>
                            <m:e>
                              <m:r>
                                <a:rPr lang="de-DE" i="1"/>
                                <m:t>𝑧</m:t>
                              </m:r>
                            </m:e>
                            <m:sub>
                              <m:r>
                                <a:rPr lang="de-DE"/>
                                <m:t>1:</m:t>
                              </m:r>
                              <m:r>
                                <a:rPr lang="de-DE" i="1"/>
                                <m:t>𝐶</m:t>
                              </m:r>
                              <m:r>
                                <a:rPr lang="de-DE"/>
                                <m:t>+</m:t>
                              </m:r>
                              <m:r>
                                <a:rPr lang="de-DE" i="1"/>
                                <m:t>h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für die </a:t>
                </a:r>
                <a:r>
                  <a:rPr lang="de-DE" dirty="0" err="1"/>
                  <a:t>tokenisierte</a:t>
                </a:r>
                <a:r>
                  <a:rPr lang="de-DE" dirty="0"/>
                  <a:t> Sequenz</a:t>
                </a:r>
              </a:p>
              <a:p>
                <a:pPr marL="0" indent="0">
                  <a:buNone/>
                </a:pPr>
                <a:r>
                  <a:rPr lang="de-DE" dirty="0"/>
                  <a:t>Man kann sich Chronos also als Regression-via-Classification vorstellen: erst diskretisieren, dann </a:t>
                </a:r>
                <a:r>
                  <a:rPr lang="de-DE" dirty="0" err="1"/>
                  <a:t>Tokenwahrscheinlichkeiten</a:t>
                </a:r>
                <a:r>
                  <a:rPr lang="de-DE" dirty="0"/>
                  <a:t> lernen.</a:t>
                </a:r>
              </a:p>
              <a:p>
                <a:endParaRPr lang="de-DE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618453A-382A-7983-874A-9F23EC12B8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521" r="-5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90764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D03674-3DCF-64EC-A672-0177EF7C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Von Tokens zurück zu Prognosen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B8BB53-FD49-ACED-99EB-24A8D524A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/>
              <a:t>Bei der Inferenz sampelt Chronos autoregressiv zukünftige Tokens aus der gelernten Verteilung</a:t>
            </a:r>
          </a:p>
          <a:p>
            <a:r>
              <a:rPr lang="de-DE" dirty="0"/>
              <a:t>Diese Tokens werden </a:t>
            </a:r>
            <a:r>
              <a:rPr lang="de-DE" dirty="0" err="1"/>
              <a:t>dequantisiert</a:t>
            </a:r>
            <a:r>
              <a:rPr lang="de-DE" dirty="0"/>
              <a:t> und anschließend zurück auf die Originalskala transformiert</a:t>
            </a:r>
          </a:p>
          <a:p>
            <a:r>
              <a:rPr lang="de-DE" dirty="0"/>
              <a:t>Mehrere gesampelte Pfade ergeben eine prädiktive Verteilung, aus der Quantile und Unsicherheiten abgeleitet werden können</a:t>
            </a:r>
          </a:p>
          <a:p>
            <a:endParaRPr lang="de-DE" dirty="0"/>
          </a:p>
          <a:p>
            <a:pPr marL="0" indent="0">
              <a:buNone/>
            </a:pPr>
            <a:r>
              <a:rPr lang="de-DE" dirty="0"/>
              <a:t>Damit bekommt man nicht nur einen Forecast, sondern viele mögliche Zukunftspfade — und genau daraus entsteht die Unsicherheitsinformation</a:t>
            </a:r>
            <a:br>
              <a:rPr lang="de-DE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217647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AA2A1D-A0CE-185C-5490-6783D9D2C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Warum Chronos viel Aufmerksamkeit bekommen hat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48C462C-25CA-CED1-0DF2-0B3F5B088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Auf Datensätzen aus dem Trainingskorpus übertraf Chronos andere Methoden signifikant, und auf neuen Datensätzen zeigte es vergleichbare oder teils bessere Zero-Shot-Leistung als speziell darauf trainierte Verfahren</a:t>
            </a:r>
          </a:p>
          <a:p>
            <a:pPr marL="0" indent="0">
              <a:buNone/>
            </a:pPr>
            <a:r>
              <a:rPr lang="de-DE" dirty="0"/>
              <a:t>Wird deshalb als wichtiges </a:t>
            </a:r>
            <a:r>
              <a:rPr lang="de-DE" dirty="0" err="1"/>
              <a:t>Foundation</a:t>
            </a:r>
            <a:r>
              <a:rPr lang="de-DE" dirty="0"/>
              <a:t>-Model-Ansatz für Zero-Shot-</a:t>
            </a:r>
            <a:r>
              <a:rPr lang="de-DE" dirty="0" err="1"/>
              <a:t>Forecasting</a:t>
            </a:r>
            <a:r>
              <a:rPr lang="de-DE" dirty="0"/>
              <a:t> angesehen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Vortraining auf vielen Zeitreihen kann Generalisierung auf neue </a:t>
            </a:r>
            <a:r>
              <a:rPr lang="de-DE" dirty="0" err="1"/>
              <a:t>Forecasting</a:t>
            </a:r>
            <a:r>
              <a:rPr lang="de-DE" dirty="0"/>
              <a:t>-Aufgaben ermöglichen</a:t>
            </a:r>
          </a:p>
        </p:txBody>
      </p:sp>
    </p:spTree>
    <p:extLst>
      <p:ext uri="{BB962C8B-B14F-4D97-AF65-F5344CB8AC3E}">
        <p14:creationId xmlns:p14="http://schemas.microsoft.com/office/powerpoint/2010/main" val="19305527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960F6D-89BD-6CD9-F544-0488315C6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Wichtige Einschränkungen von Chronos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941E3C-66FD-8702-4A9C-3FE6E4107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Die Originalversion fokussiert auf univariate </a:t>
            </a:r>
            <a:r>
              <a:rPr lang="de-DE" dirty="0" err="1"/>
              <a:t>Forecasting</a:t>
            </a:r>
            <a:r>
              <a:rPr lang="de-DE" dirty="0"/>
              <a:t>-Aufgaben</a:t>
            </a:r>
          </a:p>
          <a:p>
            <a:r>
              <a:rPr lang="de-DE" dirty="0"/>
              <a:t>Durch feste Quantisierungsbereiche kann die Modellierung starker Trends theoretisch eingeschränkt sein</a:t>
            </a:r>
          </a:p>
          <a:p>
            <a:r>
              <a:rPr lang="de-DE" dirty="0"/>
              <a:t>Zudem ist Chronos methodisch komplexer und schwerer erklärbar als klassische Verfahren wie Prophet 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Stakeholder-Kommunikation ist Chronos oft weniger intuitiv als Prophet, auch wenn es methodisch moderner ist</a:t>
            </a:r>
          </a:p>
        </p:txBody>
      </p:sp>
    </p:spTree>
    <p:extLst>
      <p:ext uri="{BB962C8B-B14F-4D97-AF65-F5344CB8AC3E}">
        <p14:creationId xmlns:p14="http://schemas.microsoft.com/office/powerpoint/2010/main" val="33742423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603EAA-F582-95F2-B91B-CE49AD379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71738" cy="1325563"/>
          </a:xfrm>
        </p:spPr>
        <p:txBody>
          <a:bodyPr>
            <a:normAutofit fontScale="90000"/>
          </a:bodyPr>
          <a:lstStyle/>
          <a:p>
            <a:r>
              <a:rPr lang="de-DE" b="1" dirty="0"/>
              <a:t>Chronos vs. klassische und andere DL-Methoden</a:t>
            </a:r>
            <a:br>
              <a:rPr lang="de-DE" dirty="0"/>
            </a:br>
            <a:br>
              <a:rPr lang="de-DE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FC14A21-255C-CFC5-B50D-6FB72620D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Gegenüber Prophet oder ETS ist Chronos deutlich weniger regelbasiert und stärker datengetrieben vortrainiert</a:t>
            </a:r>
          </a:p>
          <a:p>
            <a:r>
              <a:rPr lang="de-DE" dirty="0"/>
              <a:t>Gegenüber vielen Deep-Learning-Ansätzen ist Chronos attraktiv, weil es Zero-Shot-Prognosen ohne erneutes Training auf dem Zieldatensatz ermöglicht</a:t>
            </a:r>
          </a:p>
        </p:txBody>
      </p:sp>
    </p:spTree>
    <p:extLst>
      <p:ext uri="{BB962C8B-B14F-4D97-AF65-F5344CB8AC3E}">
        <p14:creationId xmlns:p14="http://schemas.microsoft.com/office/powerpoint/2010/main" val="24252533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2F84C1-1B9F-53BB-36EB-5B451F8A9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Benchmarking Screenshots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6D921C-7A86-1FB8-870E-2AD98726D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Anwendungsbeispiel</a:t>
            </a:r>
          </a:p>
        </p:txBody>
      </p:sp>
    </p:spTree>
    <p:extLst>
      <p:ext uri="{BB962C8B-B14F-4D97-AF65-F5344CB8AC3E}">
        <p14:creationId xmlns:p14="http://schemas.microsoft.com/office/powerpoint/2010/main" val="9213171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4C52B-3924-1C8C-8D78-54AAD3609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0A4652-8F97-7898-5309-72B5A4B53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Demo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4378CB8-42CE-5499-A26A-344EDE0C4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78385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35729-38E7-93AD-5F26-E2FE856E7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33D039-A881-F438-18F8-887E2D810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Hands on Übung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4457CB-9C91-6EF6-066A-3BE859DC9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9720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1529</Words>
  <Application>Microsoft Office PowerPoint</Application>
  <PresentationFormat>Breitbild</PresentationFormat>
  <Paragraphs>150</Paragraphs>
  <Slides>31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31</vt:i4>
      </vt:variant>
    </vt:vector>
  </HeadingPairs>
  <TitlesOfParts>
    <vt:vector size="40" baseType="lpstr">
      <vt:lpstr>Aptos</vt:lpstr>
      <vt:lpstr>Aptos Display</vt:lpstr>
      <vt:lpstr>Arial</vt:lpstr>
      <vt:lpstr>Cambria Math</vt:lpstr>
      <vt:lpstr>KaTeX_Main</vt:lpstr>
      <vt:lpstr>KaTeX_Math</vt:lpstr>
      <vt:lpstr>pplxSerif</vt:lpstr>
      <vt:lpstr>var(--pplx-mono)</vt:lpstr>
      <vt:lpstr>Office</vt:lpstr>
      <vt:lpstr>PowerPoint-Präsentation</vt:lpstr>
      <vt:lpstr>Warum Flugdaten didaktisch stark sind Klarer Business-Kontext: Nachfrage nach Flügen ist ein klassisches Forecasting-Thema (Kapazitätsplanung, Revenue Management, Personalplanung) und wird in FPP explizit als Beispiel erwähnt.otexts+1 Deutliche Struktur: Viele Flug-/Passagierdaten haben klaren Trend und starke Jahres‑ und ggf. Wochen‑Saisonalität; genau das wollen Prophet (Trend + Seasonality + Holidays) und Foundation‑Modelle wie Chronos ausnutzen.otexts+2 Bekannte Lehr-Datensätze: Das AirPassengers‑Dataset (monatliche Passagierzahlen 1949–1960) ist ein Standardbeispiel in der Literatur und wird u. a. in FPP für neuronale Netze verwendet.papers.ssrn+1 Facebook/Prophet nutzt genau diese Daten in der Doku als Beispiel für multiplikative Saisonalität.facebook.github Chronos‑2‑Beispiele nutzen ebenfalls AirPassengers als einfaches Demo‑Dataset.huggingface Damit habt ihr ein Szenario, das: für Prophet didaktisch ideal ist (Trend, Saison, multiplicative Seasonality), für Chronos perfekt als Zero‑Shot‑Beispiel taugt, und in FPP schon etabliert ist, was gut zu euren Kursanforderungen passt.otexts+1 Wie ihr Flugdaten einsetzen könnt Ich würde folgendes Setup empfehlen: Externer Datensatz: AirPassengers (Monatszahlen) oder ein moderner Air‑Traffic‑Datensatz (z. B. aus Kaggle).kaggle+1 Prophet: zeigen, wie additive vs. multiplicative Seasonality funktioniert (Prophet-Doku hat genau dazu ein AirPassengers‑Beispiel).facebook.github Chronos/Chronos‑2: Zero‑Shot‑Forecast über denselben Horizont mit quantilen Vorhersagen.huggingface Synthetische Flugdaten für Übungen: z. B. künstliche Passagierzeitreihe mit: sauberem Trend, klarer Jahres‑Saison, einem „Shock“ (z. B. plötzlicher Nachfrageeinbruch) oder Event. Vorteil: ihr kennt die „wahre“ Struktur und könnt sehr gezielt zeigen, wie Prophet und Chronos auf Trendbrüche, Events usw. reagieren. </vt:lpstr>
      <vt:lpstr>Prophet</vt:lpstr>
      <vt:lpstr>Warum wurde Prophet entwickelt? </vt:lpstr>
      <vt:lpstr>Typische Anwendungsfelder  </vt:lpstr>
      <vt:lpstr>Wann passt Prophet gut</vt:lpstr>
      <vt:lpstr>Grundidee des Prophet-Modells</vt:lpstr>
      <vt:lpstr>Trendkomponente g(t)  </vt:lpstr>
      <vt:lpstr>Saisonale Komponente s(t)</vt:lpstr>
      <vt:lpstr>Holiday-Komponente h(t)</vt:lpstr>
      <vt:lpstr>Wie wirken die Effekte zusammen?  </vt:lpstr>
      <vt:lpstr>PowerPoint-Präsentation</vt:lpstr>
      <vt:lpstr>Stärken und Schwächen von Prophet  </vt:lpstr>
      <vt:lpstr>Prophet im Methodenvergleich</vt:lpstr>
      <vt:lpstr>Demo</vt:lpstr>
      <vt:lpstr>Hands on Übung</vt:lpstr>
      <vt:lpstr>Chronos</vt:lpstr>
      <vt:lpstr>Warum wurde Chronos entwickelt?</vt:lpstr>
      <vt:lpstr>Typische Einsatzfelder für Chronos</vt:lpstr>
      <vt:lpstr>Von der Zeitreihe zur ‘Sprache der Zeitreihen’</vt:lpstr>
      <vt:lpstr>  Forecasting als Verteilungsprognose </vt:lpstr>
      <vt:lpstr>Scaling + Quantization  </vt:lpstr>
      <vt:lpstr>Transformer ohne spezielle Forecasting-Architektur</vt:lpstr>
      <vt:lpstr>Regression via Classification  </vt:lpstr>
      <vt:lpstr>Von Tokens zurück zu Prognosen</vt:lpstr>
      <vt:lpstr>Warum Chronos viel Aufmerksamkeit bekommen hat</vt:lpstr>
      <vt:lpstr>Wichtige Einschränkungen von Chronos</vt:lpstr>
      <vt:lpstr>Chronos vs. klassische und andere DL-Methoden  </vt:lpstr>
      <vt:lpstr>Benchmarking Screenshots</vt:lpstr>
      <vt:lpstr>Demo</vt:lpstr>
      <vt:lpstr>Hands on Übung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Kai Steffen</dc:creator>
  <cp:lastModifiedBy>Kai Steffen</cp:lastModifiedBy>
  <cp:revision>5</cp:revision>
  <dcterms:created xsi:type="dcterms:W3CDTF">2026-06-04T10:10:15Z</dcterms:created>
  <dcterms:modified xsi:type="dcterms:W3CDTF">2026-06-04T14:05:38Z</dcterms:modified>
</cp:coreProperties>
</file>