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89" r:id="rId2"/>
    <p:sldId id="257" r:id="rId3"/>
    <p:sldId id="258" r:id="rId4"/>
    <p:sldId id="259" r:id="rId5"/>
    <p:sldId id="261" r:id="rId6"/>
    <p:sldId id="291" r:id="rId7"/>
    <p:sldId id="262" r:id="rId8"/>
    <p:sldId id="263" r:id="rId9"/>
    <p:sldId id="264" r:id="rId10"/>
    <p:sldId id="293" r:id="rId11"/>
    <p:sldId id="266" r:id="rId12"/>
    <p:sldId id="267" r:id="rId13"/>
    <p:sldId id="292" r:id="rId14"/>
    <p:sldId id="268" r:id="rId15"/>
    <p:sldId id="269" r:id="rId16"/>
    <p:sldId id="274" r:id="rId17"/>
    <p:sldId id="271" r:id="rId18"/>
    <p:sldId id="272" r:id="rId19"/>
    <p:sldId id="290" r:id="rId20"/>
    <p:sldId id="270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10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046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Eröffnung: Alle kennen Prognosen aus dem Alltag – Wetter, Börsenkurse, Lieferzeiten. Prophet ist Facebooks Antwort darauf, diese Aufgabe für Business-Anwender einfach zu machen. Ziel heute: verstehen wie es funktioniert und wo es eingesetzt wird. (2-3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Kurz durch die Agenda führen. Wir starten mit der Geschichte und Motivation hinter Prophet, dann dem Modell-Überblick, dann der Mathematik (Trend, Saisonalität, Feiertage), dann Business-Kontext mit konkretem Beispiel, und schließen mit einem kritischen Vergleich ab.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Einstieg mit dem 'Warum' – Facebook hatte intern das Problem, dass Tausende von Zeitreihen (Nutzer, Umsatz, Engagement) prognostiziert werden mussten, aber nicht genug ML-Experten dafür vorhanden waren. Taylor &amp; Letham (2018) formulieren das als 'Forecasting at Scale' – nicht ein Modell für eine Reihe, sondern ein System das skaliert. Kernidee: Analysten sollen Prognosen selbst erstellen und anpassen können – das Modell muss also intuitiv bedienbar sein. Wichtiger Punkt: Prophet ist kein Deep-Learning-Ansatz, sondern bewusst ein transparentes, erklärbares additives Modell. Quelle: Taylor, S.J. &amp; Letham, B. (2018). Forecasting at Scale. The American Statistician, 72(1), 37–45. (2-3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Das ist das Herzstück von Prophet: ein additives Modell. Jede Komponente hat eine klare Bedeutung – das macht Ergebnisse erklärbar. Im Gegensatz zu Black-Box-Methoden wissen wir genau, was welchen Anteil ausmacht. (3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Zwei Trend-Optionen: linear für Wachstum ohne natürliche Grenze, logistisch wenn der Markt gesättigt ist. Changepoints sind der Schlüssel: Prophet findet selbst, wo sich Wachstumsmuster ändern. Man kann sie auch manuell vorgeben. (3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Fourier-Reihen sind der mathematische Trick: jede periodische Funktion lässt sich als Summe von Sinus- und Kosinusfunktionen darstellen. Prophet lernt diese Gewichte aus den Daten. Mehr Terme = mehr Details, aber auch mehr Overfitting-Risiko. (3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Feiertage sind ein Alleinstellungsmerkmal von Prophet. Wir können eigene Ereignisse definieren und sogar ein 'Vorher-' und 'Nachher-Fenster' angeben. Beispiel: vor Weihnachten steigt der Umsatz, danach sinkt er. (2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Unsicherheitsintervalle sind für Business-Entscheidungen entscheidend. Man möchte nicht nur einen Punkt, sondern ein realistisches Spektrum. Prophet liefert das automatisch. MCMC ist genauer, braucht aber mehr Zeit. (2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Der entscheidende Vorteil von Prophet: Es ist für Business-Analysten gebaut, nicht für ML-Forscher. Das Modell erklärt sich selbst. Schneller Time-to-value verglichen mit Deep-Learning-Ansätzen. (2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Prophet ist branchen-agnostisch. Überall, wo regelmäßige Zeitreihendaten existieren und Saisonalität + Feiertage relevant sind, ist Prophet eine starke Option. (1-2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Konkretes Beispiel: Monatliche Umsatzdaten eines Retailers. Prophet erkennt automatisch den Jahres-Peak und schätzt Weihnachten als eigenen Effekt. Mit add_country_holidays('DE') werden alle deutschen Feiertage automatisch berücksichtigt. Drei Zeilen Code für eine solide Prognose! (3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Wichtig für die Praxis: Prophet ist kein Allheilmittel. Bei kurzen Zeitreihen oder sehr kurzfristigen Prognosen gibt es bessere Alternativen. Und für multivariate Daten braucht man Ergänzungen. Aber für typische Business-Zeitreihen ist Prophet oft die beste erste Wahl. (2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Zusammenfassend: Prophet ist ein pragmatisches, erklärbares Werkzeug für Business-Zeitreihen. Das Modell ist transparent, einfach zu bedienen und in vielen Szenarien gut genug. Im nächsten Abschnitt zeigen wir die Demo – dann könnt ihr es selbst ausprobieren. (1-2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Abschluss. Offene Fragen? Was hat überrascht? Was würdet ihr in eurem Projekt anders machen? Hinweis: die Demo und das Tutorial kommen im nächsten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Kurzer Überblick: ARIMA ist der Klassiker, braucht aber Stationarität und manuelle Saisonalität. ETS ist einfacher, Prophet integriert Feiertage und erklärt sich selbst. Chronos (Amazon, LLM-basiert) braucht weniger Daten, ist aber langsamer und weniger erklärbar. Kein 'bestes' Modell – es kommt auf den Use-Case an. (2-3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-274320"/>
            <a:ext cx="4297680" cy="5577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188720"/>
            <a:ext cx="4572000" cy="41148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ZEITREIHENPROGNOSE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4754880" cy="14630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7200" b="1" i="0" dirty="0">
                <a:solidFill>
                  <a:srgbClr val="FFFFFF"/>
                </a:solidFill>
                <a:latin typeface="Cambria"/>
              </a:rPr>
              <a:t>Prophet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99232"/>
            <a:ext cx="4389120" cy="9144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2000" b="0" i="0">
                <a:solidFill>
                  <a:srgbClr val="EDE9FE"/>
                </a:solidFill>
                <a:latin typeface="Calibri"/>
              </a:rPr>
              <a:t>Zeitreihenprognose für den
Business-Kontext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0"/>
            <a:ext cx="4572000" cy="4572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Meta AI Research  •  Open Source  •  Python &amp; R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AB86BA0-4919-5E27-D21A-F2B3EC186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614" y="0"/>
            <a:ext cx="4119675" cy="5143500"/>
          </a:xfrm>
          <a:prstGeom prst="rect">
            <a:avLst/>
          </a:prstGeom>
        </p:spPr>
      </p:pic>
      <p:sp>
        <p:nvSpPr>
          <p:cNvPr id="60" name="Dot 1"/>
          <p:cNvSpPr/>
          <p:nvPr/>
        </p:nvSpPr>
        <p:spPr>
          <a:xfrm>
            <a:off x="482600" y="228600"/>
            <a:ext cx="38100" cy="381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Dot 2"/>
          <p:cNvSpPr/>
          <p:nvPr/>
        </p:nvSpPr>
        <p:spPr>
          <a:xfrm>
            <a:off x="660400" y="3810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Dot 3"/>
          <p:cNvSpPr/>
          <p:nvPr/>
        </p:nvSpPr>
        <p:spPr>
          <a:xfrm>
            <a:off x="558800" y="558800"/>
            <a:ext cx="31750" cy="3175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Dot 4"/>
          <p:cNvSpPr/>
          <p:nvPr/>
        </p:nvSpPr>
        <p:spPr>
          <a:xfrm>
            <a:off x="838200" y="279400"/>
            <a:ext cx="25400" cy="25400"/>
          </a:xfrm>
          <a:prstGeom prst="ellipse">
            <a:avLst/>
          </a:prstGeom>
          <a:solidFill>
            <a:srgbClr val="D8CC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Dot 5"/>
          <p:cNvSpPr/>
          <p:nvPr/>
        </p:nvSpPr>
        <p:spPr>
          <a:xfrm>
            <a:off x="914400" y="50800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Dot 6"/>
          <p:cNvSpPr/>
          <p:nvPr/>
        </p:nvSpPr>
        <p:spPr>
          <a:xfrm>
            <a:off x="1117600" y="393700"/>
            <a:ext cx="38100" cy="381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Dot 7"/>
          <p:cNvSpPr/>
          <p:nvPr/>
        </p:nvSpPr>
        <p:spPr>
          <a:xfrm>
            <a:off x="1270000" y="6096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Dot 8"/>
          <p:cNvSpPr/>
          <p:nvPr/>
        </p:nvSpPr>
        <p:spPr>
          <a:xfrm>
            <a:off x="1905000" y="279400"/>
            <a:ext cx="31750" cy="3175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Dot 9"/>
          <p:cNvSpPr/>
          <p:nvPr/>
        </p:nvSpPr>
        <p:spPr>
          <a:xfrm>
            <a:off x="2349500" y="508000"/>
            <a:ext cx="19050" cy="19050"/>
          </a:xfrm>
          <a:prstGeom prst="ellipse">
            <a:avLst/>
          </a:prstGeom>
          <a:solidFill>
            <a:srgbClr val="D8CC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Dot 10"/>
          <p:cNvSpPr/>
          <p:nvPr/>
        </p:nvSpPr>
        <p:spPr>
          <a:xfrm>
            <a:off x="2921000" y="2032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Dot 11"/>
          <p:cNvSpPr/>
          <p:nvPr/>
        </p:nvSpPr>
        <p:spPr>
          <a:xfrm>
            <a:off x="3810000" y="381000"/>
            <a:ext cx="31750" cy="3175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Dot 12"/>
          <p:cNvSpPr/>
          <p:nvPr/>
        </p:nvSpPr>
        <p:spPr>
          <a:xfrm>
            <a:off x="3327400" y="66040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Dot 13"/>
          <p:cNvSpPr/>
          <p:nvPr/>
        </p:nvSpPr>
        <p:spPr>
          <a:xfrm>
            <a:off x="7620000" y="304800"/>
            <a:ext cx="38100" cy="381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Dot 14"/>
          <p:cNvSpPr/>
          <p:nvPr/>
        </p:nvSpPr>
        <p:spPr>
          <a:xfrm>
            <a:off x="7937500" y="203200"/>
            <a:ext cx="25400" cy="25400"/>
          </a:xfrm>
          <a:prstGeom prst="ellipse">
            <a:avLst/>
          </a:prstGeom>
          <a:solidFill>
            <a:srgbClr val="D8CC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Dot 15"/>
          <p:cNvSpPr/>
          <p:nvPr/>
        </p:nvSpPr>
        <p:spPr>
          <a:xfrm>
            <a:off x="8191500" y="43180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Dot 16"/>
          <p:cNvSpPr/>
          <p:nvPr/>
        </p:nvSpPr>
        <p:spPr>
          <a:xfrm>
            <a:off x="8483600" y="254000"/>
            <a:ext cx="25400" cy="254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Dot 17"/>
          <p:cNvSpPr/>
          <p:nvPr/>
        </p:nvSpPr>
        <p:spPr>
          <a:xfrm>
            <a:off x="8763000" y="50800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Dot 18"/>
          <p:cNvSpPr/>
          <p:nvPr/>
        </p:nvSpPr>
        <p:spPr>
          <a:xfrm>
            <a:off x="8953500" y="330200"/>
            <a:ext cx="19050" cy="1905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Dot 19"/>
          <p:cNvSpPr/>
          <p:nvPr/>
        </p:nvSpPr>
        <p:spPr>
          <a:xfrm>
            <a:off x="8382000" y="698500"/>
            <a:ext cx="25400" cy="25400"/>
          </a:xfrm>
          <a:prstGeom prst="ellipse">
            <a:avLst/>
          </a:prstGeom>
          <a:solidFill>
            <a:srgbClr val="D8CC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Dot 20"/>
          <p:cNvSpPr/>
          <p:nvPr/>
        </p:nvSpPr>
        <p:spPr>
          <a:xfrm>
            <a:off x="8699500" y="88900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Dot 21"/>
          <p:cNvSpPr/>
          <p:nvPr/>
        </p:nvSpPr>
        <p:spPr>
          <a:xfrm>
            <a:off x="8890000" y="1270000"/>
            <a:ext cx="25400" cy="254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Dot 22"/>
          <p:cNvSpPr/>
          <p:nvPr/>
        </p:nvSpPr>
        <p:spPr>
          <a:xfrm>
            <a:off x="8128000" y="114300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Dot 23"/>
          <p:cNvSpPr/>
          <p:nvPr/>
        </p:nvSpPr>
        <p:spPr>
          <a:xfrm>
            <a:off x="7874000" y="1651000"/>
            <a:ext cx="25400" cy="254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Dot 24"/>
          <p:cNvSpPr/>
          <p:nvPr/>
        </p:nvSpPr>
        <p:spPr>
          <a:xfrm>
            <a:off x="8382000" y="2057400"/>
            <a:ext cx="19050" cy="19050"/>
          </a:xfrm>
          <a:prstGeom prst="ellipse">
            <a:avLst/>
          </a:prstGeom>
          <a:solidFill>
            <a:srgbClr val="D8CC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" name="Dot 25"/>
          <p:cNvSpPr/>
          <p:nvPr/>
        </p:nvSpPr>
        <p:spPr>
          <a:xfrm>
            <a:off x="8915400" y="26670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Dot 26"/>
          <p:cNvSpPr/>
          <p:nvPr/>
        </p:nvSpPr>
        <p:spPr>
          <a:xfrm>
            <a:off x="8636000" y="3175000"/>
            <a:ext cx="31750" cy="3175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6" name="Dot 27"/>
          <p:cNvSpPr/>
          <p:nvPr/>
        </p:nvSpPr>
        <p:spPr>
          <a:xfrm>
            <a:off x="8255000" y="41910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7" name="Dot 28"/>
          <p:cNvSpPr/>
          <p:nvPr/>
        </p:nvSpPr>
        <p:spPr>
          <a:xfrm>
            <a:off x="8585200" y="4521200"/>
            <a:ext cx="31750" cy="3175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8" name="Dot 29"/>
          <p:cNvSpPr/>
          <p:nvPr/>
        </p:nvSpPr>
        <p:spPr>
          <a:xfrm>
            <a:off x="8890000" y="4089400"/>
            <a:ext cx="19050" cy="19050"/>
          </a:xfrm>
          <a:prstGeom prst="ellipse">
            <a:avLst/>
          </a:prstGeom>
          <a:solidFill>
            <a:srgbClr val="D8CC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9" name="Dot 30"/>
          <p:cNvSpPr/>
          <p:nvPr/>
        </p:nvSpPr>
        <p:spPr>
          <a:xfrm>
            <a:off x="8128000" y="38100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Dot 31"/>
          <p:cNvSpPr/>
          <p:nvPr/>
        </p:nvSpPr>
        <p:spPr>
          <a:xfrm>
            <a:off x="177800" y="1524000"/>
            <a:ext cx="31750" cy="3175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Dot 32"/>
          <p:cNvSpPr/>
          <p:nvPr/>
        </p:nvSpPr>
        <p:spPr>
          <a:xfrm>
            <a:off x="254000" y="254000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Dot 33"/>
          <p:cNvSpPr/>
          <p:nvPr/>
        </p:nvSpPr>
        <p:spPr>
          <a:xfrm>
            <a:off x="127000" y="3556000"/>
            <a:ext cx="25400" cy="254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Dot 34"/>
          <p:cNvSpPr/>
          <p:nvPr/>
        </p:nvSpPr>
        <p:spPr>
          <a:xfrm>
            <a:off x="228600" y="4470400"/>
            <a:ext cx="25400" cy="25400"/>
          </a:xfrm>
          <a:prstGeom prst="ellipse">
            <a:avLst/>
          </a:prstGeom>
          <a:solidFill>
            <a:srgbClr val="D8CC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" name="Dot 35"/>
          <p:cNvSpPr/>
          <p:nvPr/>
        </p:nvSpPr>
        <p:spPr>
          <a:xfrm>
            <a:off x="1524000" y="95250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" name="Dot 36"/>
          <p:cNvSpPr/>
          <p:nvPr/>
        </p:nvSpPr>
        <p:spPr>
          <a:xfrm>
            <a:off x="4216400" y="1016000"/>
            <a:ext cx="25400" cy="254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" name="Dot 37"/>
          <p:cNvSpPr/>
          <p:nvPr/>
        </p:nvSpPr>
        <p:spPr>
          <a:xfrm>
            <a:off x="2603500" y="116840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25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mph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7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0" presetClass="emph" repeatCount="indefinite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0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emph" repeatCount="indefinite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3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0" presetClass="emph" repeatCount="indefinite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6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0" presetClass="emph" repeatCount="indefinite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9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0" presetClass="emph" repeatCount="indefinite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22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emph" repeatCount="indefinite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25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emph" repeatCount="indefinite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28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0" presetClass="emph" repeatCount="indefinite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0" dur="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31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0" presetClass="emph" repeatCount="indefinite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34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0" presetClass="emph" repeatCount="indefinite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6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37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0" presetClass="emph" repeatCount="indefinite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9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40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emph" repeatCount="indefinite" fill="hold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42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43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0" presetClass="emph" repeatCount="indefinite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5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46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emph" repeatCount="indefinite" fill="hold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48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49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0" presetClass="emph" repeatCount="indefinite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52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emph" repeatCount="indefinite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55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0" presetClass="emph" repeatCount="indefinite" fill="hold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57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58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0" presetClass="emph" repeatCount="indefinite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0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61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0" presetClass="emph" repeatCount="indefinite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63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64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emph" repeatCount="indefinite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67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0" presetClass="emph" repeatCount="indefinite" fill="hold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69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70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0" presetClass="emph" repeatCount="indefinite" fill="hold" nodeType="with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72" dur="2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73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0" presetClass="emph" repeatCount="indefinite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5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76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0" presetClass="emph" repeatCount="indefinite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8" dur="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79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0" presetClass="emph" repeatCount="indefinite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1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82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0" presetClass="emph" repeatCount="indefinite" fill="hold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84" dur="2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85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0" presetClass="emph" repeatCount="indefinite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7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88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emph" repeatCount="indefinite" fill="hold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90" dur="2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91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0" presetClass="emph" repeatCount="indefinite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3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94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0" presetClass="emph" repeatCount="indefinite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6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97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0" presetClass="emph" repeatCount="indefinite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99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00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0" presetClass="emph" repeatCount="indefinite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2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03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0" presetClass="emph" repeatCount="indefinite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05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06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0" presetClass="emph" repeatCount="indefinite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08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09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0" presetClass="emph" repeatCount="indefinite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1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12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0" presetClass="emph" repeatCount="indefinite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14" dur="2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15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 algn="l"/>
            <a:r>
              <a:rPr sz="3600" b="1" i="0">
                <a:solidFill>
                  <a:srgbClr val="1E1B4B"/>
                </a:solidFill>
                <a:latin typeface="Cambria"/>
              </a:rP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411480" y="109728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60704"/>
            <a:ext cx="5029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078992"/>
            <a:ext cx="7680960" cy="36576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 algn="l"/>
            <a:r>
              <a:rPr sz="1600" b="1" i="0">
                <a:solidFill>
                  <a:srgbClr val="1E1B4B"/>
                </a:solidFill>
                <a:latin typeface="Cambria"/>
              </a:rPr>
              <a:t>Entstehung von Prophet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444752"/>
            <a:ext cx="7680960" cy="347472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Originalpaper, Motivation &amp; Entstehungskontext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92807"/>
            <a:ext cx="8321040" cy="1828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80" y="1984248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947672"/>
            <a:ext cx="5029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65960"/>
            <a:ext cx="7680960" cy="36576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 algn="l"/>
            <a:r>
              <a:rPr sz="1600" b="1" i="0">
                <a:solidFill>
                  <a:srgbClr val="1E1B4B"/>
                </a:solidFill>
                <a:latin typeface="Cambria"/>
              </a:rPr>
              <a:t>Das Prophet-Modell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31720"/>
            <a:ext cx="7680960" cy="200055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 algn="l"/>
            <a:r>
              <a:rPr sz="1300" b="0" i="0" dirty="0" err="1">
                <a:solidFill>
                  <a:srgbClr val="6B7280"/>
                </a:solidFill>
                <a:latin typeface="Calibri"/>
              </a:rPr>
              <a:t>Mathematik</a:t>
            </a:r>
            <a:r>
              <a:rPr sz="1300" b="0" i="0" dirty="0">
                <a:solidFill>
                  <a:srgbClr val="6B7280"/>
                </a:solidFill>
                <a:latin typeface="Calibri"/>
              </a:rPr>
              <a:t> &amp; </a:t>
            </a:r>
            <a:r>
              <a:rPr sz="1300" b="0" i="0" dirty="0" err="1">
                <a:solidFill>
                  <a:srgbClr val="6B7280"/>
                </a:solidFill>
                <a:latin typeface="Calibri"/>
              </a:rPr>
              <a:t>Komponenten</a:t>
            </a:r>
            <a:endParaRPr sz="13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" y="2779776"/>
            <a:ext cx="8321040" cy="1828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11480" y="2871216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834640"/>
            <a:ext cx="5029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52928"/>
            <a:ext cx="7680960" cy="36576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 algn="l"/>
            <a:r>
              <a:rPr sz="1600" b="1" i="0">
                <a:solidFill>
                  <a:srgbClr val="1E1B4B"/>
                </a:solidFill>
                <a:latin typeface="Cambria"/>
              </a:rPr>
              <a:t>Business-Kontext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218688"/>
            <a:ext cx="7680960" cy="347472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Anwendungsfelder &amp; Beispiel Umsatzprognose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66744"/>
            <a:ext cx="8321040" cy="1828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11480" y="3758183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721608"/>
            <a:ext cx="5029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39896"/>
            <a:ext cx="7680960" cy="365760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 algn="l"/>
            <a:r>
              <a:rPr sz="1600" b="1" i="0">
                <a:solidFill>
                  <a:srgbClr val="1E1B4B"/>
                </a:solidFill>
                <a:latin typeface="Cambria"/>
              </a:rPr>
              <a:t>Vergleich &amp; Bewertung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105656"/>
            <a:ext cx="7680960" cy="200055"/>
          </a:xfrm>
          <a:prstGeom prst="rect">
            <a:avLst/>
          </a:prstGeom>
          <a:noFill/>
        </p:spPr>
        <p:txBody>
          <a:bodyPr wrap="square" lIns="50800" tIns="0" rIns="50800" bIns="0">
            <a:spAutoFit/>
          </a:bodyPr>
          <a:lstStyle/>
          <a:p>
            <a:pPr algn="l"/>
            <a:r>
              <a:rPr sz="1300" b="0" i="0" dirty="0" err="1">
                <a:solidFill>
                  <a:srgbClr val="6B7280"/>
                </a:solidFill>
                <a:latin typeface="Calibri"/>
              </a:rPr>
              <a:t>Stärken</a:t>
            </a:r>
            <a:r>
              <a:rPr lang="de-DE" sz="1300" b="0" i="0" dirty="0">
                <a:solidFill>
                  <a:srgbClr val="6B7280"/>
                </a:solidFill>
                <a:latin typeface="Calibri"/>
              </a:rPr>
              <a:t> &amp;</a:t>
            </a:r>
            <a:r>
              <a:rPr sz="1300" b="0" i="0" dirty="0">
                <a:solidFill>
                  <a:srgbClr val="6B7280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6B7280"/>
                </a:solidFill>
                <a:latin typeface="Calibri"/>
              </a:rPr>
              <a:t>Schwächen</a:t>
            </a:r>
            <a:endParaRPr sz="1300" b="0" i="0" dirty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321040" cy="685800"/>
          </a:xfrm>
          <a:prstGeom prst="rect">
            <a:avLst/>
          </a:prstGeom>
          <a:noFill/>
        </p:spPr>
        <p:txBody>
          <a:bodyPr wrap="square" lIns="38100" tIns="38100" rIns="38100" bIns="3810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Die Entstehung von Prophet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901952"/>
            <a:ext cx="8229600" cy="5029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6968" y="1792224"/>
            <a:ext cx="237744" cy="237744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005840" cy="384048"/>
          </a:xfrm>
          <a:prstGeom prst="rect">
            <a:avLst/>
          </a:prstGeom>
          <a:noFill/>
        </p:spPr>
        <p:txBody>
          <a:bodyPr wrap="square" lIns="38100" tIns="38100" rIns="38100" bIns="38100">
            <a:spAutoFit/>
          </a:bodyPr>
          <a:lstStyle/>
          <a:p>
            <a:pPr algn="ctr"/>
            <a:r>
              <a:rPr sz="1300" b="1" i="0">
                <a:solidFill>
                  <a:srgbClr val="9CA3AF"/>
                </a:solidFill>
                <a:latin typeface="Calibri"/>
              </a:rPr>
              <a:t>2011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2212848"/>
            <a:ext cx="1554480" cy="13716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0000" dist="18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2249424"/>
            <a:ext cx="1508760" cy="438912"/>
          </a:xfrm>
          <a:prstGeom prst="rect">
            <a:avLst/>
          </a:prstGeom>
          <a:noFill/>
        </p:spPr>
        <p:txBody>
          <a:bodyPr wrap="square" lIns="38100" tIns="38100" rIns="38100" bIns="38100">
            <a:spAutoFit/>
          </a:bodyPr>
          <a:lstStyle/>
          <a:p>
            <a:pPr algn="ctr"/>
            <a:r>
              <a:rPr sz="1250" b="1" i="0">
                <a:solidFill>
                  <a:srgbClr val="9CA3AF"/>
                </a:solidFill>
                <a:latin typeface="Cambria"/>
              </a:rPr>
              <a:t>Intern bei
Facebook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2651760"/>
            <a:ext cx="1508760" cy="914400"/>
          </a:xfrm>
          <a:prstGeom prst="rect">
            <a:avLst/>
          </a:prstGeom>
          <a:noFill/>
        </p:spPr>
        <p:txBody>
          <a:bodyPr wrap="square" lIns="38100" tIns="38100" rIns="38100" bIns="38100">
            <a:spAutoFit/>
          </a:bodyPr>
          <a:lstStyle/>
          <a:p>
            <a:pPr algn="ctr"/>
            <a:r>
              <a:rPr sz="1150" b="0" i="0">
                <a:solidFill>
                  <a:srgbClr val="374151"/>
                </a:solidFill>
                <a:latin typeface="Calibri"/>
              </a:rPr>
              <a:t>Erster Einsatz von
Zeitreihen-Forecasting
bei Facebook</a:t>
            </a:r>
          </a:p>
        </p:txBody>
      </p:sp>
      <p:sp>
        <p:nvSpPr>
          <p:cNvPr id="9" name="Oval 8"/>
          <p:cNvSpPr/>
          <p:nvPr/>
        </p:nvSpPr>
        <p:spPr>
          <a:xfrm>
            <a:off x="2761488" y="17922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39" y="1444752"/>
            <a:ext cx="1005840" cy="384048"/>
          </a:xfrm>
          <a:prstGeom prst="rect">
            <a:avLst/>
          </a:prstGeom>
          <a:noFill/>
        </p:spPr>
        <p:txBody>
          <a:bodyPr wrap="square" lIns="38100" tIns="38100" rIns="38100" bIns="38100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2017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2212848"/>
            <a:ext cx="1554480" cy="13716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0000" dist="18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30552" y="2249424"/>
            <a:ext cx="1508760" cy="438912"/>
          </a:xfrm>
          <a:prstGeom prst="rect">
            <a:avLst/>
          </a:prstGeom>
          <a:noFill/>
        </p:spPr>
        <p:txBody>
          <a:bodyPr wrap="square" lIns="38100" tIns="38100" rIns="38100" bIns="38100">
            <a:spAutoFit/>
          </a:bodyPr>
          <a:lstStyle/>
          <a:p>
            <a:pPr algn="ctr"/>
            <a:r>
              <a:rPr sz="1250" b="1" i="0">
                <a:solidFill>
                  <a:srgbClr val="7C3AED"/>
                </a:solidFill>
                <a:latin typeface="Cambria"/>
              </a:rPr>
              <a:t>Open Source
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2651760"/>
            <a:ext cx="1508760" cy="914400"/>
          </a:xfrm>
          <a:prstGeom prst="rect">
            <a:avLst/>
          </a:prstGeom>
          <a:noFill/>
        </p:spPr>
        <p:txBody>
          <a:bodyPr wrap="square" lIns="38100" tIns="38100" rIns="38100" bIns="38100">
            <a:spAutoFit/>
          </a:bodyPr>
          <a:lstStyle/>
          <a:p>
            <a:pPr algn="ctr"/>
            <a:r>
              <a:rPr sz="1150" b="0" i="0">
                <a:solidFill>
                  <a:srgbClr val="374151"/>
                </a:solidFill>
                <a:latin typeface="Calibri"/>
              </a:rPr>
              <a:t>Veröffentlichung auf
GitHub (Python &amp; R)
Feb. 2017</a:t>
            </a:r>
          </a:p>
        </p:txBody>
      </p:sp>
      <p:sp>
        <p:nvSpPr>
          <p:cNvPr id="14" name="Oval 13"/>
          <p:cNvSpPr/>
          <p:nvPr/>
        </p:nvSpPr>
        <p:spPr>
          <a:xfrm>
            <a:off x="4910328" y="1792224"/>
            <a:ext cx="237744" cy="23774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444752"/>
            <a:ext cx="1005840" cy="384048"/>
          </a:xfrm>
          <a:prstGeom prst="rect">
            <a:avLst/>
          </a:prstGeom>
          <a:noFill/>
        </p:spPr>
        <p:txBody>
          <a:bodyPr wrap="square" lIns="38100" tIns="38100" rIns="38100" bIns="38100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Calibri"/>
              </a:rPr>
              <a:t>2018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212848"/>
            <a:ext cx="1554480" cy="13716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0000" dist="18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79392" y="2249424"/>
            <a:ext cx="1508760" cy="438912"/>
          </a:xfrm>
          <a:prstGeom prst="rect">
            <a:avLst/>
          </a:prstGeom>
          <a:noFill/>
        </p:spPr>
        <p:txBody>
          <a:bodyPr wrap="square" lIns="38100" tIns="38100" rIns="38100" bIns="38100">
            <a:spAutoFit/>
          </a:bodyPr>
          <a:lstStyle/>
          <a:p>
            <a:pPr algn="ctr"/>
            <a:r>
              <a:rPr sz="1250" b="1" i="0">
                <a:solidFill>
                  <a:srgbClr val="0D9488"/>
                </a:solidFill>
                <a:latin typeface="Cambria"/>
              </a:rPr>
              <a:t>Paper
publiziert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2651760"/>
            <a:ext cx="1508760" cy="914400"/>
          </a:xfrm>
          <a:prstGeom prst="rect">
            <a:avLst/>
          </a:prstGeom>
          <a:noFill/>
        </p:spPr>
        <p:txBody>
          <a:bodyPr wrap="square" lIns="38100" tIns="38100" rIns="38100" bIns="38100">
            <a:spAutoFit/>
          </a:bodyPr>
          <a:lstStyle/>
          <a:p>
            <a:pPr algn="ctr"/>
            <a:r>
              <a:rPr sz="1150" b="0" i="0">
                <a:solidFill>
                  <a:srgbClr val="374151"/>
                </a:solidFill>
                <a:latin typeface="Calibri"/>
              </a:rPr>
              <a:t>"Forecasting at Scale"
The American Statistician
Taylor &amp; Letham</a:t>
            </a:r>
          </a:p>
        </p:txBody>
      </p:sp>
      <p:sp>
        <p:nvSpPr>
          <p:cNvPr id="19" name="Oval 18"/>
          <p:cNvSpPr/>
          <p:nvPr/>
        </p:nvSpPr>
        <p:spPr>
          <a:xfrm>
            <a:off x="7196328" y="17922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1444752"/>
            <a:ext cx="1005840" cy="384048"/>
          </a:xfrm>
          <a:prstGeom prst="rect">
            <a:avLst/>
          </a:prstGeom>
          <a:noFill/>
        </p:spPr>
        <p:txBody>
          <a:bodyPr wrap="square" lIns="38100" tIns="38100" rIns="38100" bIns="38100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2023+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2212848"/>
            <a:ext cx="1554480" cy="13716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0000" dist="18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2249424"/>
            <a:ext cx="1508760" cy="438912"/>
          </a:xfrm>
          <a:prstGeom prst="rect">
            <a:avLst/>
          </a:prstGeom>
          <a:noFill/>
        </p:spPr>
        <p:txBody>
          <a:bodyPr wrap="square" lIns="38100" tIns="38100" rIns="38100" bIns="38100">
            <a:spAutoFit/>
          </a:bodyPr>
          <a:lstStyle/>
          <a:p>
            <a:pPr algn="ctr"/>
            <a:r>
              <a:rPr sz="1250" b="1" i="0">
                <a:solidFill>
                  <a:srgbClr val="F59E0B"/>
                </a:solidFill>
                <a:latin typeface="Cambria"/>
              </a:rPr>
              <a:t>Prophet
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651760"/>
            <a:ext cx="1508760" cy="914400"/>
          </a:xfrm>
          <a:prstGeom prst="rect">
            <a:avLst/>
          </a:prstGeom>
          <a:noFill/>
        </p:spPr>
        <p:txBody>
          <a:bodyPr wrap="square" lIns="38100" tIns="38100" rIns="38100" bIns="38100">
            <a:spAutoFit/>
          </a:bodyPr>
          <a:lstStyle/>
          <a:p>
            <a:pPr algn="ctr"/>
            <a:r>
              <a:rPr sz="1150" b="0" i="0">
                <a:solidFill>
                  <a:srgbClr val="374151"/>
                </a:solidFill>
                <a:latin typeface="Calibri"/>
              </a:rPr>
              <a:t>Neuimplementierung
in Stan/NumPyro,
aktiv gepflegt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721608"/>
            <a:ext cx="8321040" cy="123444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>
            <a:outerShdw blurRad="30000" dist="18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767328"/>
            <a:ext cx="7955279" cy="658368"/>
          </a:xfrm>
          <a:prstGeom prst="rect">
            <a:avLst/>
          </a:prstGeom>
          <a:noFill/>
        </p:spPr>
        <p:txBody>
          <a:bodyPr wrap="square" lIns="38100" tIns="38100" rIns="38100" bIns="38100">
            <a:spAutoFit/>
          </a:bodyPr>
          <a:lstStyle/>
          <a:p>
            <a:pPr algn="l"/>
            <a:r>
              <a:rPr sz="1500" b="0" i="1">
                <a:solidFill>
                  <a:srgbClr val="1E1B4B"/>
                </a:solidFill>
                <a:latin typeface="Calibri"/>
              </a:rPr>
              <a:t>❝  Forecasting at scale – das Problem war nicht ein einzelnes Modell,
sondern tausende Zeitreihen, betreut von Analysten ohne ML-Expertise.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407408"/>
            <a:ext cx="7955279" cy="347472"/>
          </a:xfrm>
          <a:prstGeom prst="rect">
            <a:avLst/>
          </a:prstGeom>
          <a:noFill/>
        </p:spPr>
        <p:txBody>
          <a:bodyPr wrap="square" lIns="38100" tIns="38100" rIns="38100" bIns="38100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  <a:latin typeface="Calibri"/>
              </a:rPr>
              <a:t>— Taylor &amp; Letham (2018), The American Statistician, 72(1)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056632"/>
            <a:ext cx="2788920" cy="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0000" dist="18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355848" y="5056632"/>
            <a:ext cx="2788920" cy="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0000" dist="18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00216" y="5056632"/>
            <a:ext cx="2788920" cy="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0000" dist="18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11480" y="5029200"/>
            <a:ext cx="2788920" cy="9144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0000" dist="18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355848" y="5029200"/>
            <a:ext cx="2788920" cy="9144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0000" dist="18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00216" y="5029200"/>
            <a:ext cx="2788920" cy="9144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0000" dist="18000" dir="5400000" algn="ctr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13232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8229600" cy="118872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mbria"/>
              </a:rPr>
              <a:t>Das Prophet-Modell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7315200" cy="410369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lang="de-DE" sz="2000" dirty="0">
                <a:solidFill>
                  <a:srgbClr val="6B7280"/>
                </a:solidFill>
              </a:rPr>
              <a:t>Mathematik &amp; Komponenten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321040" cy="6858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Die zentrale Idee: Additive Zerlegung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8321040" cy="11887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109728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3600" b="1" i="0">
                <a:solidFill>
                  <a:srgbClr val="1E1B4B"/>
                </a:solidFill>
                <a:latin typeface="Cambria"/>
              </a:rPr>
              <a:t>y(t)  =  g(t)  +  s(t)  +  h(t)  +  ε(t)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423160"/>
            <a:ext cx="1965960" cy="242316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2423160"/>
            <a:ext cx="196596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395728"/>
            <a:ext cx="1965960" cy="438912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g(t)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71216"/>
            <a:ext cx="1783080" cy="38404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mbria"/>
              </a:rPr>
              <a:t>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1783080" cy="13716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Langfristige Zu- oder
Abnahme des Wertes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423160"/>
            <a:ext cx="1965960" cy="242316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14600" y="2423160"/>
            <a:ext cx="196596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2395728"/>
            <a:ext cx="1965960" cy="438912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s(t)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871216"/>
            <a:ext cx="1783080" cy="38404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mbria"/>
              </a:rPr>
              <a:t>Saisonalität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246120"/>
            <a:ext cx="1783080" cy="13716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Periodische Muster
(täglich, wöchentlich, jährlich)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423160"/>
            <a:ext cx="1965960" cy="242316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17720" y="2423160"/>
            <a:ext cx="196596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2395728"/>
            <a:ext cx="1965960" cy="438912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h(t)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2871216"/>
            <a:ext cx="1783080" cy="38404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mbria"/>
              </a:rPr>
              <a:t>Feiertage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3246120"/>
            <a:ext cx="1783080" cy="13716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Unregelmäßige Ereignisse
mit bekanntem Einfluss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2423160"/>
            <a:ext cx="1965960" cy="242316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20840" y="2423160"/>
            <a:ext cx="196596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0840" y="2395728"/>
            <a:ext cx="1965960" cy="438912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ε(t)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2871216"/>
            <a:ext cx="1783080" cy="38404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mbria"/>
              </a:rPr>
              <a:t>Fehlerterm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79" y="3246120"/>
            <a:ext cx="1783080" cy="13716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Verbleibende
zufällige Schwankungen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1300" b="0" i="1">
                <a:solidFill>
                  <a:srgbClr val="9CA3AF"/>
                </a:solidFill>
                <a:latin typeface="Calibri"/>
              </a:rPr>
              <a:t>Prophet passt diese Komponenten separat an – intuitiv, erklärbar und anpassbar.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8321040" cy="6858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Was steckt hinter der Formel?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22960"/>
            <a:ext cx="8321040" cy="3657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600" b="0" i="0">
                <a:solidFill>
                  <a:srgbClr val="374151"/>
                </a:solidFill>
                <a:latin typeface="Calibri"/>
              </a:rPr>
              <a:t>Jede Komponente erzeugt ein eigenes Muster – Prophet addiert sie zur Gesamtprognose.</a:t>
            </a:r>
          </a:p>
        </p:txBody>
      </p:sp>
      <p:pic>
        <p:nvPicPr>
          <p:cNvPr id="4" name="decomp_curv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38" y="1257300"/>
            <a:ext cx="8594724" cy="3657600"/>
          </a:xfrm>
          <a:prstGeom prst="rect">
            <a:avLst/>
          </a:prstGeom>
          <a:ln>
            <a:noFill/>
          </a:ln>
        </p:spPr>
      </p:pic>
      <p:sp>
        <p:nvSpPr>
          <p:cNvPr id="5" name="TextBox 3"/>
          <p:cNvSpPr txBox="1"/>
          <p:nvPr/>
        </p:nvSpPr>
        <p:spPr>
          <a:xfrm>
            <a:off x="411480" y="4968000"/>
            <a:ext cx="8321040" cy="2286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1100" b="0" i="1">
                <a:solidFill>
                  <a:srgbClr val="9CA3AF"/>
                </a:solidFill>
                <a:latin typeface="Calibri"/>
              </a:rPr>
              <a:t>Die Kurven sind Illustrationen – in echten Daten sind die Muster ähnlich, aber kompleXer.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321040" cy="6858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Trendkomponente  g(t)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4160520" cy="393192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3794760" cy="38404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mbria"/>
              </a:rPr>
              <a:t>Linearer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3794760" cy="50292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2200" b="1" i="0">
                <a:solidFill>
                  <a:srgbClr val="1E1B4B"/>
                </a:solidFill>
                <a:latin typeface="Cambria"/>
              </a:rPr>
              <a:t>g(t) = k + δ ·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k = Anfangswert (Intercept)</a:t>
            </a:r>
          </a:p>
          <a:p>
            <a:pPr algn="l"/>
            <a:r>
              <a:rPr sz="13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δ = Wachstumsrate (Slope)</a:t>
            </a:r>
          </a:p>
          <a:p>
            <a:pPr algn="l"/>
            <a:r>
              <a:rPr sz="13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Für unbegrenzte Größen geeignet</a:t>
            </a:r>
          </a:p>
          <a:p>
            <a:pPr algn="l"/>
            <a:r>
              <a:rPr sz="13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Changepoints passen δ lokal 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005840"/>
            <a:ext cx="4023360" cy="393192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92040" y="1078992"/>
            <a:ext cx="3657600" cy="38404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  <a:latin typeface="Cambria"/>
              </a:rPr>
              <a:t>Logistisches Wachstum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463040"/>
            <a:ext cx="3657600" cy="50292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1700" b="1" i="0">
                <a:solidFill>
                  <a:srgbClr val="1E1B4B"/>
                </a:solidFill>
                <a:latin typeface="Cambria"/>
              </a:rPr>
              <a:t>g(t) = L / (1 + e^(-k(t-m)))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011680"/>
            <a:ext cx="3611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L = Kapazitätsgrenze (Ceiling)</a:t>
            </a:r>
          </a:p>
          <a:p>
            <a:pPr algn="l"/>
            <a:r>
              <a:rPr sz="13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k = Wachstumsrate</a:t>
            </a:r>
          </a:p>
          <a:p>
            <a:pPr algn="l"/>
            <a:r>
              <a:rPr sz="13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m = Wendepunkt (Midpoint)</a:t>
            </a:r>
          </a:p>
          <a:p>
            <a:pPr algn="l"/>
            <a:r>
              <a:rPr sz="13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Ideal für gesättigte Märkte</a:t>
            </a:r>
          </a:p>
          <a:p>
            <a:pPr algn="l"/>
            <a:r>
              <a:rPr sz="1300">
                <a:solidFill>
                  <a:srgbClr val="7C3AED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Kapazität kann variabel sein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407408"/>
            <a:ext cx="8321040" cy="566928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443984"/>
            <a:ext cx="7955279" cy="4572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50" b="0" i="0">
                <a:solidFill>
                  <a:srgbClr val="1E1B4B"/>
                </a:solidFill>
                <a:latin typeface="Calibri"/>
              </a:rPr>
              <a:t>⚡  Changepoints: Prophet erkennt automatisch Stellen, wo sich der Trend ändert (z.B. durch Produktlaunch, Krise).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321040" cy="6858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Saisonalitätskomponente  s(t)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87552"/>
            <a:ext cx="8321040" cy="804672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8138160" cy="76809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2200" b="1" i="0">
                <a:solidFill>
                  <a:srgbClr val="1E1B4B"/>
                </a:solidFill>
                <a:latin typeface="Cambria"/>
              </a:rPr>
              <a:t>s(t) = Σₙ  [ aₙ · cos(2πnt / P)  +  bₙ · sin(2πnt / P)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938528"/>
            <a:ext cx="4206240" cy="41148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Cambria"/>
              </a:rPr>
              <a:t>Fourier-Reihe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37744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7C3AED"/>
                </a:solidFill>
                <a:latin typeface="Calibri"/>
              </a:rPr>
              <a:t>▸  </a:t>
            </a:r>
            <a:r>
              <a:rPr sz="1450">
                <a:solidFill>
                  <a:srgbClr val="374151"/>
                </a:solidFill>
                <a:latin typeface="Calibri"/>
              </a:rPr>
              <a:t>P = Periodenlänge (z.B. 365.25 Tage für jährlich, 7 für wöchentlich)</a:t>
            </a:r>
          </a:p>
          <a:p>
            <a:pPr algn="l"/>
            <a:r>
              <a:rPr sz="1350">
                <a:solidFill>
                  <a:srgbClr val="7C3AED"/>
                </a:solidFill>
                <a:latin typeface="Calibri"/>
              </a:rPr>
              <a:t>▸  </a:t>
            </a:r>
            <a:r>
              <a:rPr sz="1450">
                <a:solidFill>
                  <a:srgbClr val="374151"/>
                </a:solidFill>
                <a:latin typeface="Calibri"/>
              </a:rPr>
              <a:t>n = Ordnung der Harmonischen (Anzahl Terme)</a:t>
            </a:r>
          </a:p>
          <a:p>
            <a:pPr algn="l"/>
            <a:r>
              <a:rPr sz="1350">
                <a:solidFill>
                  <a:srgbClr val="7C3AED"/>
                </a:solidFill>
                <a:latin typeface="Calibri"/>
              </a:rPr>
              <a:t>▸  </a:t>
            </a:r>
            <a:r>
              <a:rPr sz="1450">
                <a:solidFill>
                  <a:srgbClr val="374151"/>
                </a:solidFill>
                <a:latin typeface="Calibri"/>
              </a:rPr>
              <a:t>aₙ, bₙ = Gewichte (werden aus Daten gelernt)</a:t>
            </a:r>
          </a:p>
          <a:p>
            <a:pPr algn="l"/>
            <a:r>
              <a:rPr sz="1350">
                <a:solidFill>
                  <a:srgbClr val="7C3AED"/>
                </a:solidFill>
                <a:latin typeface="Calibri"/>
              </a:rPr>
              <a:t>▸  </a:t>
            </a:r>
            <a:r>
              <a:rPr sz="1450">
                <a:solidFill>
                  <a:srgbClr val="374151"/>
                </a:solidFill>
                <a:latin typeface="Calibri"/>
              </a:rPr>
              <a:t>Mehr Terme → komplexere Muster erfassbar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38528"/>
            <a:ext cx="3977639" cy="41148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Cambria"/>
              </a:rPr>
              <a:t>Typische Perioden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395728"/>
            <a:ext cx="3977639" cy="704088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2040" y="2441448"/>
            <a:ext cx="1371600" cy="347472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Täglich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441448"/>
            <a:ext cx="1097280" cy="347472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Calibri"/>
              </a:rPr>
              <a:t>P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761488"/>
            <a:ext cx="3657600" cy="27432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250" b="0" i="0">
                <a:solidFill>
                  <a:srgbClr val="9CA3AF"/>
                </a:solidFill>
                <a:latin typeface="Calibri"/>
              </a:rPr>
              <a:t>Tagesverlauf (Stunden)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191256"/>
            <a:ext cx="3977639" cy="704088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3236976"/>
            <a:ext cx="1371600" cy="347472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Wöchentlich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236976"/>
            <a:ext cx="1097280" cy="347472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Calibri"/>
              </a:rPr>
              <a:t>P =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557016"/>
            <a:ext cx="3657600" cy="27432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250" b="0" i="0">
                <a:solidFill>
                  <a:srgbClr val="9CA3AF"/>
                </a:solidFill>
                <a:latin typeface="Calibri"/>
              </a:rPr>
              <a:t>Mo–Fr vs. Wochenende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986784"/>
            <a:ext cx="3977639" cy="704088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4032504"/>
            <a:ext cx="1371600" cy="347472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Jährlich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032504"/>
            <a:ext cx="1097280" cy="347472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Calibri"/>
              </a:rPr>
              <a:t>P = 365.25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352544"/>
            <a:ext cx="3657600" cy="27432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250" b="0" i="0">
                <a:solidFill>
                  <a:srgbClr val="9CA3AF"/>
                </a:solidFill>
                <a:latin typeface="Calibri"/>
              </a:rPr>
              <a:t>Jahreszeiten, Quartale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321040" cy="6858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Feiertagseffekte  h(t)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87552"/>
            <a:ext cx="8321040" cy="658368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8138160" cy="621792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2600" b="1" i="0">
                <a:solidFill>
                  <a:srgbClr val="1E1B4B"/>
                </a:solidFill>
                <a:latin typeface="Cambria"/>
              </a:rPr>
              <a:t>h(t) = Z(t) · 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64208"/>
            <a:ext cx="8321040" cy="3200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1350" b="0" i="0">
                <a:solidFill>
                  <a:srgbClr val="374151"/>
                </a:solidFill>
                <a:latin typeface="Calibri"/>
              </a:rPr>
              <a:t>Z(t) = Indikatormatrix der Feiertage    •    κ = Effektvektor (gelernt)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148840"/>
            <a:ext cx="8321040" cy="3657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600" b="1" i="0">
                <a:solidFill>
                  <a:srgbClr val="1E1B4B"/>
                </a:solidFill>
                <a:latin typeface="Cambria"/>
              </a:rPr>
              <a:t>Warum explizit?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487168"/>
            <a:ext cx="8321040" cy="5943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  <a:latin typeface="Calibri"/>
              </a:rPr>
              <a:t>Feiertage verletzen die Periode der Saisonalität – Weihnachten liegt nicht immer auf demselben Wochentag. Ohne explizite Modellierung entstehen Ausreißer, die die Prognose verzerren.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218688"/>
            <a:ext cx="4114800" cy="749808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282696"/>
            <a:ext cx="502920" cy="56692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3291840" cy="31089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Weihnachten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75304"/>
            <a:ext cx="3291840" cy="3200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250" b="0" i="0">
                <a:solidFill>
                  <a:srgbClr val="9CA3AF"/>
                </a:solidFill>
                <a:latin typeface="Calibri"/>
              </a:rPr>
              <a:t>Starker Umsatzanstieg im Einzelhandel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3218688"/>
            <a:ext cx="4114800" cy="749808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3282696"/>
            <a:ext cx="502920" cy="56692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273552"/>
            <a:ext cx="3291840" cy="31089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Black Friday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575304"/>
            <a:ext cx="3291840" cy="3200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250" b="0" i="0">
                <a:solidFill>
                  <a:srgbClr val="9CA3AF"/>
                </a:solidFill>
                <a:latin typeface="Calibri"/>
              </a:rPr>
              <a:t>Kurzfristige Spitze mit anschließendem Tief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096512"/>
            <a:ext cx="4114800" cy="749808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502920" cy="56692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🏖️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51376"/>
            <a:ext cx="3291840" cy="31089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Schulferien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53128"/>
            <a:ext cx="3291840" cy="3200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250" b="0" i="0">
                <a:solidFill>
                  <a:srgbClr val="9CA3AF"/>
                </a:solidFill>
                <a:latin typeface="Calibri"/>
              </a:rPr>
              <a:t>Rückgang B2B, Anstieg Reise/Tourismus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4096512"/>
            <a:ext cx="4114800" cy="749808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4160520"/>
            <a:ext cx="502920" cy="56692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151376"/>
            <a:ext cx="3291840" cy="31089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Benutzerdefiniert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453128"/>
            <a:ext cx="3291840" cy="3200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250" b="0" i="0">
                <a:solidFill>
                  <a:srgbClr val="9CA3AF"/>
                </a:solidFill>
                <a:latin typeface="Calibri"/>
              </a:rPr>
              <a:t>Eigene Events: Produktlaunch, Messen…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321040" cy="6858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Vorhersageunsicherheit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750000"/>
            <a:ext cx="4206240" cy="41148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600" b="1" i="0">
                <a:solidFill>
                  <a:srgbClr val="1E1B4B"/>
                </a:solidFill>
                <a:latin typeface="Cambria"/>
              </a:rPr>
              <a:t>Woher kommt die Unsicherheit?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188912"/>
            <a:ext cx="420624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 algn="l">
              <a:tabLst>
                <a:tab pos="268288" algn="l"/>
              </a:tabLst>
            </a:pPr>
            <a:r>
              <a:rPr sz="1350" dirty="0">
                <a:solidFill>
                  <a:srgbClr val="7C3AED"/>
                </a:solidFill>
                <a:latin typeface="Calibri"/>
              </a:rPr>
              <a:t>▸  </a:t>
            </a:r>
            <a:r>
              <a:rPr sz="1450" dirty="0">
                <a:solidFill>
                  <a:srgbClr val="374151"/>
                </a:solidFill>
                <a:latin typeface="Calibri"/>
              </a:rPr>
              <a:t>Trend-</a:t>
            </a:r>
            <a:r>
              <a:rPr sz="1450" dirty="0" err="1">
                <a:solidFill>
                  <a:srgbClr val="374151"/>
                </a:solidFill>
                <a:latin typeface="Calibri"/>
              </a:rPr>
              <a:t>Unsicherheit</a:t>
            </a:r>
            <a:r>
              <a:rPr sz="1450" dirty="0">
                <a:solidFill>
                  <a:srgbClr val="374151"/>
                </a:solidFill>
                <a:latin typeface="Calibri"/>
              </a:rPr>
              <a:t>: Wo </a:t>
            </a:r>
            <a:r>
              <a:rPr sz="1450" dirty="0" err="1">
                <a:solidFill>
                  <a:srgbClr val="374151"/>
                </a:solidFill>
                <a:latin typeface="Calibri"/>
              </a:rPr>
              <a:t>setzt</a:t>
            </a:r>
            <a:r>
              <a:rPr sz="1450" dirty="0">
                <a:solidFill>
                  <a:srgbClr val="374151"/>
                </a:solidFill>
                <a:latin typeface="Calibri"/>
              </a:rPr>
              <a:t> Prophet</a:t>
            </a:r>
            <a:endParaRPr lang="de-DE" sz="1450" dirty="0">
              <a:solidFill>
                <a:srgbClr val="374151"/>
              </a:solidFill>
              <a:latin typeface="Calibri"/>
            </a:endParaRPr>
          </a:p>
          <a:p>
            <a:pPr marL="268288" indent="-268288" algn="l">
              <a:tabLst>
                <a:tab pos="179388" algn="l"/>
              </a:tabLst>
            </a:pPr>
            <a:r>
              <a:rPr lang="de-DE" sz="1450" dirty="0">
                <a:solidFill>
                  <a:srgbClr val="374151"/>
                </a:solidFill>
                <a:latin typeface="Calibri"/>
              </a:rPr>
              <a:t>	 </a:t>
            </a:r>
            <a:r>
              <a:rPr sz="1450" dirty="0">
                <a:solidFill>
                  <a:srgbClr val="374151"/>
                </a:solidFill>
                <a:latin typeface="Calibri"/>
              </a:rPr>
              <a:t>Changepoints in der Zukunft?</a:t>
            </a:r>
          </a:p>
          <a:p>
            <a:pPr algn="l"/>
            <a:r>
              <a:rPr sz="1350" dirty="0">
                <a:solidFill>
                  <a:srgbClr val="7C3AED"/>
                </a:solidFill>
                <a:latin typeface="Calibri"/>
              </a:rPr>
              <a:t>▸  </a:t>
            </a:r>
            <a:r>
              <a:rPr sz="1450" dirty="0" err="1">
                <a:solidFill>
                  <a:srgbClr val="374151"/>
                </a:solidFill>
                <a:latin typeface="Calibri"/>
              </a:rPr>
              <a:t>Beobachtungsrauschen</a:t>
            </a:r>
            <a:r>
              <a:rPr sz="1450" dirty="0">
                <a:solidFill>
                  <a:srgbClr val="374151"/>
                </a:solidFill>
                <a:latin typeface="Calibri"/>
              </a:rPr>
              <a:t> ε(t)</a:t>
            </a:r>
          </a:p>
          <a:p>
            <a:pPr algn="l"/>
            <a:r>
              <a:rPr sz="1350" dirty="0">
                <a:solidFill>
                  <a:srgbClr val="7C3AED"/>
                </a:solidFill>
                <a:latin typeface="Calibri"/>
              </a:rPr>
              <a:t>▸  </a:t>
            </a:r>
            <a:r>
              <a:rPr sz="1450" dirty="0" err="1">
                <a:solidFill>
                  <a:srgbClr val="374151"/>
                </a:solidFill>
                <a:latin typeface="Calibri"/>
              </a:rPr>
              <a:t>Saisonalität</a:t>
            </a:r>
            <a:r>
              <a:rPr sz="1450" dirty="0">
                <a:solidFill>
                  <a:srgbClr val="374151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374151"/>
                </a:solidFill>
                <a:latin typeface="Calibri"/>
              </a:rPr>
              <a:t>kann</a:t>
            </a:r>
            <a:r>
              <a:rPr sz="1450" dirty="0">
                <a:solidFill>
                  <a:srgbClr val="374151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374151"/>
                </a:solidFill>
                <a:latin typeface="Calibri"/>
              </a:rPr>
              <a:t>leicht</a:t>
            </a:r>
            <a:r>
              <a:rPr sz="1450" dirty="0">
                <a:solidFill>
                  <a:srgbClr val="374151"/>
                </a:solidFill>
                <a:latin typeface="Calibri"/>
              </a:rPr>
              <a:t> </a:t>
            </a:r>
            <a:r>
              <a:rPr sz="1450" dirty="0" err="1">
                <a:solidFill>
                  <a:srgbClr val="374151"/>
                </a:solidFill>
                <a:latin typeface="Calibri"/>
              </a:rPr>
              <a:t>variieren</a:t>
            </a:r>
            <a:endParaRPr sz="1450" dirty="0">
              <a:solidFill>
                <a:srgbClr val="374151"/>
              </a:solidFill>
              <a:latin typeface="Calibri"/>
            </a:endParaRPr>
          </a:p>
          <a:p>
            <a:pPr algn="l"/>
            <a:r>
              <a:rPr sz="1350" dirty="0">
                <a:solidFill>
                  <a:srgbClr val="7C3AED"/>
                </a:solidFill>
                <a:latin typeface="Calibri"/>
              </a:rPr>
              <a:t>▸  </a:t>
            </a:r>
            <a:r>
              <a:rPr sz="1450" dirty="0" err="1">
                <a:solidFill>
                  <a:srgbClr val="374151"/>
                </a:solidFill>
                <a:latin typeface="Calibri"/>
              </a:rPr>
              <a:t>Standardmäßig</a:t>
            </a:r>
            <a:r>
              <a:rPr sz="1450" dirty="0">
                <a:solidFill>
                  <a:srgbClr val="374151"/>
                </a:solidFill>
                <a:latin typeface="Calibri"/>
              </a:rPr>
              <a:t>: Laplace-Approximation</a:t>
            </a:r>
          </a:p>
          <a:p>
            <a:pPr algn="l"/>
            <a:r>
              <a:rPr sz="1350" dirty="0">
                <a:solidFill>
                  <a:srgbClr val="7C3AED"/>
                </a:solidFill>
                <a:latin typeface="Calibri"/>
              </a:rPr>
              <a:t>▸  </a:t>
            </a:r>
            <a:r>
              <a:rPr sz="1450" dirty="0">
                <a:solidFill>
                  <a:srgbClr val="374151"/>
                </a:solidFill>
                <a:latin typeface="Calibri"/>
              </a:rPr>
              <a:t>Optional: MCMC-Sampling (</a:t>
            </a:r>
            <a:r>
              <a:rPr sz="1450" dirty="0" err="1">
                <a:solidFill>
                  <a:srgbClr val="374151"/>
                </a:solidFill>
                <a:latin typeface="Calibri"/>
              </a:rPr>
              <a:t>genauer</a:t>
            </a:r>
            <a:r>
              <a:rPr sz="1450" dirty="0">
                <a:solidFill>
                  <a:srgbClr val="374151"/>
                </a:solidFill>
                <a:latin typeface="Calibri"/>
              </a:rPr>
              <a:t>, </a:t>
            </a:r>
            <a:r>
              <a:rPr sz="1450" dirty="0" err="1">
                <a:solidFill>
                  <a:srgbClr val="374151"/>
                </a:solidFill>
                <a:latin typeface="Calibri"/>
              </a:rPr>
              <a:t>langsamer</a:t>
            </a:r>
            <a:r>
              <a:rPr sz="1450" dirty="0">
                <a:solidFill>
                  <a:srgbClr val="374151"/>
                </a:solidFill>
                <a:latin typeface="Calibri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407408"/>
            <a:ext cx="8321040" cy="566928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443984"/>
            <a:ext cx="7955279" cy="4572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Calibri"/>
              </a:rPr>
              <a:t>Standardmäßig 80% Intervall. Für risikoaverse Entscheidungen empfiehlt sich MCMC (mcmc_samples=1000).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7" y="1818249"/>
            <a:ext cx="3136392" cy="2516007"/>
          </a:xfrm>
          <a:prstGeom prst="rect">
            <a:avLst/>
          </a:prstGeom>
        </p:spPr>
      </p:pic>
      <p:sp>
        <p:nvSpPr>
          <p:cNvPr id="50" name="FormulaBoxBg"/>
          <p:cNvSpPr/>
          <p:nvPr/>
        </p:nvSpPr>
        <p:spPr>
          <a:xfrm>
            <a:off x="411480" y="987552"/>
            <a:ext cx="8321040" cy="658368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FormulaText"/>
          <p:cNvSpPr txBox="1"/>
          <p:nvPr/>
        </p:nvSpPr>
        <p:spPr>
          <a:xfrm>
            <a:off x="502920" y="1005840"/>
            <a:ext cx="8138160" cy="621792"/>
          </a:xfrm>
          <a:prstGeom prst="rect">
            <a:avLst/>
          </a:prstGeom>
          <a:noFill/>
        </p:spPr>
        <p:txBody>
          <a:bodyPr wrap="square" lIns="50800" tIns="50800" rIns="50800" bIns="50800" anchor="ctr">
            <a:spAutoFit/>
          </a:bodyPr>
          <a:lstStyle/>
          <a:p>
            <a:pPr algn="ctr"/>
            <a:r>
              <a:rPr sz="2400" b="1" i="0">
                <a:solidFill>
                  <a:srgbClr val="1E1B4B"/>
                </a:solidFill>
                <a:latin typeface="Cambria"/>
              </a:rPr>
              <a:t>ε(t)  ~  N(0,  σ²)</a:t>
            </a:r>
          </a:p>
          <a:p>
            <a:pPr algn="ctr"/>
            <a:r>
              <a:rPr sz="1200" b="0" i="1">
                <a:solidFill>
                  <a:srgbClr val="7C3AED"/>
                </a:solidFill>
                <a:latin typeface="Calibri"/>
              </a:rPr>
              <a:t>Residuales Rauschen  ·  Laplace-Approximation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13232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8229600" cy="118872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mbria"/>
              </a:rPr>
              <a:t>Business-Kontext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7315200" cy="64008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1900" b="0" i="0">
                <a:solidFill>
                  <a:srgbClr val="EDE9FE"/>
                </a:solidFill>
                <a:latin typeface="Calibri"/>
              </a:rPr>
              <a:t>Warum Prophet im Unternehmenseinsatz?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321040" cy="6858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Warum Prophet für den Business-Einsatz?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2743200" cy="169164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40080" cy="5943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2600" b="0" i="0">
                <a:solidFill>
                  <a:srgbClr val="1E1B4B"/>
                </a:solidFill>
                <a:latin typeface="Calibri"/>
              </a:rPr>
              <a:t>🧑‍💼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15568"/>
            <a:ext cx="1828800" cy="3657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mbria"/>
              </a:rPr>
              <a:t>Analyst-freundlich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2514600" cy="10058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Wenig ML-Vorwissen nötig. Parameter haben intuitive Bedeutung.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005840"/>
            <a:ext cx="2743200" cy="169164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9000" y="1097280"/>
            <a:ext cx="640080" cy="5943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2600" b="0" i="0">
                <a:solidFill>
                  <a:srgbClr val="1E1B4B"/>
                </a:solidFill>
                <a:latin typeface="Calibri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115568"/>
            <a:ext cx="1828800" cy="3657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mbria"/>
              </a:rPr>
              <a:t>Erklärbar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54480"/>
            <a:ext cx="2514600" cy="10058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Jede Komponente ist separat visualisierbar und kommunizierbar.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05840"/>
            <a:ext cx="2743200" cy="169164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097280"/>
            <a:ext cx="640080" cy="5943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2600" b="0" i="0">
                <a:solidFill>
                  <a:srgbClr val="1E1B4B"/>
                </a:solidFill>
                <a:latin typeface="Calibri"/>
              </a:rPr>
              <a:t>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115568"/>
            <a:ext cx="1828800" cy="3657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mbria"/>
              </a:rPr>
              <a:t>Feiertagswissen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2514600" cy="10058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Einfache Integration von Firmenfeiertagen und Business-Events.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926080"/>
            <a:ext cx="2743200" cy="169164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017520"/>
            <a:ext cx="640080" cy="5943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2600" b="0" i="0">
                <a:solidFill>
                  <a:srgbClr val="1E1B4B"/>
                </a:solidFill>
                <a:latin typeface="Calibri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35808"/>
            <a:ext cx="1828800" cy="3657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mbria"/>
              </a:rPr>
              <a:t>Robust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74720"/>
            <a:ext cx="2514600" cy="10058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Toleriert fehlende Werte und Ausreißer ohne manuelles Preprocessing.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2926080"/>
            <a:ext cx="2743200" cy="169164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3017520"/>
            <a:ext cx="640080" cy="5943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2600" b="0" i="0">
                <a:solidFill>
                  <a:srgbClr val="1E1B4B"/>
                </a:solidFill>
                <a:latin typeface="Calibri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035808"/>
            <a:ext cx="1828800" cy="3657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mbria"/>
              </a:rPr>
              <a:t>Skalierbar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474720"/>
            <a:ext cx="2514600" cy="10058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Automatisierung über viele Zeitreihen möglich (z.B. pro Filiale).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926080"/>
            <a:ext cx="2743200" cy="169164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3017520"/>
            <a:ext cx="640080" cy="5943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2600" b="0" i="0">
                <a:solidFill>
                  <a:srgbClr val="1E1B4B"/>
                </a:solidFill>
                <a:latin typeface="Calibri"/>
              </a:rPr>
              <a:t>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035808"/>
            <a:ext cx="1828800" cy="3657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mbria"/>
              </a:rPr>
              <a:t>Einfache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474720"/>
            <a:ext cx="2514600" cy="10058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In Python: fit() und predict() – analog zu scikit-learn.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Analyst in the Loop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11480" y="731520"/>
            <a:ext cx="8321040" cy="3657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600" b="0" i="0">
                <a:solidFill>
                  <a:srgbClr val="374151"/>
                </a:solidFill>
                <a:latin typeface="Calibri"/>
              </a:rPr>
              <a:t>Prophet ist kein Black Box – der Analyst steuert, prüft und verfeinert das Modell mit Domänenwissen.</a:t>
            </a:r>
          </a:p>
        </p:txBody>
      </p:sp>
      <p:sp>
        <p:nvSpPr>
          <p:cNvPr id="10" name="Card1Bg"/>
          <p:cNvSpPr/>
          <p:nvPr/>
        </p:nvSpPr>
        <p:spPr>
          <a:xfrm>
            <a:off x="411480" y="1450000"/>
            <a:ext cx="4023360" cy="19072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5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1Accent"/>
          <p:cNvSpPr/>
          <p:nvPr/>
        </p:nvSpPr>
        <p:spPr>
          <a:xfrm>
            <a:off x="411480" y="1450000"/>
            <a:ext cx="402336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1Text"/>
          <p:cNvSpPr txBox="1"/>
          <p:nvPr/>
        </p:nvSpPr>
        <p:spPr>
          <a:xfrm>
            <a:off x="502920" y="1404280"/>
            <a:ext cx="3840480" cy="4572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📍 Changepoints setzen</a:t>
            </a:r>
          </a:p>
        </p:txBody>
      </p:sp>
      <p:sp>
        <p:nvSpPr>
          <p:cNvPr id="13" name="Card1Body"/>
          <p:cNvSpPr txBox="1"/>
          <p:nvPr/>
        </p:nvSpPr>
        <p:spPr>
          <a:xfrm>
            <a:off x="502920" y="1815760"/>
            <a:ext cx="3840480" cy="14500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Wann hat sich der Trend grundlegend geändert? Produktlaunch, Rebranding, Kriseneinbruch – der Analyst markiert kritische Zeitpunkte manuell.</a:t>
            </a:r>
          </a:p>
        </p:txBody>
      </p:sp>
      <p:sp>
        <p:nvSpPr>
          <p:cNvPr id="20" name="Card2Bg"/>
          <p:cNvSpPr/>
          <p:nvPr/>
        </p:nvSpPr>
        <p:spPr>
          <a:xfrm>
            <a:off x="4709160" y="1450000"/>
            <a:ext cx="4023360" cy="190720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>
            <a:noFill/>
          </a:ln>
          <a:effectLst>
            <a:outerShdw blurRad="38100" dist="25400" dir="5400000" algn="ctr" rotWithShape="0">
              <a:srgbClr val="000000">
                <a:alpha val="15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rd2Accent"/>
          <p:cNvSpPr/>
          <p:nvPr/>
        </p:nvSpPr>
        <p:spPr>
          <a:xfrm>
            <a:off x="4709160" y="1450000"/>
            <a:ext cx="402336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rd2Text"/>
          <p:cNvSpPr txBox="1"/>
          <p:nvPr/>
        </p:nvSpPr>
        <p:spPr>
          <a:xfrm>
            <a:off x="4800600" y="1404280"/>
            <a:ext cx="3840480" cy="4572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📅 Events &amp; Feiertage</a:t>
            </a:r>
          </a:p>
        </p:txBody>
      </p:sp>
      <p:sp>
        <p:nvSpPr>
          <p:cNvPr id="23" name="Card2Body"/>
          <p:cNvSpPr txBox="1"/>
          <p:nvPr/>
        </p:nvSpPr>
        <p:spPr>
          <a:xfrm>
            <a:off x="4800600" y="1815760"/>
            <a:ext cx="3840480" cy="14500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Lokale Feiertage, Messen, Promotions – bekannte Einflussfaktoren werden explizit hinterlegt statt vom Modell erraten.</a:t>
            </a:r>
          </a:p>
        </p:txBody>
      </p:sp>
      <p:sp>
        <p:nvSpPr>
          <p:cNvPr id="30" name="Card3Bg"/>
          <p:cNvSpPr/>
          <p:nvPr/>
        </p:nvSpPr>
        <p:spPr>
          <a:xfrm>
            <a:off x="411480" y="2900000"/>
            <a:ext cx="4023360" cy="19072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>
            <a:noFill/>
          </a:ln>
          <a:effectLst>
            <a:outerShdw blurRad="38100" dist="25400" dir="5400000" algn="ctr" rotWithShape="0">
              <a:srgbClr val="000000">
                <a:alpha val="15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ard3Accent"/>
          <p:cNvSpPr/>
          <p:nvPr/>
        </p:nvSpPr>
        <p:spPr>
          <a:xfrm>
            <a:off x="411480" y="2900000"/>
            <a:ext cx="402336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ard3Text"/>
          <p:cNvSpPr txBox="1"/>
          <p:nvPr/>
        </p:nvSpPr>
        <p:spPr>
          <a:xfrm>
            <a:off x="502920" y="2854280"/>
            <a:ext cx="3840480" cy="4572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📊 Wachstumsgrenzen (Cap/Floor)</a:t>
            </a:r>
          </a:p>
        </p:txBody>
      </p:sp>
      <p:sp>
        <p:nvSpPr>
          <p:cNvPr id="33" name="Card3Body"/>
          <p:cNvSpPr txBox="1"/>
          <p:nvPr/>
        </p:nvSpPr>
        <p:spPr>
          <a:xfrm>
            <a:off x="502920" y="3265760"/>
            <a:ext cx="3840480" cy="14500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Wie groß ist der Markt? Was ist realistisch? Der Analyst gibt Ober- und Untergrenzen vor – das Modell respektiert sie.</a:t>
            </a:r>
          </a:p>
        </p:txBody>
      </p:sp>
      <p:sp>
        <p:nvSpPr>
          <p:cNvPr id="40" name="Card4Bg"/>
          <p:cNvSpPr/>
          <p:nvPr/>
        </p:nvSpPr>
        <p:spPr>
          <a:xfrm>
            <a:off x="4709160" y="2900000"/>
            <a:ext cx="4023360" cy="19072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5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ard4Accent"/>
          <p:cNvSpPr/>
          <p:nvPr/>
        </p:nvSpPr>
        <p:spPr>
          <a:xfrm>
            <a:off x="4709160" y="2900000"/>
            <a:ext cx="4023360" cy="32004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ard4Text"/>
          <p:cNvSpPr txBox="1"/>
          <p:nvPr/>
        </p:nvSpPr>
        <p:spPr>
          <a:xfrm>
            <a:off x="4800600" y="2854280"/>
            <a:ext cx="3840480" cy="4572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🔍 Komponenten validieren</a:t>
            </a:r>
          </a:p>
        </p:txBody>
      </p:sp>
      <p:sp>
        <p:nvSpPr>
          <p:cNvPr id="43" name="Card4Body"/>
          <p:cNvSpPr txBox="1"/>
          <p:nvPr/>
        </p:nvSpPr>
        <p:spPr>
          <a:xfrm>
            <a:off x="4800600" y="3265760"/>
            <a:ext cx="3840480" cy="14500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Trend, Saisonalität und Events werden einzeln visualisiert – der Analyst prüft, ob die Muster zum Business-Wissen passen.</a:t>
            </a:r>
          </a:p>
        </p:txBody>
      </p:sp>
      <p:sp>
        <p:nvSpPr>
          <p:cNvPr id="50" name="Footer"/>
          <p:cNvSpPr txBox="1"/>
          <p:nvPr/>
        </p:nvSpPr>
        <p:spPr>
          <a:xfrm>
            <a:off x="411480" y="4390000"/>
            <a:ext cx="8321040" cy="27432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ctr"/>
            <a:r>
              <a:rPr sz="1200" b="0" i="1">
                <a:solidFill>
                  <a:srgbClr val="9CA3AF"/>
                </a:solidFill>
                <a:latin typeface="Calibri"/>
              </a:rPr>
              <a:t>Das unterscheidet Prophet von typischen ML-Black-Boxes: Jede Entscheidung bleibt nachvollziehbar und anpassbar.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321040" cy="6858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Typische Anwendungsfelder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4206240" cy="1847088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840480" cy="38404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mbria"/>
              </a:rPr>
              <a:t>🛍️ Retail &amp; 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3931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Umsatz- und Abverkaufsprognose</a:t>
            </a:r>
          </a:p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Lager- &amp; Bestellplanung</a:t>
            </a:r>
          </a:p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Kampagneneffekte messen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005840"/>
            <a:ext cx="4206240" cy="1847088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097280"/>
            <a:ext cx="3840480" cy="38404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mbria"/>
              </a:rPr>
              <a:t>⚡ Energie &amp; Versorgung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508760"/>
            <a:ext cx="3931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Lastprognose für Netzbetreiber</a:t>
            </a:r>
          </a:p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Verbrauchsoptimierung</a:t>
            </a:r>
          </a:p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Kapazitätsplanung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035808"/>
            <a:ext cx="4206240" cy="1847088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127248"/>
            <a:ext cx="3840480" cy="38404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mbria"/>
              </a:rPr>
              <a:t>👥 HR &amp; Personalplanung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38728"/>
            <a:ext cx="3931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Nachfrageprognose für Schichtplanung</a:t>
            </a:r>
          </a:p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Fluktuation vorhersagen</a:t>
            </a:r>
          </a:p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Recruitingbedarf abschätzen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3035808"/>
            <a:ext cx="4206240" cy="1847088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3127248"/>
            <a:ext cx="3840480" cy="38404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mbria"/>
              </a:rPr>
              <a:t>💰 Finance &amp; Controlling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538728"/>
            <a:ext cx="3931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Umsatz- und Cashflow-Planung</a:t>
            </a:r>
          </a:p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Budget-Baseline erstellen</a:t>
            </a:r>
          </a:p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Abweichungsanalyse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321040" cy="6858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Beispiel: Umsatzprognose im Einzelhandel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05840"/>
            <a:ext cx="2834640" cy="38404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600" b="1" i="0">
                <a:solidFill>
                  <a:srgbClr val="1E1B4B"/>
                </a:solidFill>
                <a:latin typeface="Cambria"/>
              </a:rPr>
              <a:t>Beobachtungen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444752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Klarer Jahresrhythmus mit Winter-Peak</a:t>
            </a:r>
          </a:p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Weihnachtsgeschäft als Outlier-Event → h(t)</a:t>
            </a:r>
          </a:p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Prognose (gelb) mit Konfidenzband</a:t>
            </a:r>
          </a:p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Changepoint im Herbst erkannt</a:t>
            </a:r>
          </a:p>
          <a:p>
            <a:pPr algn="l"/>
            <a:r>
              <a:rPr sz="1250">
                <a:solidFill>
                  <a:srgbClr val="7C3AED"/>
                </a:solidFill>
                <a:latin typeface="Calibri"/>
              </a:rPr>
              <a:t>▸  </a:t>
            </a:r>
            <a:r>
              <a:rPr sz="1350">
                <a:solidFill>
                  <a:srgbClr val="374151"/>
                </a:solidFill>
                <a:latin typeface="Calibri"/>
              </a:rPr>
              <a:t>MAPE &lt; 8% bei guter Kalibrierung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3794760"/>
            <a:ext cx="2834640" cy="822960"/>
          </a:xfrm>
          <a:prstGeom prst="roundRect">
            <a:avLst>
              <a:gd name="adj" fmla="val 10000"/>
            </a:avLst>
          </a:prstGeom>
          <a:solidFill>
            <a:srgbClr val="1E1B4B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89320" y="3831336"/>
            <a:ext cx="2697480" cy="73152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</a:rPr>
              <a:t>m = Prophet(yearly_seasonality=True)
m.add_country_holidays("DE")
m.fit(df)</a:t>
            </a:r>
          </a:p>
        </p:txBody>
      </p:sp>
      <p:pic>
        <p:nvPicPr>
          <p:cNvPr id="8" name="Picture 7" descr="prophe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66928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13232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8229600" cy="7078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600" b="1" dirty="0" err="1">
                <a:solidFill>
                  <a:srgbClr val="FFFFFF"/>
                </a:solidFill>
                <a:latin typeface="Cambria"/>
              </a:rPr>
              <a:t>Bewertung</a:t>
            </a:r>
            <a:endParaRPr sz="46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731520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900" b="0" dirty="0" err="1">
                <a:solidFill>
                  <a:srgbClr val="EDE9FE"/>
                </a:solidFill>
                <a:latin typeface="Calibri"/>
              </a:rPr>
              <a:t>Stärken</a:t>
            </a:r>
            <a:r>
              <a:rPr lang="de-DE" sz="1900" dirty="0">
                <a:solidFill>
                  <a:srgbClr val="EDE9FE"/>
                </a:solidFill>
                <a:latin typeface="Calibri"/>
              </a:rPr>
              <a:t> und </a:t>
            </a:r>
            <a:r>
              <a:rPr sz="1900" b="0" dirty="0" err="1">
                <a:solidFill>
                  <a:srgbClr val="EDE9FE"/>
                </a:solidFill>
                <a:latin typeface="Calibri"/>
              </a:rPr>
              <a:t>Schwächen</a:t>
            </a:r>
            <a:endParaRPr sz="1900" b="0" dirty="0">
              <a:solidFill>
                <a:srgbClr val="EDE9F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321040" cy="6858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Stärken &amp; Schwächen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4251960" cy="3977639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3840480" cy="4572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  <a:latin typeface="Cambria"/>
              </a:rPr>
              <a:t>✓  Stärken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059669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Einfache, intuitive API (3 Zeilen Code)</a:t>
            </a:r>
          </a:p>
          <a:p>
            <a:pPr algn="l"/>
            <a:r>
              <a:rPr sz="1300">
                <a:solidFill>
                  <a:srgbClr val="059669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Automatische Saisonalitätserkennung</a:t>
            </a:r>
          </a:p>
          <a:p>
            <a:pPr algn="l"/>
            <a:r>
              <a:rPr sz="1300">
                <a:solidFill>
                  <a:srgbClr val="059669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Feiertage &amp; Custom Events direkt integrierbar</a:t>
            </a:r>
          </a:p>
          <a:p>
            <a:pPr algn="l"/>
            <a:r>
              <a:rPr sz="1300">
                <a:solidFill>
                  <a:srgbClr val="059669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Robust gegen fehlende Werte &amp; Ausreißer</a:t>
            </a:r>
          </a:p>
          <a:p>
            <a:pPr algn="l"/>
            <a:r>
              <a:rPr sz="1300">
                <a:solidFill>
                  <a:srgbClr val="059669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Sehr gute Erklärbarkeit (Komponentenplots)</a:t>
            </a:r>
          </a:p>
          <a:p>
            <a:pPr algn="l"/>
            <a:r>
              <a:rPr sz="1300">
                <a:solidFill>
                  <a:srgbClr val="059669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Skalierbar für viele parallele Zeitreihen</a:t>
            </a:r>
          </a:p>
          <a:p>
            <a:pPr algn="l"/>
            <a:r>
              <a:rPr sz="1300">
                <a:solidFill>
                  <a:srgbClr val="059669"/>
                </a:solidFill>
                <a:latin typeface="Calibri"/>
              </a:rPr>
              <a:t>▸  </a:t>
            </a:r>
            <a:r>
              <a:rPr sz="1400">
                <a:solidFill>
                  <a:srgbClr val="374151"/>
                </a:solidFill>
                <a:latin typeface="Calibri"/>
              </a:rPr>
              <a:t>Aktive Community &amp; gute Dokumentation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960120"/>
            <a:ext cx="4069080" cy="3977639"/>
          </a:xfrm>
          <a:prstGeom prst="roundRect">
            <a:avLst>
              <a:gd name="adj" fmla="val 10000"/>
            </a:avLst>
          </a:prstGeom>
          <a:solidFill>
            <a:srgbClr val="FFF1F1"/>
          </a:solidFill>
          <a:ln>
            <a:noFill/>
          </a:ln>
          <a:effectLst>
            <a:outerShdw blurRad="38100" dist="25400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92040" y="1024128"/>
            <a:ext cx="3657600" cy="4572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  <a:latin typeface="Cambria"/>
              </a:rPr>
              <a:t>✗  Schwächen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50876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>
                <a:solidFill>
                  <a:srgbClr val="DC2626"/>
                </a:solidFill>
                <a:latin typeface="Calibri"/>
              </a:rPr>
              <a:t>▸ 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Benötigt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mind. 2 Jahre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Daten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für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Jahressaisonalität</a:t>
            </a:r>
            <a:endParaRPr sz="1400" dirty="0">
              <a:solidFill>
                <a:srgbClr val="374151"/>
              </a:solidFill>
              <a:latin typeface="Calibri"/>
            </a:endParaRPr>
          </a:p>
          <a:p>
            <a:pPr algn="l"/>
            <a:r>
              <a:rPr sz="1300" dirty="0">
                <a:solidFill>
                  <a:srgbClr val="DC2626"/>
                </a:solidFill>
                <a:latin typeface="Calibri"/>
              </a:rPr>
              <a:t>▸  </a:t>
            </a:r>
            <a:r>
              <a:rPr sz="1400" dirty="0">
                <a:solidFill>
                  <a:srgbClr val="374151"/>
                </a:solidFill>
                <a:latin typeface="Calibri"/>
              </a:rPr>
              <a:t>Nicht ideal für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sehr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kurzfristige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Prognosen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(&lt; 1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Woche</a:t>
            </a:r>
            <a:r>
              <a:rPr sz="1400" dirty="0">
                <a:solidFill>
                  <a:srgbClr val="374151"/>
                </a:solidFill>
                <a:latin typeface="Calibri"/>
              </a:rPr>
              <a:t>)</a:t>
            </a:r>
          </a:p>
          <a:p>
            <a:pPr algn="l"/>
            <a:r>
              <a:rPr sz="1300" dirty="0">
                <a:solidFill>
                  <a:srgbClr val="DC2626"/>
                </a:solidFill>
                <a:latin typeface="Calibri"/>
              </a:rPr>
              <a:t>▸  </a:t>
            </a:r>
            <a:r>
              <a:rPr sz="1400" dirty="0">
                <a:solidFill>
                  <a:srgbClr val="374151"/>
                </a:solidFill>
                <a:latin typeface="Calibri"/>
              </a:rPr>
              <a:t>Multivariate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Einflüsse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nur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begrenzt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Regressoren</a:t>
            </a:r>
            <a:r>
              <a:rPr sz="1400" dirty="0">
                <a:solidFill>
                  <a:srgbClr val="374151"/>
                </a:solidFill>
                <a:latin typeface="Calibri"/>
              </a:rPr>
              <a:t>)</a:t>
            </a:r>
          </a:p>
          <a:p>
            <a:pPr algn="l"/>
            <a:r>
              <a:rPr sz="1300" dirty="0">
                <a:solidFill>
                  <a:srgbClr val="DC2626"/>
                </a:solidFill>
                <a:latin typeface="Calibri"/>
              </a:rPr>
              <a:t>▸  </a:t>
            </a:r>
            <a:r>
              <a:rPr sz="1400" dirty="0">
                <a:solidFill>
                  <a:srgbClr val="374151"/>
                </a:solidFill>
                <a:latin typeface="Calibri"/>
              </a:rPr>
              <a:t>Keine native Multistep-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Fehlerkorrektur</a:t>
            </a:r>
            <a:endParaRPr sz="1400" dirty="0">
              <a:solidFill>
                <a:srgbClr val="374151"/>
              </a:solidFill>
              <a:latin typeface="Calibri"/>
            </a:endParaRPr>
          </a:p>
          <a:p>
            <a:pPr algn="l"/>
            <a:r>
              <a:rPr sz="1300" dirty="0">
                <a:solidFill>
                  <a:srgbClr val="DC2626"/>
                </a:solidFill>
                <a:latin typeface="Calibri"/>
              </a:rPr>
              <a:t>▸  </a:t>
            </a:r>
            <a:r>
              <a:rPr sz="1400" dirty="0">
                <a:solidFill>
                  <a:srgbClr val="374151"/>
                </a:solidFill>
                <a:latin typeface="Calibri"/>
              </a:rPr>
              <a:t>Kann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komplexe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nichtlineare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Muster nicht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erfassen</a:t>
            </a:r>
            <a:endParaRPr sz="1400" dirty="0">
              <a:solidFill>
                <a:srgbClr val="374151"/>
              </a:solidFill>
              <a:latin typeface="Calibri"/>
            </a:endParaRPr>
          </a:p>
          <a:p>
            <a:pPr algn="l"/>
            <a:r>
              <a:rPr sz="1300" dirty="0">
                <a:solidFill>
                  <a:srgbClr val="DC2626"/>
                </a:solidFill>
                <a:latin typeface="Calibri"/>
              </a:rPr>
              <a:t>▸ 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Langsamer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als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einfache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statistische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Methoden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Calibri"/>
              </a:rPr>
              <a:t>bei</a:t>
            </a:r>
            <a:r>
              <a:rPr sz="1400" dirty="0">
                <a:solidFill>
                  <a:srgbClr val="374151"/>
                </a:solidFill>
                <a:latin typeface="Calibri"/>
              </a:rPr>
              <a:t> MCMC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321040" cy="6858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Zusammenfassung</a:t>
            </a:r>
          </a:p>
        </p:txBody>
      </p:sp>
      <p:sp>
        <p:nvSpPr>
          <p:cNvPr id="3" name="Oval 2"/>
          <p:cNvSpPr/>
          <p:nvPr/>
        </p:nvSpPr>
        <p:spPr>
          <a:xfrm>
            <a:off x="365760" y="10972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6070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069848"/>
            <a:ext cx="2743200" cy="3657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mbria"/>
              </a:rPr>
              <a:t>Additives Modell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408176"/>
            <a:ext cx="7726679" cy="50292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Calibri"/>
              </a:rPr>
              <a:t>y(t) = g(t) + s(t) + h(t) + ε(t) – jede Komponente ist interpretierbar und separat visualisierbar.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8412480" cy="1371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65760" y="2066544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0299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39112"/>
            <a:ext cx="2743200" cy="3657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mbria"/>
              </a:rPr>
              <a:t>Business-ready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7726679" cy="50292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Calibri"/>
              </a:rPr>
              <a:t>Feiertage, Changepoints und fehlende Daten werden automatisch berücksichtigt – mit wenig Code und ohne Deep-ML-Expertise.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07792"/>
            <a:ext cx="8412480" cy="1371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5760" y="30358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9992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08376"/>
            <a:ext cx="2743200" cy="3657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mbria"/>
              </a:rPr>
              <a:t>Stärken kennen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346704"/>
            <a:ext cx="7726679" cy="50292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50" b="0" i="0" dirty="0">
                <a:solidFill>
                  <a:srgbClr val="374151"/>
                </a:solidFill>
                <a:latin typeface="Calibri"/>
              </a:rPr>
              <a:t>Prophet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glänzt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bei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jährlichen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Zyklen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,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klaren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 Trends und Business-Events. Bei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kurzen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Reihen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oder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komplexen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Abhängigkeiten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: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Alternativen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prüfen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77056"/>
            <a:ext cx="8412480" cy="1371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65760" y="4005072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96849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77640"/>
            <a:ext cx="2743200" cy="3657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mbria"/>
              </a:rPr>
              <a:t>Nächste Schritte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15968"/>
            <a:ext cx="7726679" cy="310341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50" b="0" i="0" dirty="0">
                <a:solidFill>
                  <a:srgbClr val="374151"/>
                </a:solidFill>
                <a:latin typeface="Calibri"/>
              </a:rPr>
              <a:t>Demo &amp; Tutorial: </a:t>
            </a:r>
            <a:r>
              <a:rPr lang="de-DE" sz="1350" b="0" i="0" dirty="0">
                <a:solidFill>
                  <a:srgbClr val="374151"/>
                </a:solidFill>
                <a:latin typeface="Calibri"/>
              </a:rPr>
              <a:t>Demo mit echten Daten und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selbst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ausprobieren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mit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 </a:t>
            </a:r>
            <a:r>
              <a:rPr lang="de-DE" sz="1350" dirty="0">
                <a:solidFill>
                  <a:srgbClr val="374151"/>
                </a:solidFill>
                <a:latin typeface="Calibri"/>
              </a:rPr>
              <a:t>synthetischen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374151"/>
                </a:solidFill>
                <a:latin typeface="Calibri"/>
              </a:rPr>
              <a:t>Daten</a:t>
            </a:r>
            <a:r>
              <a:rPr sz="1350" b="0" i="0" dirty="0">
                <a:solidFill>
                  <a:srgbClr val="374151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-182880"/>
            <a:ext cx="4114800" cy="539496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7C3AED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572000" cy="10058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mbria"/>
              </a:rPr>
              <a:t>Vielen Dank!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4572000" cy="59436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2400" b="0" i="0">
                <a:solidFill>
                  <a:srgbClr val="EDE9FE"/>
                </a:solidFill>
                <a:latin typeface="Calibri"/>
              </a:rPr>
              <a:t>Fragen &amp; Diskussion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4572000" cy="77724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Prophet Docs:  facebook.github.io/prophet
Paper:  Taylor &amp; Letham (2018), PeerJ Preprints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C9C7702-40C8-CA6A-99FD-5F256E9E7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614" y="0"/>
            <a:ext cx="4119675" cy="5143500"/>
          </a:xfrm>
          <a:prstGeom prst="rect">
            <a:avLst/>
          </a:prstGeom>
        </p:spPr>
      </p:pic>
      <p:sp>
        <p:nvSpPr>
          <p:cNvPr id="60" name="Dot 1"/>
          <p:cNvSpPr/>
          <p:nvPr/>
        </p:nvSpPr>
        <p:spPr>
          <a:xfrm>
            <a:off x="482600" y="228600"/>
            <a:ext cx="38100" cy="381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Dot 2"/>
          <p:cNvSpPr/>
          <p:nvPr/>
        </p:nvSpPr>
        <p:spPr>
          <a:xfrm>
            <a:off x="660400" y="3810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Dot 3"/>
          <p:cNvSpPr/>
          <p:nvPr/>
        </p:nvSpPr>
        <p:spPr>
          <a:xfrm>
            <a:off x="558800" y="558800"/>
            <a:ext cx="31750" cy="3175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Dot 4"/>
          <p:cNvSpPr/>
          <p:nvPr/>
        </p:nvSpPr>
        <p:spPr>
          <a:xfrm>
            <a:off x="838200" y="279400"/>
            <a:ext cx="25400" cy="25400"/>
          </a:xfrm>
          <a:prstGeom prst="ellipse">
            <a:avLst/>
          </a:prstGeom>
          <a:solidFill>
            <a:srgbClr val="D8CC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Dot 5"/>
          <p:cNvSpPr/>
          <p:nvPr/>
        </p:nvSpPr>
        <p:spPr>
          <a:xfrm>
            <a:off x="914400" y="50800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Dot 6"/>
          <p:cNvSpPr/>
          <p:nvPr/>
        </p:nvSpPr>
        <p:spPr>
          <a:xfrm>
            <a:off x="1117600" y="393700"/>
            <a:ext cx="38100" cy="381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Dot 7"/>
          <p:cNvSpPr/>
          <p:nvPr/>
        </p:nvSpPr>
        <p:spPr>
          <a:xfrm>
            <a:off x="1270000" y="6096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Dot 8"/>
          <p:cNvSpPr/>
          <p:nvPr/>
        </p:nvSpPr>
        <p:spPr>
          <a:xfrm>
            <a:off x="1905000" y="279400"/>
            <a:ext cx="31750" cy="3175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Dot 9"/>
          <p:cNvSpPr/>
          <p:nvPr/>
        </p:nvSpPr>
        <p:spPr>
          <a:xfrm>
            <a:off x="2349500" y="508000"/>
            <a:ext cx="19050" cy="19050"/>
          </a:xfrm>
          <a:prstGeom prst="ellipse">
            <a:avLst/>
          </a:prstGeom>
          <a:solidFill>
            <a:srgbClr val="D8CC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Dot 10"/>
          <p:cNvSpPr/>
          <p:nvPr/>
        </p:nvSpPr>
        <p:spPr>
          <a:xfrm>
            <a:off x="2921000" y="2032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Dot 11"/>
          <p:cNvSpPr/>
          <p:nvPr/>
        </p:nvSpPr>
        <p:spPr>
          <a:xfrm>
            <a:off x="3810000" y="381000"/>
            <a:ext cx="31750" cy="3175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Dot 12"/>
          <p:cNvSpPr/>
          <p:nvPr/>
        </p:nvSpPr>
        <p:spPr>
          <a:xfrm>
            <a:off x="3327400" y="66040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Dot 13"/>
          <p:cNvSpPr/>
          <p:nvPr/>
        </p:nvSpPr>
        <p:spPr>
          <a:xfrm>
            <a:off x="7620000" y="304800"/>
            <a:ext cx="38100" cy="381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Dot 14"/>
          <p:cNvSpPr/>
          <p:nvPr/>
        </p:nvSpPr>
        <p:spPr>
          <a:xfrm>
            <a:off x="7937500" y="203200"/>
            <a:ext cx="25400" cy="25400"/>
          </a:xfrm>
          <a:prstGeom prst="ellipse">
            <a:avLst/>
          </a:prstGeom>
          <a:solidFill>
            <a:srgbClr val="D8CC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Dot 15"/>
          <p:cNvSpPr/>
          <p:nvPr/>
        </p:nvSpPr>
        <p:spPr>
          <a:xfrm>
            <a:off x="8191500" y="43180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Dot 16"/>
          <p:cNvSpPr/>
          <p:nvPr/>
        </p:nvSpPr>
        <p:spPr>
          <a:xfrm>
            <a:off x="8483600" y="254000"/>
            <a:ext cx="25400" cy="254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Dot 17"/>
          <p:cNvSpPr/>
          <p:nvPr/>
        </p:nvSpPr>
        <p:spPr>
          <a:xfrm>
            <a:off x="8763000" y="50800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Dot 18"/>
          <p:cNvSpPr/>
          <p:nvPr/>
        </p:nvSpPr>
        <p:spPr>
          <a:xfrm>
            <a:off x="8953500" y="330200"/>
            <a:ext cx="19050" cy="1905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Dot 19"/>
          <p:cNvSpPr/>
          <p:nvPr/>
        </p:nvSpPr>
        <p:spPr>
          <a:xfrm>
            <a:off x="8382000" y="698500"/>
            <a:ext cx="25400" cy="25400"/>
          </a:xfrm>
          <a:prstGeom prst="ellipse">
            <a:avLst/>
          </a:prstGeom>
          <a:solidFill>
            <a:srgbClr val="D8CC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Dot 20"/>
          <p:cNvSpPr/>
          <p:nvPr/>
        </p:nvSpPr>
        <p:spPr>
          <a:xfrm>
            <a:off x="8699500" y="889000"/>
            <a:ext cx="31750" cy="317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Dot 21"/>
          <p:cNvSpPr/>
          <p:nvPr/>
        </p:nvSpPr>
        <p:spPr>
          <a:xfrm>
            <a:off x="8890000" y="1270000"/>
            <a:ext cx="25400" cy="254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Dot 22"/>
          <p:cNvSpPr/>
          <p:nvPr/>
        </p:nvSpPr>
        <p:spPr>
          <a:xfrm>
            <a:off x="8128000" y="114300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Dot 23"/>
          <p:cNvSpPr/>
          <p:nvPr/>
        </p:nvSpPr>
        <p:spPr>
          <a:xfrm>
            <a:off x="7874000" y="1651000"/>
            <a:ext cx="25400" cy="254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Dot 24"/>
          <p:cNvSpPr/>
          <p:nvPr/>
        </p:nvSpPr>
        <p:spPr>
          <a:xfrm>
            <a:off x="8382000" y="2057400"/>
            <a:ext cx="19050" cy="19050"/>
          </a:xfrm>
          <a:prstGeom prst="ellipse">
            <a:avLst/>
          </a:prstGeom>
          <a:solidFill>
            <a:srgbClr val="D8CC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" name="Dot 25"/>
          <p:cNvSpPr/>
          <p:nvPr/>
        </p:nvSpPr>
        <p:spPr>
          <a:xfrm>
            <a:off x="8915400" y="26670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Dot 26"/>
          <p:cNvSpPr/>
          <p:nvPr/>
        </p:nvSpPr>
        <p:spPr>
          <a:xfrm>
            <a:off x="8636000" y="3175000"/>
            <a:ext cx="31750" cy="3175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6" name="Dot 27"/>
          <p:cNvSpPr/>
          <p:nvPr/>
        </p:nvSpPr>
        <p:spPr>
          <a:xfrm>
            <a:off x="8255000" y="41910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7" name="Dot 28"/>
          <p:cNvSpPr/>
          <p:nvPr/>
        </p:nvSpPr>
        <p:spPr>
          <a:xfrm>
            <a:off x="8585200" y="4521200"/>
            <a:ext cx="31750" cy="3175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8" name="Dot 29"/>
          <p:cNvSpPr/>
          <p:nvPr/>
        </p:nvSpPr>
        <p:spPr>
          <a:xfrm>
            <a:off x="8890000" y="4089400"/>
            <a:ext cx="19050" cy="19050"/>
          </a:xfrm>
          <a:prstGeom prst="ellipse">
            <a:avLst/>
          </a:prstGeom>
          <a:solidFill>
            <a:srgbClr val="D8CC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9" name="Dot 30"/>
          <p:cNvSpPr/>
          <p:nvPr/>
        </p:nvSpPr>
        <p:spPr>
          <a:xfrm>
            <a:off x="8128000" y="3810000"/>
            <a:ext cx="25400" cy="2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Dot 31"/>
          <p:cNvSpPr/>
          <p:nvPr/>
        </p:nvSpPr>
        <p:spPr>
          <a:xfrm>
            <a:off x="177800" y="1524000"/>
            <a:ext cx="31750" cy="3175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Dot 32"/>
          <p:cNvSpPr/>
          <p:nvPr/>
        </p:nvSpPr>
        <p:spPr>
          <a:xfrm>
            <a:off x="254000" y="254000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Dot 33"/>
          <p:cNvSpPr/>
          <p:nvPr/>
        </p:nvSpPr>
        <p:spPr>
          <a:xfrm>
            <a:off x="127000" y="3556000"/>
            <a:ext cx="25400" cy="254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Dot 34"/>
          <p:cNvSpPr/>
          <p:nvPr/>
        </p:nvSpPr>
        <p:spPr>
          <a:xfrm>
            <a:off x="228600" y="4470400"/>
            <a:ext cx="25400" cy="25400"/>
          </a:xfrm>
          <a:prstGeom prst="ellipse">
            <a:avLst/>
          </a:prstGeom>
          <a:solidFill>
            <a:srgbClr val="D8CC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" name="Dot 35"/>
          <p:cNvSpPr/>
          <p:nvPr/>
        </p:nvSpPr>
        <p:spPr>
          <a:xfrm>
            <a:off x="1524000" y="95250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" name="Dot 36"/>
          <p:cNvSpPr/>
          <p:nvPr/>
        </p:nvSpPr>
        <p:spPr>
          <a:xfrm>
            <a:off x="4216400" y="1016000"/>
            <a:ext cx="25400" cy="25400"/>
          </a:xfrm>
          <a:prstGeom prst="ellipse">
            <a:avLst/>
          </a:prstGeom>
          <a:solidFill>
            <a:srgbClr val="F4D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" name="Dot 37"/>
          <p:cNvSpPr/>
          <p:nvPr/>
        </p:nvSpPr>
        <p:spPr>
          <a:xfrm>
            <a:off x="2603500" y="1168400"/>
            <a:ext cx="19050" cy="190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321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mph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7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0" presetClass="emph" repeatCount="indefinite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0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emph" repeatCount="indefinite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3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0" presetClass="emph" repeatCount="indefinite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6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0" presetClass="emph" repeatCount="indefinite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9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0" presetClass="emph" repeatCount="indefinite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22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emph" repeatCount="indefinite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25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emph" repeatCount="indefinite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28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0" presetClass="emph" repeatCount="indefinite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0" dur="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31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0" presetClass="emph" repeatCount="indefinite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34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0" presetClass="emph" repeatCount="indefinite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6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37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0" presetClass="emph" repeatCount="indefinite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9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40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emph" repeatCount="indefinite" fill="hold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42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43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0" presetClass="emph" repeatCount="indefinite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5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46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emph" repeatCount="indefinite" fill="hold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48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49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0" presetClass="emph" repeatCount="indefinite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52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emph" repeatCount="indefinite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55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0" presetClass="emph" repeatCount="indefinite" fill="hold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57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58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0" presetClass="emph" repeatCount="indefinite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0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61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0" presetClass="emph" repeatCount="indefinite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63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64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emph" repeatCount="indefinite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67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0" presetClass="emph" repeatCount="indefinite" fill="hold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69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70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0" presetClass="emph" repeatCount="indefinite" fill="hold" nodeType="with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72" dur="2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73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0" presetClass="emph" repeatCount="indefinite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5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76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0" presetClass="emph" repeatCount="indefinite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8" dur="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79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0" presetClass="emph" repeatCount="indefinite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1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82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0" presetClass="emph" repeatCount="indefinite" fill="hold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84" dur="2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85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0" presetClass="emph" repeatCount="indefinite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7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88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emph" repeatCount="indefinite" fill="hold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90" dur="2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91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0" presetClass="emph" repeatCount="indefinite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3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94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0" presetClass="emph" repeatCount="indefinite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6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97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0" presetClass="emph" repeatCount="indefinite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99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00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0" presetClass="emph" repeatCount="indefinite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2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03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0" presetClass="emph" repeatCount="indefinite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05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06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0" presetClass="emph" repeatCount="indefinite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08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09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0" presetClass="emph" repeatCount="indefinite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1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12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0" presetClass="emph" repeatCount="indefinite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14" dur="2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115" dur="7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321040" cy="685800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Methodenvergleich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87552"/>
            <a:ext cx="1737360" cy="43891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87552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Kriterium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2139696" y="987552"/>
            <a:ext cx="1554480" cy="438912"/>
          </a:xfrm>
          <a:prstGeom prst="rect">
            <a:avLst/>
          </a:prstGeom>
          <a:solidFill>
            <a:srgbClr val="6B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39696" y="9875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ARIMA</a:t>
            </a:r>
          </a:p>
        </p:txBody>
      </p:sp>
      <p:sp>
        <p:nvSpPr>
          <p:cNvPr id="7" name="Rectangle 6"/>
          <p:cNvSpPr/>
          <p:nvPr/>
        </p:nvSpPr>
        <p:spPr>
          <a:xfrm>
            <a:off x="3730752" y="987552"/>
            <a:ext cx="137160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30752" y="987552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38928" y="987552"/>
            <a:ext cx="155448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38928" y="9875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Prophet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9984" y="987552"/>
            <a:ext cx="1645920" cy="43891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9984" y="98755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Chronos (LLM)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44752"/>
            <a:ext cx="173736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444752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Feiertage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9696" y="1444752"/>
            <a:ext cx="155448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39696" y="14447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DC2626"/>
                </a:solidFill>
                <a:latin typeface="Calibri"/>
              </a:rPr>
              <a:t>✗ Manuell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30752" y="1444752"/>
            <a:ext cx="137160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30752" y="1444752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DC2626"/>
                </a:solidFill>
                <a:latin typeface="Calibri"/>
              </a:rPr>
              <a:t>✗ Manuell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38928" y="1444752"/>
            <a:ext cx="1554480" cy="438912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38928" y="14447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/>
              </a:rPr>
              <a:t>✓ Integriert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9984" y="1444752"/>
            <a:ext cx="164592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9984" y="144475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~ Implizit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901952"/>
            <a:ext cx="173736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1901952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Saisonalität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39696" y="1901952"/>
            <a:ext cx="155448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39696" y="19019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/>
              </a:rPr>
              <a:t>✓ Manuell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30752" y="1901952"/>
            <a:ext cx="137160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30752" y="1901952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/>
              </a:rPr>
              <a:t>✓ Auto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38928" y="1901952"/>
            <a:ext cx="1554480" cy="438912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38928" y="19019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/>
              </a:rPr>
              <a:t>✓ Auto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9984" y="1901952"/>
            <a:ext cx="164592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9984" y="190195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/>
              </a:rPr>
              <a:t>✓ Auto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359152"/>
            <a:ext cx="173736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359152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Missing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39696" y="2359152"/>
            <a:ext cx="155448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39696" y="23591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DC2626"/>
                </a:solidFill>
                <a:latin typeface="Calibri"/>
              </a:rPr>
              <a:t>✗ Problem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30752" y="2359152"/>
            <a:ext cx="137160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30752" y="2359152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DC2626"/>
                </a:solidFill>
                <a:latin typeface="Calibri"/>
              </a:rPr>
              <a:t>✗ Problem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38928" y="2359152"/>
            <a:ext cx="1554480" cy="438912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38928" y="23591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/>
              </a:rPr>
              <a:t>✓ Robust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9984" y="2359152"/>
            <a:ext cx="164592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29984" y="235915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/>
              </a:rPr>
              <a:t>✓ Robust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816352"/>
            <a:ext cx="173736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2816352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Erklärbarkeit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39696" y="2816352"/>
            <a:ext cx="155448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139696" y="28163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~ Mittel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30752" y="2816352"/>
            <a:ext cx="137160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730752" y="2816352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/>
              </a:rPr>
              <a:t>✓ Hoch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38928" y="2816352"/>
            <a:ext cx="1554480" cy="438912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38928" y="28163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/>
              </a:rPr>
              <a:t>✓ Hoch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9984" y="2816352"/>
            <a:ext cx="164592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729984" y="281635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DC2626"/>
                </a:solidFill>
                <a:latin typeface="Calibri"/>
              </a:rPr>
              <a:t>✗ Gering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273552"/>
            <a:ext cx="173736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0" y="3273552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Daten nötig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39696" y="3273552"/>
            <a:ext cx="155448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139696" y="32735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~&lt; 50 Pkt.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30752" y="3273552"/>
            <a:ext cx="137160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730752" y="3273552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~&lt; 50 Pkt.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38928" y="3273552"/>
            <a:ext cx="1554480" cy="438912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138928" y="32735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&gt; 2 Jahre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29984" y="3273552"/>
            <a:ext cx="164592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729984" y="327355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Wenig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730752"/>
            <a:ext cx="173736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65760" y="3730752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Trainingszeit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39696" y="3730752"/>
            <a:ext cx="155448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139696" y="37307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⚡ Schnell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30752" y="3730752"/>
            <a:ext cx="137160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730752" y="3730752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⚡ Schnell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38928" y="3730752"/>
            <a:ext cx="1554480" cy="438912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138928" y="37307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⚡ Schnell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29984" y="3730752"/>
            <a:ext cx="1645920" cy="43891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729984" y="373075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🐢 Langsam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187952"/>
            <a:ext cx="173736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" y="4187952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Automatisierung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139696" y="4187952"/>
            <a:ext cx="155448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139696" y="41879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  <a:latin typeface="Calibri"/>
              </a:rPr>
              <a:t>~ Mittel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730752" y="4187952"/>
            <a:ext cx="137160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730752" y="4187952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/>
              </a:rPr>
              <a:t>✓ Hoch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38928" y="4187952"/>
            <a:ext cx="1554480" cy="438912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138928" y="4187952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/>
              </a:rPr>
              <a:t>✓ Hoch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29984" y="4187952"/>
            <a:ext cx="1645920" cy="438912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729984" y="418795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/>
              </a:rPr>
              <a:t>✓ Hoch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4DBEF08-52E0-4AFD-BC26-913C25B5361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3ad7711-9cf2-4eb0-927f-758e7615b17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2030</Words>
  <Application>Microsoft Office PowerPoint</Application>
  <PresentationFormat>Bildschirmpräsentation (16:9)</PresentationFormat>
  <Paragraphs>259</Paragraphs>
  <Slides>20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Kai Steffen</dc:creator>
  <cp:keywords/>
  <dc:description>generated using python-pptx</dc:description>
  <cp:lastModifiedBy>Kai Steffen</cp:lastModifiedBy>
  <cp:revision>7</cp:revision>
  <dcterms:created xsi:type="dcterms:W3CDTF">2013-01-27T09:14:16Z</dcterms:created>
  <dcterms:modified xsi:type="dcterms:W3CDTF">2026-06-20T23:57:16Z</dcterms:modified>
  <cp:category/>
</cp:coreProperties>
</file>