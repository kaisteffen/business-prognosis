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88" r:id="rId3"/>
    <p:sldId id="256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71" r:id="rId16"/>
    <p:sldId id="270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583AD-CDE3-DB6A-2BE1-FA1570513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CDB90D-67D1-F6E8-041C-C760A510F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8A37CF-2C17-59D3-76DB-FD568DC21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17B027-A38E-3C92-44AF-E1162D17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4E0DB-0CDB-3C53-3932-38D9B344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107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FBFE5-8229-B234-C294-E205AED5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927AFC-69AA-EB76-2B97-4A6533DD8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C91CD-06EA-BDDD-78F9-1108B9E4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2857FB-3984-4E66-E91D-3C5F8867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F4453E-A5C7-BC83-4403-1C728E9C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57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A56E9-5B5A-7529-65AD-D1ECA1AD1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AB3DC9-F3E3-EAF3-CD43-E84E147F7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AB300A-EEDA-7D76-BD5E-C510BCF4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99F746-A634-B4CB-0805-471D8BD3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5CFA9D-B043-E9EF-C951-7FC86664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980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B9C5B8-D48D-E58E-E29B-D4B103B5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1D97A-1436-30AF-C12C-76F59469E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9516AA-1C3E-2AF2-5620-E404C4DC4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3FB2BD-8443-9A5D-C2E1-85BE6449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418460-5D93-C72F-58BD-DA8D693E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38B303-88B2-BA3D-F9EB-05A41828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690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0BB33-37C0-F258-E464-C8D98BC3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95D08F-C05C-1CD9-54FD-1AFE5345C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EE6B9D-5749-3D89-4295-3A7184773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04D48B-7963-EEB2-84F6-2117B56DB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724A26C-5547-5807-135D-D50F79392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04DF78F-E5C8-4172-283D-B46BF843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EF5DC79-5A98-8DB3-5010-4E34EC0B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1F748B8-FB10-133F-D527-F690BCFE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71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28315-A65F-41E3-6274-A1AD833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FF4771-22EA-6BA1-7FFB-36C47444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495078-8293-F8D5-0C69-3D074EFC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310D68-D52F-337C-0665-6F3516BE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433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622CA6-72DD-907D-5AC2-BFB6ABDD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C0FA10-07F7-4361-80B5-19C40D70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92D890-A0EF-234A-7F84-D8D51473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175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BAE4D-A700-D8D0-EBE8-BC5FB4DD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4261D6-980C-37B9-2D94-0F3608113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8B58E7-D15D-5055-CACC-D90B3C9F2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89FC8F-9B53-C0C2-4E29-CBC4F4E5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4E8A90-DCF3-A7CF-6D37-D56D9662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DF4E4E-0C33-EC2A-9178-C766D596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02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28B67-637E-0A9E-DB13-B9789326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4A4D03C-4A56-97A5-3803-D70B39319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195A22-5D75-6E2C-84C3-6CCBA3BB5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DA00AC-5DD5-B2D7-AA1C-B8574E4C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092FC3-5549-BFB4-4505-76C378A4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F59870-5985-EC0E-C2A0-4CD533C5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45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5D8C46-0DE7-90CA-F508-B38F892C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489D3DD-E307-9267-F43E-3A21D48D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024306-28BA-2213-B8FE-7D1C3885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B0CE41-345E-DEE0-13BE-A6871FEC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61C79E-993A-CE95-B563-222E531BE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61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2CD1CC9-B3A7-C641-2AF7-80883FC16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92E1C1-6531-2A69-0AAE-3C86A08A8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7FC532-07FE-993D-6ACF-FBC32946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5FF4A5-0C72-36C8-3B3C-AC73B3B0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CFA57D-86AF-9E7D-5F83-D9E7024E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25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C844BB-2994-B04F-0C2A-F5A3483A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1A40D9-8151-F620-5B78-785E1D348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C986B5-4E0C-5A4E-23B4-13B80549A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19D340-7817-3656-08E9-D32439E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DE3AB8-52F3-4CD4-C2F9-45ACEFDCC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30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amazon/chronos-2" TargetMode="External"/><Relationship Id="rId2" Type="http://schemas.openxmlformats.org/officeDocument/2006/relationships/hyperlink" Target="https://facebook.github.io/prophet/docs/multiplicative_seasonality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42939F-4887-0BD4-B517-917CB9D9C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9F25507-5CA9-72CA-C05C-B7D87979B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B53D9C5-6623-3C26-FA1E-9F7D3AC08078}"/>
              </a:ext>
            </a:extLst>
          </p:cNvPr>
          <p:cNvSpPr txBox="1"/>
          <p:nvPr/>
        </p:nvSpPr>
        <p:spPr>
          <a:xfrm>
            <a:off x="2252247" y="1122364"/>
            <a:ext cx="68932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Slides 20–25 min Method overview, math, business context</a:t>
            </a:r>
          </a:p>
          <a:p>
            <a:r>
              <a:rPr lang="en-US" dirty="0"/>
              <a:t>Live Demo 15–20 min </a:t>
            </a:r>
            <a:r>
              <a:rPr lang="en-US" dirty="0" err="1"/>
              <a:t>Jupyter</a:t>
            </a:r>
            <a:r>
              <a:rPr lang="en-US" dirty="0"/>
              <a:t> notebook walkthrough</a:t>
            </a:r>
          </a:p>
          <a:p>
            <a:r>
              <a:rPr lang="en-US" dirty="0"/>
              <a:t>Hands-on 15–20 min Peers work through exercise</a:t>
            </a:r>
          </a:p>
          <a:p>
            <a:r>
              <a:rPr lang="en-US" dirty="0"/>
              <a:t>Discussion 10 min Q&amp;A, comparison with other methods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6134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73B8FE-C8A4-9392-133D-0BC9BB8C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20" y="242099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e-DE" sz="1300" b="1" dirty="0"/>
              <a:t>Warum Flugdaten didaktisch stark sind</a:t>
            </a:r>
            <a:br>
              <a:rPr lang="de-DE" sz="1300" b="1" dirty="0"/>
            </a:br>
            <a:r>
              <a:rPr lang="de-DE" sz="1300" b="1" dirty="0"/>
              <a:t>Klarer Business-Kontext:</a:t>
            </a:r>
            <a:r>
              <a:rPr lang="de-DE" sz="1300" dirty="0"/>
              <a:t> Nachfrage nach Flügen ist ein klassisches </a:t>
            </a:r>
            <a:r>
              <a:rPr lang="de-DE" sz="1300" dirty="0" err="1"/>
              <a:t>Forecasting</a:t>
            </a:r>
            <a:r>
              <a:rPr lang="de-DE" sz="1300" dirty="0"/>
              <a:t>-Thema (Kapazitätsplanung, Revenue Management, Personalplanung) und wird in FPP explizit als Beispiel erwähnt.otexts+1</a:t>
            </a:r>
            <a:br>
              <a:rPr lang="de-DE" sz="1300" dirty="0"/>
            </a:br>
            <a:r>
              <a:rPr lang="de-DE" sz="1300" b="1" dirty="0"/>
              <a:t>Deutliche Struktur:</a:t>
            </a:r>
            <a:r>
              <a:rPr lang="de-DE" sz="1300" dirty="0"/>
              <a:t> Viele Flug-/Passagierdaten haben klaren Trend und starke Jahres‑ und ggf. Wochen‑Saisonalität; genau das wollen Prophet (Trend + </a:t>
            </a:r>
            <a:r>
              <a:rPr lang="de-DE" sz="1300" dirty="0" err="1"/>
              <a:t>Seasonality</a:t>
            </a:r>
            <a:r>
              <a:rPr lang="de-DE" sz="1300" dirty="0"/>
              <a:t> + Holidays) und </a:t>
            </a:r>
            <a:r>
              <a:rPr lang="de-DE" sz="1300" dirty="0" err="1"/>
              <a:t>Foundation</a:t>
            </a:r>
            <a:r>
              <a:rPr lang="de-DE" sz="1300" dirty="0"/>
              <a:t>‑Modelle wie Chronos ausnutzen.otexts+2</a:t>
            </a:r>
            <a:br>
              <a:rPr lang="de-DE" sz="1300" dirty="0"/>
            </a:br>
            <a:r>
              <a:rPr lang="de-DE" sz="1300" b="1" dirty="0"/>
              <a:t>Bekannte Lehr-Datensätze:</a:t>
            </a:r>
            <a:br>
              <a:rPr lang="de-DE" sz="1300" dirty="0"/>
            </a:br>
            <a:r>
              <a:rPr lang="de-DE" sz="1300" dirty="0"/>
              <a:t>Das </a:t>
            </a:r>
            <a:r>
              <a:rPr lang="de-DE" sz="1300" dirty="0" err="1"/>
              <a:t>AirPassengers</a:t>
            </a:r>
            <a:r>
              <a:rPr lang="de-DE" sz="1300" dirty="0"/>
              <a:t>‑Dataset (monatliche Passagierzahlen 1949–1960) ist ein Standardbeispiel in der Literatur und wird u. a. in FPP für neuronale Netze verwendet.papers.ssrn+1</a:t>
            </a:r>
            <a:br>
              <a:rPr lang="de-DE" sz="1300" dirty="0"/>
            </a:br>
            <a:r>
              <a:rPr lang="de-DE" sz="1300" dirty="0"/>
              <a:t>Facebook/Prophet nutzt genau diese Daten in der Doku als Beispiel für </a:t>
            </a:r>
            <a:r>
              <a:rPr lang="de-DE" sz="1300" b="1" dirty="0"/>
              <a:t>multiplikative </a:t>
            </a:r>
            <a:r>
              <a:rPr lang="de-DE" sz="1300" b="1" dirty="0" err="1"/>
              <a:t>Saisonalität</a:t>
            </a:r>
            <a:r>
              <a:rPr lang="de-DE" sz="1300" dirty="0" err="1"/>
              <a:t>.</a:t>
            </a:r>
            <a:r>
              <a:rPr lang="de-DE" sz="1300" dirty="0" err="1">
                <a:hlinkClick r:id="rId2"/>
              </a:rPr>
              <a:t>facebook.github</a:t>
            </a:r>
            <a:br>
              <a:rPr lang="de-DE" sz="1300" dirty="0"/>
            </a:br>
            <a:r>
              <a:rPr lang="de-DE" sz="1300" dirty="0"/>
              <a:t>Chronos‑2‑Beispiele nutzen ebenfalls </a:t>
            </a:r>
            <a:r>
              <a:rPr lang="de-DE" sz="1300" dirty="0" err="1"/>
              <a:t>AirPassengers</a:t>
            </a:r>
            <a:r>
              <a:rPr lang="de-DE" sz="1300" dirty="0"/>
              <a:t> als einfaches Demo‑</a:t>
            </a:r>
            <a:r>
              <a:rPr lang="de-DE" sz="1300" dirty="0" err="1"/>
              <a:t>Dataset.</a:t>
            </a:r>
            <a:r>
              <a:rPr lang="de-DE" sz="1300" dirty="0" err="1">
                <a:hlinkClick r:id="rId3"/>
              </a:rPr>
              <a:t>huggingface</a:t>
            </a:r>
            <a:br>
              <a:rPr lang="de-DE" sz="1300" dirty="0"/>
            </a:br>
            <a:r>
              <a:rPr lang="de-DE" sz="1300" dirty="0"/>
              <a:t>Damit habt ihr ein Szenario, das:</a:t>
            </a:r>
            <a:br>
              <a:rPr lang="de-DE" sz="1300" dirty="0"/>
            </a:br>
            <a:r>
              <a:rPr lang="de-DE" sz="1300" dirty="0"/>
              <a:t>für Prophet didaktisch ideal ist (Trend, Saison, </a:t>
            </a:r>
            <a:r>
              <a:rPr lang="de-DE" sz="1300" dirty="0" err="1"/>
              <a:t>multiplicative</a:t>
            </a:r>
            <a:r>
              <a:rPr lang="de-DE" sz="1300" dirty="0"/>
              <a:t> </a:t>
            </a:r>
            <a:r>
              <a:rPr lang="de-DE" sz="1300" dirty="0" err="1"/>
              <a:t>Seasonality</a:t>
            </a:r>
            <a:r>
              <a:rPr lang="de-DE" sz="1300" dirty="0"/>
              <a:t>),</a:t>
            </a:r>
            <a:br>
              <a:rPr lang="de-DE" sz="1300" dirty="0"/>
            </a:br>
            <a:r>
              <a:rPr lang="de-DE" sz="1300" dirty="0"/>
              <a:t>für Chronos perfekt als Zero‑Shot‑Beispiel taugt,</a:t>
            </a:r>
            <a:br>
              <a:rPr lang="de-DE" sz="1300" dirty="0"/>
            </a:br>
            <a:r>
              <a:rPr lang="de-DE" sz="1300" dirty="0"/>
              <a:t>und in FPP schon etabliert ist, was gut zu euren Kursanforderungen passt.otexts+1</a:t>
            </a:r>
            <a:br>
              <a:rPr lang="de-DE" sz="1300" dirty="0"/>
            </a:br>
            <a:r>
              <a:rPr lang="de-DE" sz="1300" b="1" dirty="0"/>
              <a:t>Wie ihr Flugdaten einsetzen könnt</a:t>
            </a:r>
            <a:br>
              <a:rPr lang="de-DE" sz="1300" b="1" dirty="0"/>
            </a:br>
            <a:r>
              <a:rPr lang="de-DE" sz="1300" dirty="0"/>
              <a:t>Ich würde folgendes Setup empfehlen:</a:t>
            </a:r>
            <a:br>
              <a:rPr lang="de-DE" sz="1300" dirty="0"/>
            </a:br>
            <a:r>
              <a:rPr lang="de-DE" sz="1300" b="1" dirty="0"/>
              <a:t>Externer Datensatz:</a:t>
            </a:r>
            <a:br>
              <a:rPr lang="de-DE" sz="1300" dirty="0"/>
            </a:br>
            <a:r>
              <a:rPr lang="de-DE" sz="1300" dirty="0" err="1"/>
              <a:t>AirPassengers</a:t>
            </a:r>
            <a:r>
              <a:rPr lang="de-DE" sz="1300" dirty="0"/>
              <a:t> (Monatszahlen) oder ein moderner Air‑Traffic‑Datensatz (z. B. aus </a:t>
            </a:r>
            <a:r>
              <a:rPr lang="de-DE" sz="1300" dirty="0" err="1"/>
              <a:t>Kaggle</a:t>
            </a:r>
            <a:r>
              <a:rPr lang="de-DE" sz="1300" dirty="0"/>
              <a:t>).kaggle+1</a:t>
            </a:r>
            <a:br>
              <a:rPr lang="de-DE" sz="1300" dirty="0"/>
            </a:br>
            <a:r>
              <a:rPr lang="de-DE" sz="1300" dirty="0"/>
              <a:t>Prophet: zeigen, wie additive vs. </a:t>
            </a:r>
            <a:r>
              <a:rPr lang="de-DE" sz="1300" dirty="0" err="1"/>
              <a:t>multiplicative</a:t>
            </a:r>
            <a:r>
              <a:rPr lang="de-DE" sz="1300" dirty="0"/>
              <a:t> </a:t>
            </a:r>
            <a:r>
              <a:rPr lang="de-DE" sz="1300" dirty="0" err="1"/>
              <a:t>Seasonality</a:t>
            </a:r>
            <a:r>
              <a:rPr lang="de-DE" sz="1300" dirty="0"/>
              <a:t> funktioniert (Prophet-Doku hat genau </a:t>
            </a:r>
            <a:r>
              <a:rPr lang="de-DE" sz="1100" dirty="0"/>
              <a:t>dazu ein </a:t>
            </a:r>
            <a:r>
              <a:rPr lang="de-DE" sz="1100" dirty="0" err="1"/>
              <a:t>AirPassengers</a:t>
            </a:r>
            <a:r>
              <a:rPr lang="de-DE" sz="1100" dirty="0"/>
              <a:t>‑Beispiel).</a:t>
            </a:r>
            <a:r>
              <a:rPr lang="de-DE" sz="1100" dirty="0" err="1">
                <a:hlinkClick r:id="rId2"/>
              </a:rPr>
              <a:t>facebook.github</a:t>
            </a:r>
            <a:br>
              <a:rPr lang="de-DE" sz="1100" dirty="0"/>
            </a:br>
            <a:r>
              <a:rPr lang="de-DE" sz="1100" dirty="0"/>
              <a:t>Chronos/Chronos‑2: Zero‑Shot‑Forecast über denselben Horizont mit </a:t>
            </a:r>
            <a:r>
              <a:rPr lang="de-DE" sz="1100" dirty="0" err="1"/>
              <a:t>quantilen</a:t>
            </a:r>
            <a:r>
              <a:rPr lang="de-DE" sz="1100" dirty="0"/>
              <a:t> </a:t>
            </a:r>
            <a:r>
              <a:rPr lang="de-DE" sz="1100" dirty="0" err="1"/>
              <a:t>Vorhersagen.</a:t>
            </a:r>
            <a:r>
              <a:rPr lang="de-DE" sz="1100" dirty="0" err="1">
                <a:hlinkClick r:id="rId3"/>
              </a:rPr>
              <a:t>huggingface</a:t>
            </a:r>
            <a:br>
              <a:rPr lang="de-DE" sz="1100" dirty="0"/>
            </a:br>
            <a:r>
              <a:rPr lang="de-DE" sz="1100" b="1" dirty="0"/>
              <a:t>Synthetische Flugdaten für Übungen:</a:t>
            </a:r>
            <a:br>
              <a:rPr lang="de-DE" sz="1100" dirty="0"/>
            </a:br>
            <a:r>
              <a:rPr lang="de-DE" sz="1100" dirty="0"/>
              <a:t>z. B. künstliche Passagierzeitreihe mit:</a:t>
            </a:r>
            <a:br>
              <a:rPr lang="de-DE" sz="1100" dirty="0"/>
            </a:br>
            <a:r>
              <a:rPr lang="de-DE" sz="1100" dirty="0"/>
              <a:t>sauberem Trend,</a:t>
            </a:r>
            <a:br>
              <a:rPr lang="de-DE" sz="1100" dirty="0"/>
            </a:br>
            <a:r>
              <a:rPr lang="de-DE" sz="1100" dirty="0"/>
              <a:t>klarer Jahres‑Saison,</a:t>
            </a:r>
            <a:br>
              <a:rPr lang="de-DE" sz="1100" dirty="0"/>
            </a:br>
            <a:r>
              <a:rPr lang="de-DE" sz="1100" dirty="0"/>
              <a:t>einem „Shock“ (z. B. plötzlicher Nachfrageeinbruch) oder Event.</a:t>
            </a:r>
            <a:br>
              <a:rPr lang="de-DE" sz="1100" dirty="0"/>
            </a:br>
            <a:r>
              <a:rPr lang="de-DE" sz="1100" dirty="0"/>
              <a:t>Vorteil: ihr kennt die „wahre“ Struktur und könnt sehr gezielt zeigen, wie Prophet und Chronos auf Trendbrüche, Events usw. reagieren.</a:t>
            </a:r>
            <a:br>
              <a:rPr lang="de-DE" sz="1100" dirty="0"/>
            </a:b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6044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AD872-DD8A-7E4F-9B99-898ED21D5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6651"/>
            <a:ext cx="9144000" cy="2603312"/>
          </a:xfrm>
        </p:spPr>
        <p:txBody>
          <a:bodyPr/>
          <a:lstStyle/>
          <a:p>
            <a:r>
              <a:rPr lang="de-DE" dirty="0"/>
              <a:t>Prophet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EF5271-6AB0-03CA-B872-40D1B48940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b="1" dirty="0"/>
              <a:t>Prophet: </a:t>
            </a:r>
            <a:r>
              <a:rPr lang="de-DE" b="1" dirty="0" err="1"/>
              <a:t>Forecasting</a:t>
            </a:r>
            <a:r>
              <a:rPr lang="de-DE" b="1" dirty="0"/>
              <a:t> für Business-Zeitreihen</a:t>
            </a:r>
          </a:p>
          <a:p>
            <a:r>
              <a:rPr lang="de-DE" dirty="0"/>
              <a:t>Interpretierbare Prognosen mit Trend, Saisonalität und Eventeffekten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7251E"/>
                </a:solidFill>
                <a:effectLst/>
                <a:latin typeface="pplxSerif"/>
              </a:rPr>
              <a:t>Klassische </a:t>
            </a:r>
            <a:r>
              <a:rPr lang="de-DE" b="0" i="0" dirty="0" err="1">
                <a:solidFill>
                  <a:srgbClr val="27251E"/>
                </a:solidFill>
                <a:effectLst/>
                <a:latin typeface="pplxSerif"/>
              </a:rPr>
              <a:t>Forecasting</a:t>
            </a:r>
            <a:r>
              <a:rPr lang="de-DE" b="0" i="0" dirty="0">
                <a:solidFill>
                  <a:srgbClr val="27251E"/>
                </a:solidFill>
                <a:effectLst/>
                <a:latin typeface="pplxSerif"/>
              </a:rPr>
              <a:t>-Methode für strukturierte Zeitreihen</a:t>
            </a:r>
            <a:r>
              <a:rPr lang="de-DE" dirty="0">
                <a:solidFill>
                  <a:srgbClr val="27251E"/>
                </a:solidFill>
                <a:latin typeface="var(--pplx-mono)"/>
              </a:rPr>
              <a:t>folge</a:t>
            </a:r>
            <a:endParaRPr lang="de-DE" b="0" i="0" dirty="0">
              <a:solidFill>
                <a:srgbClr val="27251E"/>
              </a:solidFill>
              <a:effectLst/>
              <a:latin typeface="pplx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7251E"/>
                </a:solidFill>
                <a:effectLst/>
                <a:latin typeface="pplxSerif"/>
              </a:rPr>
              <a:t>Entwickelt für Business-Daten mit Kalenderlogik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27251E"/>
                </a:solidFill>
                <a:effectLst/>
                <a:latin typeface="pplxSerif"/>
              </a:rPr>
              <a:t>Verfügbar in Python und R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4431B7-0559-77E4-5AF1-5CDB425A7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2" y="3742841"/>
            <a:ext cx="2330540" cy="291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4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C3E59E-A8E6-CCE3-3162-FD0509C2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Warum wurde Prophet entwickelt?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383FE0-E094-3BE4-AA4A-7EA53E5F6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Viele Business-Zeitreihen enthalten gleichzeitig Trend, Wochenmuster, Jahresmuster und Feiertagseffekte</a:t>
            </a:r>
          </a:p>
          <a:p>
            <a:r>
              <a:rPr lang="de-DE" dirty="0"/>
              <a:t>Klassische Modelle sind oft erklärbar, aber aufwendig zu spezifizieren</a:t>
            </a:r>
          </a:p>
          <a:p>
            <a:r>
              <a:rPr lang="de-DE" dirty="0"/>
              <a:t>Prophet verbindet Automatisierung mit Interpretierbarkeit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9305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843E9E-F772-9986-98F4-E2008022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Typische Anwendungsfelder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64F735-A43C-EA78-43B6-AFC0D7882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effectLst/>
              </a:rPr>
              <a:t>Absatz- und Nachfrageprognosen</a:t>
            </a:r>
          </a:p>
          <a:p>
            <a:r>
              <a:rPr lang="de-DE" dirty="0">
                <a:effectLst/>
              </a:rPr>
              <a:t>Website-Traffic und App-Nutzung</a:t>
            </a:r>
          </a:p>
          <a:p>
            <a:r>
              <a:rPr lang="de-DE" dirty="0">
                <a:effectLst/>
              </a:rPr>
              <a:t>Kampagnen- und Marketingeffekte</a:t>
            </a:r>
          </a:p>
          <a:p>
            <a:r>
              <a:rPr lang="de-DE" dirty="0">
                <a:effectLst/>
              </a:rPr>
              <a:t>Kapazitäts- und Ressourcenplanung</a:t>
            </a:r>
          </a:p>
          <a:p>
            <a:r>
              <a:rPr lang="de-DE" dirty="0">
                <a:effectLst/>
              </a:rPr>
              <a:t>Forecasts mit Feiertagen oder Sonderereignissen</a:t>
            </a:r>
          </a:p>
          <a:p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705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22CF0-B3C0-5922-DB5C-A094FAA1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Wann passt Prophet gut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BED156-5137-C49A-D990-4AF3EC873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Starke und wiederkehrende Saisonalität</a:t>
            </a:r>
          </a:p>
          <a:p>
            <a:r>
              <a:rPr lang="de-DE" dirty="0"/>
              <a:t>Mehrere Saisons historischer Daten</a:t>
            </a:r>
          </a:p>
          <a:p>
            <a:r>
              <a:rPr lang="de-DE" dirty="0"/>
              <a:t>Trend mit möglichen Strukturbrüchen</a:t>
            </a:r>
          </a:p>
          <a:p>
            <a:r>
              <a:rPr lang="de-DE" dirty="0"/>
              <a:t>Kalendereffekte wie Feiertage, Aktionen oder Events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Prophet funktioniert besonders gut bei Zeitreihen mit starker Saisonalität und mehreren Saisons Historie.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110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BA9EDF-91F6-2127-5143-4249C09D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Grundidee des Prophet-Modells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8EC191E-31AB-A227-7F1B-768AE79D0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310" y="1690688"/>
            <a:ext cx="10284321" cy="20207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EFE7732-3BBE-DEB6-9BF7-9AAE0C748226}"/>
                  </a:ext>
                </a:extLst>
              </p:cNvPr>
              <p:cNvSpPr txBox="1"/>
              <p:nvPr/>
            </p:nvSpPr>
            <p:spPr>
              <a:xfrm>
                <a:off x="2740508" y="4148272"/>
                <a:ext cx="609470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de-DE" b="0" i="1" dirty="0">
                    <a:solidFill>
                      <a:srgbClr val="27251E"/>
                    </a:solidFill>
                    <a:effectLst/>
                    <a:latin typeface="KaTeX_Math"/>
                  </a:rPr>
                  <a:t>g</a:t>
                </a:r>
                <a:r>
                  <a:rPr lang="de-DE" b="0" i="0" dirty="0">
                    <a:solidFill>
                      <a:srgbClr val="27251E"/>
                    </a:solidFill>
                    <a:effectLst/>
                    <a:latin typeface="KaTeX_Main"/>
                  </a:rPr>
                  <a:t>(</a:t>
                </a:r>
                <a:r>
                  <a:rPr lang="de-DE" b="0" i="1" dirty="0">
                    <a:solidFill>
                      <a:srgbClr val="27251E"/>
                    </a:solidFill>
                    <a:effectLst/>
                    <a:latin typeface="KaTeX_Math"/>
                  </a:rPr>
                  <a:t>t</a:t>
                </a:r>
                <a:r>
                  <a:rPr lang="de-DE" b="0" i="0" dirty="0">
                    <a:solidFill>
                      <a:srgbClr val="27251E"/>
                    </a:solidFill>
                    <a:effectLst/>
                    <a:latin typeface="KaTeX_Main"/>
                  </a:rPr>
                  <a:t>)</a:t>
                </a:r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: Trend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: Saisonalität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: Feiertage und Events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: Restfehler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EFE7732-3BBE-DEB6-9BF7-9AAE0C748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508" y="4148272"/>
                <a:ext cx="6094708" cy="1200329"/>
              </a:xfrm>
              <a:prstGeom prst="rect">
                <a:avLst/>
              </a:prstGeom>
              <a:blipFill>
                <a:blip r:embed="rId3"/>
                <a:stretch>
                  <a:fillRect l="-701" t="-2538" b="-71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722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8EFE724-C258-5786-6F62-BE16D634CEB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de-DE" b="1" dirty="0"/>
                  <a:t>Trendkomponente 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br>
                  <a:rPr lang="de-DE" dirty="0"/>
                </a:br>
                <a:br>
                  <a:rPr lang="de-DE" dirty="0"/>
                </a:br>
                <a:endParaRPr lang="de-D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8EFE724-C258-5786-6F62-BE16D634C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28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8B4FD0-0578-0B44-51CA-78C1748AD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Prophet nutzt standardmäßig einen stückweise linearen Trend</a:t>
            </a:r>
          </a:p>
          <a:p>
            <a:r>
              <a:rPr lang="de-DE" dirty="0" err="1"/>
              <a:t>Changepoints</a:t>
            </a:r>
            <a:r>
              <a:rPr lang="de-DE" dirty="0"/>
              <a:t> werden automatisch gesetzt, wenn sie nicht vorgegeben werden</a:t>
            </a:r>
          </a:p>
          <a:p>
            <a:r>
              <a:rPr lang="de-DE" dirty="0"/>
              <a:t>Optional kann logistisches Wachstum mit Obergrenze modelliert werden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Trendwechsel werden explizit berücksichtigt und nicht nur indirekt „mitgelernt“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46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6FCAC9C-FFAA-4BCD-B20E-F3A6FB0EDF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b="1" dirty="0"/>
                  <a:t>Saisonale Komponente 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6FCAC9C-FFAA-4BCD-B20E-F3A6FB0ED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B4FA34-0993-C16E-6F20-DAABB581F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Saisonale Muster werden durch Fourier-Terme modelliert</a:t>
            </a:r>
          </a:p>
          <a:p>
            <a:r>
              <a:rPr lang="de-DE" dirty="0"/>
              <a:t>Standardmäßig relevant: wöchentliche und jährliche Saisonalität</a:t>
            </a:r>
          </a:p>
          <a:p>
            <a:r>
              <a:rPr lang="de-DE" dirty="0"/>
              <a:t>Standardwerte: Fourier-Ordnung 10 für jährlich, 3 für wöchentlich</a:t>
            </a:r>
          </a:p>
          <a:p>
            <a:r>
              <a:rPr lang="de-DE" dirty="0"/>
              <a:t>Weitere saisonale Muster, z. B. monatlich oder quartalsweise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956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16516D7-D8F5-10ED-8163-7BDFF3A0D0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b="1" dirty="0"/>
                  <a:t>Holiday-Komponente 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16516D7-D8F5-10ED-8163-7BDFF3A0D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729D7F-A293-D285-D07F-615256A99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Feiertage werden als Dummy-Variablen in das Modell aufgenommen</a:t>
            </a:r>
          </a:p>
          <a:p>
            <a:r>
              <a:rPr lang="de-DE" dirty="0"/>
              <a:t>Benutzerdefinierte Events können explizit ergänzt werden</a:t>
            </a:r>
          </a:p>
          <a:p>
            <a:r>
              <a:rPr lang="de-DE" dirty="0"/>
              <a:t>Auch mehrtägige Effekte lassen sich modellieren</a:t>
            </a:r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8576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0AC5A1-2446-4F8F-194D-1D3AA3EE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Wie wirken die Effekte zusammen?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3395DF-E2A9-2CFA-6CA8-DA4178F5D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Standardmäßig verwendet Prophet additive Saisonalität</a:t>
            </a:r>
          </a:p>
          <a:p>
            <a:r>
              <a:rPr lang="de-DE" dirty="0"/>
              <a:t>Wenn Saisonmuster mit dem Trend mitwachsen, ist multiplikative Saisonalität sinnvoll</a:t>
            </a:r>
          </a:p>
          <a:p>
            <a:r>
              <a:rPr lang="de-DE" dirty="0"/>
              <a:t>Dafür kann </a:t>
            </a:r>
            <a:r>
              <a:rPr lang="de-DE" dirty="0" err="1"/>
              <a:t>seasonality_mode</a:t>
            </a:r>
            <a:r>
              <a:rPr lang="de-DE" dirty="0"/>
              <a:t>='</a:t>
            </a:r>
            <a:r>
              <a:rPr lang="de-DE" dirty="0" err="1"/>
              <a:t>multiplicative</a:t>
            </a:r>
            <a:r>
              <a:rPr lang="de-DE" dirty="0"/>
              <a:t>' gesetzt werden</a:t>
            </a:r>
          </a:p>
          <a:p>
            <a:pPr marL="0" indent="0">
              <a:buNone/>
            </a:pPr>
            <a:r>
              <a:rPr lang="de-DE" b="1" dirty="0"/>
              <a:t>Beispiel:</a:t>
            </a:r>
            <a:endParaRPr lang="de-DE" dirty="0"/>
          </a:p>
          <a:p>
            <a:r>
              <a:rPr lang="de-DE" dirty="0"/>
              <a:t>Additiv: immer +100 Einheiten im Dezember</a:t>
            </a:r>
          </a:p>
          <a:p>
            <a:r>
              <a:rPr lang="de-DE" dirty="0"/>
              <a:t>Multiplikativ: immer +10 Prozent im Dezember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471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DCBCF6-D6C4-D41C-4707-6ADF0B5A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BB79C6B-14C9-171D-E254-92F5264E1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617" y="302217"/>
            <a:ext cx="10862531" cy="515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54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FC87C-8691-2DBE-E8A3-37D89EBB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Stärken und Schwächen von Prophet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D630A8-443D-A7B2-330B-A6AF94CC4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/>
              <a:t>Vorteile</a:t>
            </a:r>
          </a:p>
          <a:p>
            <a:r>
              <a:rPr lang="de-DE" dirty="0"/>
              <a:t>Schnell und weitgehend automatisiert</a:t>
            </a:r>
          </a:p>
          <a:p>
            <a:r>
              <a:rPr lang="de-DE" dirty="0"/>
              <a:t>Gut interpretierbar durch Trend-, Saison- und Holiday-Komponenten</a:t>
            </a:r>
          </a:p>
          <a:p>
            <a:r>
              <a:rPr lang="de-DE" dirty="0"/>
              <a:t>Robust gegenüber fehlenden Werten und Trendverschiebungen</a:t>
            </a:r>
          </a:p>
          <a:p>
            <a:pPr marL="0" indent="0">
              <a:buNone/>
            </a:pPr>
            <a:r>
              <a:rPr lang="de-DE" b="1" dirty="0"/>
              <a:t>Grenzen</a:t>
            </a:r>
          </a:p>
          <a:p>
            <a:r>
              <a:rPr lang="de-DE" dirty="0">
                <a:effectLst/>
              </a:rPr>
              <a:t>Nicht immer </a:t>
            </a:r>
            <a:r>
              <a:rPr lang="de-DE" dirty="0" err="1">
                <a:effectLst/>
              </a:rPr>
              <a:t>Accuracy</a:t>
            </a:r>
            <a:r>
              <a:rPr lang="de-DE" dirty="0">
                <a:effectLst/>
              </a:rPr>
              <a:t>-Sieger gegenüber Alternativen</a:t>
            </a:r>
          </a:p>
          <a:p>
            <a:r>
              <a:rPr lang="de-DE" dirty="0">
                <a:effectLst/>
              </a:rPr>
              <a:t>Stückweise linearer Trend ist nicht in jedem Kontext plausibel</a:t>
            </a:r>
          </a:p>
          <a:p>
            <a:r>
              <a:rPr lang="de-DE" dirty="0">
                <a:effectLst/>
              </a:rPr>
              <a:t>Gute Performance hängt stark von Datenstruktur und Saisonalität ab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/>
              <a:t>Prophet ist besonders wertvoll, wenn Forecasts nicht nur präzise, sondern auch für Business-Stakeholder verständlich sein sollen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7094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8DD14-2F8B-E55B-9F39-1116AD94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Prophet im Methodenvergleich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468504-8F05-B46D-A71A-0A0C7C70B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Gegenüber ARIMA oder ETS oft einfacher aufzusetzen und leichter zu erklären</a:t>
            </a:r>
          </a:p>
          <a:p>
            <a:r>
              <a:rPr lang="de-DE" dirty="0"/>
              <a:t>Gegenüber Deep-Learning-Methoden deutlich transparenter</a:t>
            </a:r>
          </a:p>
          <a:p>
            <a:r>
              <a:rPr lang="de-DE" dirty="0"/>
              <a:t>Sehr gut geeignet als klassische Referenzmethode </a:t>
            </a:r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155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F6636C-0113-1C8C-C0E5-B93FFFF11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C75845-436F-BE35-64C0-630A5ACDE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810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A5A6BC-99DC-E6D3-3C38-F11C3AAD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Hands on Übung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5B414A-4460-8D9F-1F90-C021D8FE5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367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796</Words>
  <Application>Microsoft Office PowerPoint</Application>
  <PresentationFormat>Breitbild</PresentationFormat>
  <Paragraphs>74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KaTeX_Main</vt:lpstr>
      <vt:lpstr>KaTeX_Math</vt:lpstr>
      <vt:lpstr>pplxSerif</vt:lpstr>
      <vt:lpstr>var(--pplx-mono)</vt:lpstr>
      <vt:lpstr>Office</vt:lpstr>
      <vt:lpstr>PowerPoint-Präsentation</vt:lpstr>
      <vt:lpstr>Warum Flugdaten didaktisch stark sind Klarer Business-Kontext: Nachfrage nach Flügen ist ein klassisches Forecasting-Thema (Kapazitätsplanung, Revenue Management, Personalplanung) und wird in FPP explizit als Beispiel erwähnt.otexts+1 Deutliche Struktur: Viele Flug-/Passagierdaten haben klaren Trend und starke Jahres‑ und ggf. Wochen‑Saisonalität; genau das wollen Prophet (Trend + Seasonality + Holidays) und Foundation‑Modelle wie Chronos ausnutzen.otexts+2 Bekannte Lehr-Datensätze: Das AirPassengers‑Dataset (monatliche Passagierzahlen 1949–1960) ist ein Standardbeispiel in der Literatur und wird u. a. in FPP für neuronale Netze verwendet.papers.ssrn+1 Facebook/Prophet nutzt genau diese Daten in der Doku als Beispiel für multiplikative Saisonalität.facebook.github Chronos‑2‑Beispiele nutzen ebenfalls AirPassengers als einfaches Demo‑Dataset.huggingface Damit habt ihr ein Szenario, das: für Prophet didaktisch ideal ist (Trend, Saison, multiplicative Seasonality), für Chronos perfekt als Zero‑Shot‑Beispiel taugt, und in FPP schon etabliert ist, was gut zu euren Kursanforderungen passt.otexts+1 Wie ihr Flugdaten einsetzen könnt Ich würde folgendes Setup empfehlen: Externer Datensatz: AirPassengers (Monatszahlen) oder ein moderner Air‑Traffic‑Datensatz (z. B. aus Kaggle).kaggle+1 Prophet: zeigen, wie additive vs. multiplicative Seasonality funktioniert (Prophet-Doku hat genau dazu ein AirPassengers‑Beispiel).facebook.github Chronos/Chronos‑2: Zero‑Shot‑Forecast über denselben Horizont mit quantilen Vorhersagen.huggingface Synthetische Flugdaten für Übungen: z. B. künstliche Passagierzeitreihe mit: sauberem Trend, klarer Jahres‑Saison, einem „Shock“ (z. B. plötzlicher Nachfrageeinbruch) oder Event. Vorteil: ihr kennt die „wahre“ Struktur und könnt sehr gezielt zeigen, wie Prophet und Chronos auf Trendbrüche, Events usw. reagieren. </vt:lpstr>
      <vt:lpstr>Prophet</vt:lpstr>
      <vt:lpstr>Warum wurde Prophet entwickelt? </vt:lpstr>
      <vt:lpstr>Typische Anwendungsfelder  </vt:lpstr>
      <vt:lpstr>Wann passt Prophet gut</vt:lpstr>
      <vt:lpstr>Grundidee des Prophet-Modells</vt:lpstr>
      <vt:lpstr>Trendkomponente g(t)  </vt:lpstr>
      <vt:lpstr>Saisonale Komponente s(t)</vt:lpstr>
      <vt:lpstr>Holiday-Komponente h(t)</vt:lpstr>
      <vt:lpstr>Wie wirken die Effekte zusammen?  </vt:lpstr>
      <vt:lpstr>PowerPoint-Präsentation</vt:lpstr>
      <vt:lpstr>Stärken und Schwächen von Prophet  </vt:lpstr>
      <vt:lpstr>Prophet im Methodenvergleich</vt:lpstr>
      <vt:lpstr>Demo</vt:lpstr>
      <vt:lpstr>Hands on Übung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Steffen</dc:creator>
  <cp:lastModifiedBy>Kai Steffen</cp:lastModifiedBy>
  <cp:revision>6</cp:revision>
  <dcterms:created xsi:type="dcterms:W3CDTF">2026-06-04T10:10:15Z</dcterms:created>
  <dcterms:modified xsi:type="dcterms:W3CDTF">2026-06-04T14:30:39Z</dcterms:modified>
</cp:coreProperties>
</file>