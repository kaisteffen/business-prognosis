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88" r:id="rId3"/>
    <p:sldId id="274" r:id="rId4"/>
    <p:sldId id="275" r:id="rId5"/>
    <p:sldId id="277" r:id="rId6"/>
    <p:sldId id="276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9" r:id="rId16"/>
    <p:sldId id="286" r:id="rId17"/>
    <p:sldId id="287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583AD-CDE3-DB6A-2BE1-FA1570513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CCDB90D-67D1-F6E8-041C-C760A510F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8A37CF-2C17-59D3-76DB-FD568DC21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17B027-A38E-3C92-44AF-E1162D17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4E0DB-0CDB-3C53-3932-38D9B344A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07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FBFE5-8229-B234-C294-E205AED5D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927AFC-69AA-EB76-2B97-4A6533DD8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C91CD-06EA-BDDD-78F9-1108B9E4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2857FB-3984-4E66-E91D-3C5F8867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F4453E-A5C7-BC83-4403-1C728E9C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57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A56E9-5B5A-7529-65AD-D1ECA1AD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AB3DC9-F3E3-EAF3-CD43-E84E147F7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B300A-EEDA-7D76-BD5E-C510BCF47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99F746-A634-B4CB-0805-471D8BD3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5CFA9D-B043-E9EF-C951-7FC86664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80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B9C5B8-D48D-E58E-E29B-D4B103B5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1D97A-1436-30AF-C12C-76F59469E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39516AA-1C3E-2AF2-5620-E404C4DC4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3FB2BD-8443-9A5D-C2E1-85BE6449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418460-5D93-C72F-58BD-DA8D693E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B38B303-88B2-BA3D-F9EB-05A41828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69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50BB33-37C0-F258-E464-C8D98BC3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95D08F-C05C-1CD9-54FD-1AFE5345C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EE6B9D-5749-3D89-4295-3A7184773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E04D48B-7963-EEB2-84F6-2117B56DB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24A26C-5547-5807-135D-D50F79392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04DF78F-E5C8-4172-283D-B46BF8439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EF5DC79-5A98-8DB3-5010-4E34EC0B2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1F748B8-FB10-133F-D527-F690BCFE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971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128315-A65F-41E3-6274-A1AD833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FF4771-22EA-6BA1-7FFB-36C47444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495078-8293-F8D5-0C69-3D074EFC5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310D68-D52F-337C-0665-6F3516BE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433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622CA6-72DD-907D-5AC2-BFB6ABDDD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C0FA10-07F7-4361-80B5-19C40D70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792D890-A0EF-234A-7F84-D8D51473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175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BAE4D-A700-D8D0-EBE8-BC5FB4DD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4261D6-980C-37B9-2D94-0F3608113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8B58E7-D15D-5055-CACC-D90B3C9F2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89FC8F-9B53-C0C2-4E29-CBC4F4E5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F4E8A90-DCF3-A7CF-6D37-D56D9662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0DF4E4E-0C33-EC2A-9178-C766D596C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02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28B67-637E-0A9E-DB13-B9789326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A4D03C-4A56-97A5-3803-D70B39319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1195A22-5D75-6E2C-84C3-6CCBA3BB5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DA00AC-5DD5-B2D7-AA1C-B8574E4C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4092FC3-5549-BFB4-4505-76C378A4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F59870-5985-EC0E-C2A0-4CD533C5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45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D8C46-0DE7-90CA-F508-B38F892C8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89D3DD-E307-9267-F43E-3A21D48DA2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024306-28BA-2213-B8FE-7D1C38858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0CE41-345E-DEE0-13BE-A6871FEC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61C79E-993A-CE95-B563-222E531B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061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2CD1CC9-B3A7-C641-2AF7-80883FC16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C92E1C1-6531-2A69-0AAE-3C86A08A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7FC532-07FE-993D-6ACF-FBC32946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5FF4A5-0C72-36C8-3B3C-AC73B3B0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CFA57D-86AF-9E7D-5F83-D9E7024EB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25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C844BB-2994-B04F-0C2A-F5A3483A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1A40D9-8151-F620-5B78-785E1D348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C986B5-4E0C-5A4E-23B4-13B80549A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561D5-8827-442E-970E-BA110410EF5F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19D340-7817-3656-08E9-D32439E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DE3AB8-52F3-4CD4-C2F9-45ACEFDCC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C43E4-B010-4274-983C-DF09B4CEE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09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mazon/chronos-2" TargetMode="External"/><Relationship Id="rId2" Type="http://schemas.openxmlformats.org/officeDocument/2006/relationships/hyperlink" Target="https://facebook.github.io/prophet/docs/multiplicative_seasonality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pl-ai-file-upload.s3.amazonaws.com/web/direct-files/collection_8df529c6-0c22-4536-b9f4-8b6b7c247be3/140623be-33c5-4660-916f-0325dfccf81e/4__Ansari_et-al_2024_Chronos_Learning-the-Language-of-Time-Series.pdf?AWSAccessKeyId=ASIA2F3EMEYESBYMLOZX&amp;Signature=FruaUOscM2fvJ%2B8gSlqOwxgYbiw%3D&amp;x-amz-security-token=IQoJb3JpZ2luX2VjEIz%2F%2F%2F%2F%2F%2F%2F%2F%2F%2FwEaCXVzLWVhc3QtMSJHMEUCICx8huQEDcpKbxWAPwP8pSLJ1CsyZF1L0jkwP1ZJLtngAiEA9bpfn5R0o5REAfdutbGUhW3%2BBsBz%2BG%2FBf5NBlIN3s%2FIq8wQIVRABGgw2OTk3NTMzMDk3MDUiDBLrBM7bQ48X8u1lcCrQBDS4rZ%2Bha2i%2FpRoI1n9ZtIlOyjYMhDcHyrP8IuBcyp2H9jybha2D%2Ba13cPtFavmMmbZXMLSzY%2BsrHPmL7on%2BOW101Sgc4LUOdxEKM07USog89T6xhjEewZhCJNInrczJvX7NqvfQHpHQmgwOKrPTq2HvTkDi%2BfhIwJbw89BJnAW6zNVwZKb8BIRCU0QskRazH8STj2%2FTKmQZpUW1ZwwEO7C0wvOi0NqA1fXWFawBJtLEfzSuAjZrbKiakeoZs%2BAiDnM6R4Sjm8BgPD60q1j4%2B4%2BD7yLzpLyrsK6u4IM24Fs1i24dh9C%2Fa4Et2E%2FI%2BBWMsfO10%2BfexG8u1CzMRsoyBKnNDQ1BUpjgyGRYJSxlLREtroAYGTz8dDWXDxpTWuoHBIEnlwIRT5c81AVoxjbf73liJvdeKmwOUuZtfcWyNeKJXKxRFmNibDNl0azbaOyMhDV6Gt7uzV0DF1mAm1itSiffrSpCHDqgc51EZZVb2jMwoajHteMdaOJuQ4o%2BSqArJwKG8JZHFoVBIGFT14l%2B8oSqLjWmsPaKY4H%2BApBWVtQBW1aQgi1xC5hSuCI4CpBuXBcKcceDQFaLSm7O0rzfrzT9VjMfZLrjCR6DeHI4cTiYpTqxkhzVWvf7mRXIvRraB0Dtqa%2BMSg42rJSH%2BD3ebePI5VcSiPy0%2FsRxttH9KAHyI5kMxrt2yiGsWzEbIGLI8hkRGZ%2FV%2FYG3iQdKSckkWnTgtPNce8qwjEGsZufk9hC623%2Bg68ibc4i1twKBoAR%2BdL9AnkSzJlb3sIr0bv0hWIIwjceF0QY6mAHvqGsz9Jhcu%2B3nZyD8l6MVB8v4egacEixXF1q6oGP0mACQUD8s8gaJNC6lEWZvzrIdFkY2MsUa0fOhATPwe1C7YAtxBmXeOsp%2B%2Br5RMKYKMgZ0h3vNL6wykcqOxNuFF3QSJjJfVzniAmpgrXgU9VDOHzM83gLfJB8iOrF8DzByfXvu6IJaWmtHSY7Xzdop5DujfiOps2jB0A%3D%3D&amp;Expires=1780576608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42939F-4887-0BD4-B517-917CB9D9C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F25507-5CA9-72CA-C05C-B7D87979B1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B53D9C5-6623-3C26-FA1E-9F7D3AC08078}"/>
              </a:ext>
            </a:extLst>
          </p:cNvPr>
          <p:cNvSpPr txBox="1"/>
          <p:nvPr/>
        </p:nvSpPr>
        <p:spPr>
          <a:xfrm>
            <a:off x="2252247" y="1122364"/>
            <a:ext cx="68932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Slides 20–25 min Method overview, math, business context</a:t>
            </a:r>
          </a:p>
          <a:p>
            <a:r>
              <a:rPr lang="en-US" dirty="0"/>
              <a:t>Live Demo 15–20 min </a:t>
            </a:r>
            <a:r>
              <a:rPr lang="en-US" dirty="0" err="1"/>
              <a:t>Jupyter</a:t>
            </a:r>
            <a:r>
              <a:rPr lang="en-US" dirty="0"/>
              <a:t> notebook walkthrough</a:t>
            </a:r>
          </a:p>
          <a:p>
            <a:r>
              <a:rPr lang="en-US" dirty="0"/>
              <a:t>Hands-on 15–20 min Peers work through exercise</a:t>
            </a:r>
          </a:p>
          <a:p>
            <a:r>
              <a:rPr lang="en-US" dirty="0"/>
              <a:t>Discussion 10 min Q&amp;A, comparison with other methods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13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3B8FE-C8A4-9392-133D-0BC9BB8C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20" y="242099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sz="1300" b="1" dirty="0"/>
              <a:t>Warum Flugdaten didaktisch stark sind</a:t>
            </a:r>
            <a:br>
              <a:rPr lang="de-DE" sz="1300" b="1" dirty="0"/>
            </a:br>
            <a:r>
              <a:rPr lang="de-DE" sz="1300" b="1" dirty="0"/>
              <a:t>Klarer Business-Kontext:</a:t>
            </a:r>
            <a:r>
              <a:rPr lang="de-DE" sz="1300" dirty="0"/>
              <a:t> Nachfrage nach Flügen ist ein klassisches </a:t>
            </a:r>
            <a:r>
              <a:rPr lang="de-DE" sz="1300" dirty="0" err="1"/>
              <a:t>Forecasting</a:t>
            </a:r>
            <a:r>
              <a:rPr lang="de-DE" sz="1300" dirty="0"/>
              <a:t>-Thema (Kapazitätsplanung, Revenue Management, Personalplanung) und wird in FPP explizit als Beispiel erwähnt.otexts+1</a:t>
            </a:r>
            <a:br>
              <a:rPr lang="de-DE" sz="1300" dirty="0"/>
            </a:br>
            <a:r>
              <a:rPr lang="de-DE" sz="1300" b="1" dirty="0"/>
              <a:t>Deutliche Struktur:</a:t>
            </a:r>
            <a:r>
              <a:rPr lang="de-DE" sz="1300" dirty="0"/>
              <a:t> Viele Flug-/Passagierdaten haben klaren Trend und starke Jahres‑ und ggf. Wochen‑Saisonalität; genau das wollen Prophet (Trend + </a:t>
            </a:r>
            <a:r>
              <a:rPr lang="de-DE" sz="1300" dirty="0" err="1"/>
              <a:t>Seasonality</a:t>
            </a:r>
            <a:r>
              <a:rPr lang="de-DE" sz="1300" dirty="0"/>
              <a:t> + Holidays) und </a:t>
            </a:r>
            <a:r>
              <a:rPr lang="de-DE" sz="1300" dirty="0" err="1"/>
              <a:t>Foundation</a:t>
            </a:r>
            <a:r>
              <a:rPr lang="de-DE" sz="1300" dirty="0"/>
              <a:t>‑Modelle wie Chronos ausnutzen.otexts+2</a:t>
            </a:r>
            <a:br>
              <a:rPr lang="de-DE" sz="1300" dirty="0"/>
            </a:br>
            <a:r>
              <a:rPr lang="de-DE" sz="1300" b="1" dirty="0"/>
              <a:t>Bekannte Lehr-Datensätze:</a:t>
            </a:r>
            <a:br>
              <a:rPr lang="de-DE" sz="1300" dirty="0"/>
            </a:br>
            <a:r>
              <a:rPr lang="de-DE" sz="1300" dirty="0"/>
              <a:t>Das </a:t>
            </a:r>
            <a:r>
              <a:rPr lang="de-DE" sz="1300" dirty="0" err="1"/>
              <a:t>AirPassengers</a:t>
            </a:r>
            <a:r>
              <a:rPr lang="de-DE" sz="1300" dirty="0"/>
              <a:t>‑Dataset (monatliche Passagierzahlen 1949–1960) ist ein Standardbeispiel in der Literatur und wird u. a. in FPP für neuronale Netze verwendet.papers.ssrn+1</a:t>
            </a:r>
            <a:br>
              <a:rPr lang="de-DE" sz="1300" dirty="0"/>
            </a:br>
            <a:r>
              <a:rPr lang="de-DE" sz="1300" dirty="0"/>
              <a:t>Facebook/Prophet nutzt genau diese Daten in der Doku als Beispiel für </a:t>
            </a:r>
            <a:r>
              <a:rPr lang="de-DE" sz="1300" b="1" dirty="0"/>
              <a:t>multiplikative </a:t>
            </a:r>
            <a:r>
              <a:rPr lang="de-DE" sz="1300" b="1" dirty="0" err="1"/>
              <a:t>Saisonalität</a:t>
            </a:r>
            <a:r>
              <a:rPr lang="de-DE" sz="1300" dirty="0" err="1"/>
              <a:t>.</a:t>
            </a:r>
            <a:r>
              <a:rPr lang="de-DE" sz="1300" dirty="0" err="1">
                <a:hlinkClick r:id="rId2"/>
              </a:rPr>
              <a:t>facebook.github</a:t>
            </a:r>
            <a:br>
              <a:rPr lang="de-DE" sz="1300" dirty="0"/>
            </a:br>
            <a:r>
              <a:rPr lang="de-DE" sz="1300" dirty="0"/>
              <a:t>Chronos‑2‑Beispiele nutzen ebenfalls </a:t>
            </a:r>
            <a:r>
              <a:rPr lang="de-DE" sz="1300" dirty="0" err="1"/>
              <a:t>AirPassengers</a:t>
            </a:r>
            <a:r>
              <a:rPr lang="de-DE" sz="1300" dirty="0"/>
              <a:t> als einfaches Demo‑</a:t>
            </a:r>
            <a:r>
              <a:rPr lang="de-DE" sz="1300" dirty="0" err="1"/>
              <a:t>Dataset.</a:t>
            </a:r>
            <a:r>
              <a:rPr lang="de-DE" sz="1300" dirty="0" err="1">
                <a:hlinkClick r:id="rId3"/>
              </a:rPr>
              <a:t>huggingface</a:t>
            </a:r>
            <a:br>
              <a:rPr lang="de-DE" sz="1300" dirty="0"/>
            </a:br>
            <a:r>
              <a:rPr lang="de-DE" sz="1300" dirty="0"/>
              <a:t>Damit habt ihr ein Szenario, das:</a:t>
            </a:r>
            <a:br>
              <a:rPr lang="de-DE" sz="1300" dirty="0"/>
            </a:br>
            <a:r>
              <a:rPr lang="de-DE" sz="1300" dirty="0"/>
              <a:t>für Prophet didaktisch ideal ist (Trend, Saison,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),</a:t>
            </a:r>
            <a:br>
              <a:rPr lang="de-DE" sz="1300" dirty="0"/>
            </a:br>
            <a:r>
              <a:rPr lang="de-DE" sz="1300" dirty="0"/>
              <a:t>für Chronos perfekt als Zero‑Shot‑Beispiel taugt,</a:t>
            </a:r>
            <a:br>
              <a:rPr lang="de-DE" sz="1300" dirty="0"/>
            </a:br>
            <a:r>
              <a:rPr lang="de-DE" sz="1300" dirty="0"/>
              <a:t>und in FPP schon etabliert ist, was gut zu euren Kursanforderungen passt.otexts+1</a:t>
            </a:r>
            <a:br>
              <a:rPr lang="de-DE" sz="1300" dirty="0"/>
            </a:br>
            <a:r>
              <a:rPr lang="de-DE" sz="1300" b="1" dirty="0"/>
              <a:t>Wie ihr Flugdaten einsetzen könnt</a:t>
            </a:r>
            <a:br>
              <a:rPr lang="de-DE" sz="1300" b="1" dirty="0"/>
            </a:br>
            <a:r>
              <a:rPr lang="de-DE" sz="1300" dirty="0"/>
              <a:t>Ich würde folgendes Setup empfehlen:</a:t>
            </a:r>
            <a:br>
              <a:rPr lang="de-DE" sz="1300" dirty="0"/>
            </a:br>
            <a:r>
              <a:rPr lang="de-DE" sz="1300" b="1" dirty="0"/>
              <a:t>Externer Datensatz:</a:t>
            </a:r>
            <a:br>
              <a:rPr lang="de-DE" sz="1300" dirty="0"/>
            </a:br>
            <a:r>
              <a:rPr lang="de-DE" sz="1300" dirty="0" err="1"/>
              <a:t>AirPassengers</a:t>
            </a:r>
            <a:r>
              <a:rPr lang="de-DE" sz="1300" dirty="0"/>
              <a:t> (Monatszahlen) oder ein moderner Air‑Traffic‑Datensatz (z. B. aus </a:t>
            </a:r>
            <a:r>
              <a:rPr lang="de-DE" sz="1300" dirty="0" err="1"/>
              <a:t>Kaggle</a:t>
            </a:r>
            <a:r>
              <a:rPr lang="de-DE" sz="1300" dirty="0"/>
              <a:t>).kaggle+1</a:t>
            </a:r>
            <a:br>
              <a:rPr lang="de-DE" sz="1300" dirty="0"/>
            </a:br>
            <a:r>
              <a:rPr lang="de-DE" sz="1300" dirty="0"/>
              <a:t>Prophet: zeigen, wie additive vs. </a:t>
            </a:r>
            <a:r>
              <a:rPr lang="de-DE" sz="1300" dirty="0" err="1"/>
              <a:t>multiplicative</a:t>
            </a:r>
            <a:r>
              <a:rPr lang="de-DE" sz="1300" dirty="0"/>
              <a:t> </a:t>
            </a:r>
            <a:r>
              <a:rPr lang="de-DE" sz="1300" dirty="0" err="1"/>
              <a:t>Seasonality</a:t>
            </a:r>
            <a:r>
              <a:rPr lang="de-DE" sz="1300" dirty="0"/>
              <a:t> funktioniert (Prophet-Doku hat genau </a:t>
            </a:r>
            <a:r>
              <a:rPr lang="de-DE" sz="1100" dirty="0"/>
              <a:t>dazu ein </a:t>
            </a:r>
            <a:r>
              <a:rPr lang="de-DE" sz="1100" dirty="0" err="1"/>
              <a:t>AirPassengers</a:t>
            </a:r>
            <a:r>
              <a:rPr lang="de-DE" sz="1100" dirty="0"/>
              <a:t>‑Beispiel).</a:t>
            </a:r>
            <a:r>
              <a:rPr lang="de-DE" sz="1100" dirty="0" err="1">
                <a:hlinkClick r:id="rId2"/>
              </a:rPr>
              <a:t>facebook.github</a:t>
            </a:r>
            <a:br>
              <a:rPr lang="de-DE" sz="1100" dirty="0"/>
            </a:br>
            <a:r>
              <a:rPr lang="de-DE" sz="1100" dirty="0"/>
              <a:t>Chronos/Chronos‑2: Zero‑Shot‑Forecast über denselben Horizont mit </a:t>
            </a:r>
            <a:r>
              <a:rPr lang="de-DE" sz="1100" dirty="0" err="1"/>
              <a:t>quantilen</a:t>
            </a:r>
            <a:r>
              <a:rPr lang="de-DE" sz="1100" dirty="0"/>
              <a:t> </a:t>
            </a:r>
            <a:r>
              <a:rPr lang="de-DE" sz="1100" dirty="0" err="1"/>
              <a:t>Vorhersagen.</a:t>
            </a:r>
            <a:r>
              <a:rPr lang="de-DE" sz="1100" dirty="0" err="1">
                <a:hlinkClick r:id="rId3"/>
              </a:rPr>
              <a:t>huggingface</a:t>
            </a:r>
            <a:br>
              <a:rPr lang="de-DE" sz="1100" dirty="0"/>
            </a:br>
            <a:r>
              <a:rPr lang="de-DE" sz="1100" b="1" dirty="0"/>
              <a:t>Synthetische Flugdaten für Übungen:</a:t>
            </a:r>
            <a:br>
              <a:rPr lang="de-DE" sz="1100" dirty="0"/>
            </a:br>
            <a:r>
              <a:rPr lang="de-DE" sz="1100" dirty="0"/>
              <a:t>z. B. künstliche Passagierzeitreihe mit:</a:t>
            </a:r>
            <a:br>
              <a:rPr lang="de-DE" sz="1100" dirty="0"/>
            </a:br>
            <a:r>
              <a:rPr lang="de-DE" sz="1100" dirty="0"/>
              <a:t>sauberem Trend,</a:t>
            </a:r>
            <a:br>
              <a:rPr lang="de-DE" sz="1100" dirty="0"/>
            </a:br>
            <a:r>
              <a:rPr lang="de-DE" sz="1100" dirty="0"/>
              <a:t>klarer Jahres‑Saison,</a:t>
            </a:r>
            <a:br>
              <a:rPr lang="de-DE" sz="1100" dirty="0"/>
            </a:br>
            <a:r>
              <a:rPr lang="de-DE" sz="1100" dirty="0"/>
              <a:t>einem „Shock“ (z. B. plötzlicher Nachfrageeinbruch) oder Event.</a:t>
            </a:r>
            <a:br>
              <a:rPr lang="de-DE" sz="1100" dirty="0"/>
            </a:br>
            <a:r>
              <a:rPr lang="de-DE" sz="1100" dirty="0"/>
              <a:t>Vorteil: ihr kennt die „wahre“ Struktur und könnt sehr gezielt zeigen, wie Prophet und Chronos auf Trendbrüche, Events usw. reagieren.</a:t>
            </a:r>
            <a:br>
              <a:rPr lang="de-DE" sz="1100" dirty="0"/>
            </a:b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36044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BD87-5BAD-2806-8B8A-809E04B5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91CB7-4A32-3CFA-A59E-B6A3DE1EE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06651"/>
            <a:ext cx="9144000" cy="2603312"/>
          </a:xfrm>
        </p:spPr>
        <p:txBody>
          <a:bodyPr/>
          <a:lstStyle/>
          <a:p>
            <a:r>
              <a:rPr lang="de-DE" dirty="0"/>
              <a:t>Chronos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CD7CE67-7B75-8792-688B-71CD61631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b="1" dirty="0"/>
              <a:t>Chronos: </a:t>
            </a:r>
            <a:r>
              <a:rPr lang="de-DE" b="1" dirty="0" err="1"/>
              <a:t>Foundation</a:t>
            </a:r>
            <a:r>
              <a:rPr lang="de-DE" b="1" dirty="0"/>
              <a:t> Models </a:t>
            </a:r>
            <a:r>
              <a:rPr lang="de-DE" b="1" dirty="0" err="1"/>
              <a:t>for</a:t>
            </a:r>
            <a:r>
              <a:rPr lang="de-DE" b="1" dirty="0"/>
              <a:t> Zero-Shot Time Series </a:t>
            </a:r>
            <a:r>
              <a:rPr lang="de-DE" b="1" dirty="0" err="1"/>
              <a:t>Forecasting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Chronos behandelt </a:t>
            </a:r>
            <a:r>
              <a:rPr lang="de-DE" dirty="0" err="1"/>
              <a:t>Forecasting</a:t>
            </a:r>
            <a:r>
              <a:rPr lang="de-DE" dirty="0"/>
              <a:t> als Sprachmodellierungsproblem für Zeitreihen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Die Methode zielt auf probabilistische (Wahrscheinlichkeitsverteilung) Forecasts ohne task-spezifisches Training auf dem Zieldatensatz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Damit positioniert sich Chronos als moderner </a:t>
            </a:r>
            <a:r>
              <a:rPr lang="de-DE" dirty="0" err="1"/>
              <a:t>Foundation</a:t>
            </a:r>
            <a:r>
              <a:rPr lang="de-DE" dirty="0"/>
              <a:t>-Ansatz für </a:t>
            </a:r>
            <a:r>
              <a:rPr lang="de-DE" dirty="0" err="1"/>
              <a:t>Forecasting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F27F265-620C-CAC4-E309-35125AADD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6" y="464408"/>
            <a:ext cx="2038027" cy="209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4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B15FFD-D879-8F89-B305-3A534AB47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wurde Chronos entwickelt?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B156D6-0C8C-0969-2C14-EA84EEA26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Klassische Modelle werden lokal pro Zeitreihe geschätzt und nutzen kaum Wissen über viele Datensätze hinweg</a:t>
            </a:r>
          </a:p>
          <a:p>
            <a:r>
              <a:rPr lang="de-DE" dirty="0"/>
              <a:t>Viele Deep-Learning-Modelle sind zwar leistungsfähig, müssen aber weiterhin pro Datensatz trainiert oder feinjustiert werden</a:t>
            </a:r>
          </a:p>
          <a:p>
            <a:r>
              <a:rPr lang="de-DE" dirty="0"/>
              <a:t>Chronos verfolgt deshalb die Idee eines allgemeinen, vortrainierten </a:t>
            </a:r>
            <a:r>
              <a:rPr lang="de-DE" dirty="0" err="1"/>
              <a:t>Forecasting</a:t>
            </a:r>
            <a:r>
              <a:rPr lang="de-DE" dirty="0"/>
              <a:t>-Modells mit Zero-Shot-Fähigkeit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Der zentrale Schmerzpunkt ist der Modellierungsaufwand: Für jede neue </a:t>
            </a:r>
            <a:r>
              <a:rPr lang="de-DE" dirty="0" err="1"/>
              <a:t>Forecasting</a:t>
            </a:r>
            <a:r>
              <a:rPr lang="de-DE" dirty="0"/>
              <a:t>-Aufgabe wieder neu trainieren ist teuer und langsam.</a:t>
            </a:r>
          </a:p>
        </p:txBody>
      </p:sp>
    </p:spTree>
    <p:extLst>
      <p:ext uri="{BB962C8B-B14F-4D97-AF65-F5344CB8AC3E}">
        <p14:creationId xmlns:p14="http://schemas.microsoft.com/office/powerpoint/2010/main" val="59371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C3CC32-6B61-08BC-0BBE-7E3DACEB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Typische Einsatzfelder für Chronos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2B83D0-5A96-7F17-5962-B5E7697D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Retail, Energie, Finanzen, Gesundheit und Supply-Chain-Planung werden im Paper als relevante </a:t>
            </a:r>
            <a:r>
              <a:rPr lang="de-DE" dirty="0" err="1"/>
              <a:t>Forecasting</a:t>
            </a:r>
            <a:r>
              <a:rPr lang="de-DE" dirty="0"/>
              <a:t>-Domänen genannt</a:t>
            </a:r>
          </a:p>
          <a:p>
            <a:r>
              <a:rPr lang="de-DE" dirty="0"/>
              <a:t>Chronos ist besonders attraktiv, wenn schnell ein starker erster Forecast ohne langes Training benötigt wird</a:t>
            </a:r>
          </a:p>
          <a:p>
            <a:r>
              <a:rPr lang="de-DE" dirty="0"/>
              <a:t>Der Nutzen liegt vor allem in vereinfachten </a:t>
            </a:r>
            <a:r>
              <a:rPr lang="de-DE" dirty="0" err="1"/>
              <a:t>Forecasting</a:t>
            </a:r>
            <a:r>
              <a:rPr lang="de-DE" dirty="0"/>
              <a:t>-Pipelines und schneller Einsetzbarkeit in neuen Datensätzen</a:t>
            </a:r>
            <a:br>
              <a:rPr lang="de-DE" dirty="0"/>
            </a:br>
            <a:endParaRPr lang="de-DE" dirty="0"/>
          </a:p>
          <a:p>
            <a:endParaRPr lang="de-DE" dirty="0"/>
          </a:p>
          <a:p>
            <a:r>
              <a:rPr lang="de-DE" dirty="0"/>
              <a:t>Chronos ist weniger ein feinmanuell abgestimmtes Spezialmodell, sondern eher ein sofort einsetzbarer Generalis</a:t>
            </a:r>
          </a:p>
        </p:txBody>
      </p:sp>
    </p:spTree>
    <p:extLst>
      <p:ext uri="{BB962C8B-B14F-4D97-AF65-F5344CB8AC3E}">
        <p14:creationId xmlns:p14="http://schemas.microsoft.com/office/powerpoint/2010/main" val="254108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7CC31-6FF1-E0F2-8E55-A1B116AB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Von der Zeitreihe zur ‘Sprache der Zeitreihen’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74D6B1-8078-16CA-2C9E-160869BD2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Sprachmodelle arbeiten mit Tokens aus einem endlichen Vokabular, Zeitreihen dagegen mit reellen Werten</a:t>
            </a:r>
          </a:p>
          <a:p>
            <a:r>
              <a:rPr lang="de-DE" dirty="0"/>
              <a:t>Chronos löst dieses Problem durch zwei Schritte: Skalierung und Quantisierung</a:t>
            </a:r>
          </a:p>
          <a:p>
            <a:r>
              <a:rPr lang="de-DE" dirty="0"/>
              <a:t>Danach kann die Zeitreihe wie eine Token-Sequenz von einem Transformer verarbeitet werden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Die Kernidee ist überraschend einfach: Wir machen aus Zahlen eine diskrete Sprache, damit ein Sprachmodell sie lernen kann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703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A166D-3020-272E-B1B6-C198C404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128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de-DE" dirty="0"/>
            </a:br>
            <a:br>
              <a:rPr lang="de-DE" dirty="0"/>
            </a:br>
            <a:r>
              <a:rPr lang="de-DE" b="1" dirty="0" err="1"/>
              <a:t>Forecasting</a:t>
            </a:r>
            <a:r>
              <a:rPr lang="de-DE" b="1" dirty="0"/>
              <a:t> als Verteilungsprognose</a:t>
            </a:r>
            <a:br>
              <a:rPr lang="de-DE" b="1" dirty="0"/>
            </a:b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828F50-2728-D4F7-F287-8E279D5EAF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9608" y="1313299"/>
                <a:ext cx="10654192" cy="486366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Gegeben eine Zeitreihe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de-DE" dirty="0"/>
                  <a:t>, soll die Verteilung der nächsten 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de-DE" dirty="0"/>
                  <a:t> Werte prognostiziert werden: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+1: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  <m:r>
                          <a:rPr lang="de-DE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/>
                  <a:t> (| gegeben)</a:t>
                </a:r>
              </a:p>
              <a:p>
                <a:endParaRPr lang="de-DE" dirty="0"/>
              </a:p>
              <a:p>
                <a:r>
                  <a:rPr lang="de-DE" dirty="0"/>
                  <a:t>Chronos fokussiert im Originalpaper auf univariate </a:t>
                </a:r>
                <a:r>
                  <a:rPr lang="de-DE" dirty="0" err="1"/>
                  <a:t>Forecasting</a:t>
                </a:r>
                <a:r>
                  <a:rPr lang="de-DE" dirty="0"/>
                  <a:t>-Aufgaben</a:t>
                </a:r>
              </a:p>
              <a:p>
                <a:r>
                  <a:rPr lang="de-DE" dirty="0"/>
                  <a:t>Ziel ist nicht nur ein </a:t>
                </a:r>
                <a:r>
                  <a:rPr lang="de-DE" dirty="0" err="1"/>
                  <a:t>Punktforecast</a:t>
                </a:r>
                <a:r>
                  <a:rPr lang="de-DE" dirty="0"/>
                  <a:t>, sondern eine gesamte prädiktive Verteilung</a:t>
                </a:r>
              </a:p>
              <a:p>
                <a:r>
                  <a:rPr lang="de-DE" dirty="0"/>
                  <a:t>Dadurch sind Unsicherheiten und Quantile direkt ableitbar</a:t>
                </a:r>
              </a:p>
              <a:p>
                <a:pPr marL="0" indent="0">
                  <a:buNone/>
                </a:pPr>
                <a:endParaRPr lang="de-DE" b="0" i="0" dirty="0">
                  <a:solidFill>
                    <a:srgbClr val="27251E"/>
                  </a:solidFill>
                  <a:effectLst/>
                  <a:latin typeface="pplxSerif"/>
                </a:endParaRPr>
              </a:p>
              <a:p>
                <a:pPr marL="0" indent="0">
                  <a:buNone/>
                </a:pPr>
                <a:endParaRPr lang="de-DE" b="0" i="0" dirty="0">
                  <a:solidFill>
                    <a:srgbClr val="27251E"/>
                  </a:solidFill>
                  <a:effectLst/>
                  <a:latin typeface="pplxSerif"/>
                </a:endParaRPr>
              </a:p>
              <a:p>
                <a:pPr marL="0" indent="0">
                  <a:buNone/>
                </a:pPr>
                <a:r>
                  <a:rPr lang="de-DE" b="0" i="0" dirty="0">
                    <a:solidFill>
                      <a:srgbClr val="27251E"/>
                    </a:solidFill>
                    <a:effectLst/>
                    <a:latin typeface="pplxSerif"/>
                  </a:rPr>
                  <a:t>Chronos ist probabilistisch gedacht, nicht nur als reiner Punktprognose-Mechanismus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2828F50-2728-D4F7-F287-8E279D5EAF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9608" y="1313299"/>
                <a:ext cx="10654192" cy="4863664"/>
              </a:xfrm>
              <a:blipFill>
                <a:blip r:embed="rId2"/>
                <a:stretch>
                  <a:fillRect l="-1030" t="-3133" r="-1144" b="-6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891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C8E57-F979-8D1E-0CA4-2B570BAB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 err="1"/>
              <a:t>Scaling</a:t>
            </a:r>
            <a:r>
              <a:rPr lang="de-DE" b="1" dirty="0"/>
              <a:t> + </a:t>
            </a:r>
            <a:r>
              <a:rPr lang="de-DE" b="1" dirty="0" err="1"/>
              <a:t>Quantization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A9D0DD-B7A6-2ECD-0F37-3E7D7B0D2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Zuerst wird die Zeitreihe skaliert, im Paper standardmäßig per </a:t>
            </a:r>
            <a:r>
              <a:rPr lang="de-DE" b="1" dirty="0"/>
              <a:t>Mean </a:t>
            </a:r>
            <a:r>
              <a:rPr lang="de-DE" b="1" dirty="0" err="1"/>
              <a:t>Scaling</a:t>
            </a:r>
            <a:r>
              <a:rPr lang="de-DE" b="1" dirty="0"/>
              <a:t> </a:t>
            </a:r>
            <a:r>
              <a:rPr lang="de-DE" dirty="0"/>
              <a:t>über den historischen Kontext</a:t>
            </a:r>
          </a:p>
          <a:p>
            <a:r>
              <a:rPr lang="de-DE" dirty="0"/>
              <a:t>Danach werden die skalierten Werte in diskrete </a:t>
            </a:r>
            <a:r>
              <a:rPr lang="de-DE" b="1" dirty="0"/>
              <a:t>Bins</a:t>
            </a:r>
            <a:r>
              <a:rPr lang="de-DE" dirty="0"/>
              <a:t> quantisiert</a:t>
            </a:r>
          </a:p>
          <a:p>
            <a:r>
              <a:rPr lang="de-DE" dirty="0"/>
              <a:t>Das Ergebnis ist eine Token-Sequenz aus einem festen Zeitreihen-Vokabular plus Spezialtokens wie </a:t>
            </a:r>
            <a:r>
              <a:rPr lang="de-DE" b="1" dirty="0"/>
              <a:t>PAD</a:t>
            </a:r>
            <a:r>
              <a:rPr lang="de-DE" dirty="0"/>
              <a:t> (Padding) und </a:t>
            </a:r>
            <a:r>
              <a:rPr lang="de-DE" b="1" dirty="0"/>
              <a:t>EOS </a:t>
            </a:r>
            <a:r>
              <a:rPr lang="de-DE" dirty="0"/>
              <a:t>(End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)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Das ist der wichtigste mathematische Schritt in Chronos, weil hier kontinuierliche Werte in eine diskrete Modellwelt übersetzt werden</a:t>
            </a:r>
          </a:p>
        </p:txBody>
      </p:sp>
    </p:spTree>
    <p:extLst>
      <p:ext uri="{BB962C8B-B14F-4D97-AF65-F5344CB8AC3E}">
        <p14:creationId xmlns:p14="http://schemas.microsoft.com/office/powerpoint/2010/main" val="34488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537FBF-BB62-122E-98C2-6583CB43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Transformer ohne spezielle </a:t>
            </a:r>
            <a:r>
              <a:rPr lang="de-DE" b="1" dirty="0" err="1"/>
              <a:t>Forecasting</a:t>
            </a:r>
            <a:r>
              <a:rPr lang="de-DE" b="1" dirty="0"/>
              <a:t>-Architektur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152106-0557-3858-0579-488CE414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Chronos verwendet weitgehend unveränderte Sprachmodellarchitekturen, vor allem Modelle aus der T5-Familie</a:t>
            </a:r>
          </a:p>
          <a:p>
            <a:r>
              <a:rPr lang="de-DE" dirty="0"/>
              <a:t>Im Paper reichen die Modellgrößen von 20 Millionen bis 710 Millionen Parametern (</a:t>
            </a:r>
            <a:r>
              <a:rPr lang="de-DE" dirty="0">
                <a:hlinkClick r:id="rId2"/>
              </a:rPr>
              <a:t>Ansari_et-al_2024_Chronos_Learning-the-Language-of-Time-Series.pdf</a:t>
            </a:r>
            <a:r>
              <a:rPr lang="de-DE" dirty="0"/>
              <a:t>)</a:t>
            </a:r>
          </a:p>
          <a:p>
            <a:r>
              <a:rPr lang="de-DE" dirty="0"/>
              <a:t>Die Grundidee ist bewusst minimalistisch: möglichst wenig zeitreihenspezifisches Engineering, möglichst viel Nutzung bestehender LM-Infrastruktur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Chronos zeigt, dass man nicht zwingend eine völlig neue Architektur bauen muss, um starke Forecasts zu erhalten</a:t>
            </a:r>
          </a:p>
        </p:txBody>
      </p:sp>
    </p:spTree>
    <p:extLst>
      <p:ext uri="{BB962C8B-B14F-4D97-AF65-F5344CB8AC3E}">
        <p14:creationId xmlns:p14="http://schemas.microsoft.com/office/powerpoint/2010/main" val="1778029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DB491-023B-A6F4-9C5C-B0BB1CBFF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b="1" dirty="0"/>
              <a:t>Regression via Classification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18453A-382A-7983-874A-9F23EC12B8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de-DE" dirty="0"/>
                  <a:t>Nach der Quantisierung sagt das Modell den nächsten Token statt direkt den nächsten reellen Wert vorher</a:t>
                </a:r>
              </a:p>
              <a:p>
                <a:r>
                  <a:rPr lang="de-DE" dirty="0"/>
                  <a:t>Trainiert wird mit Cross-</a:t>
                </a:r>
                <a:r>
                  <a:rPr lang="de-DE" dirty="0" err="1"/>
                  <a:t>Entropy</a:t>
                </a:r>
                <a:r>
                  <a:rPr lang="de-DE" dirty="0"/>
                  <a:t>-Loss auf die </a:t>
                </a:r>
                <a:r>
                  <a:rPr lang="de-DE" dirty="0" err="1"/>
                  <a:t>Tokenverteilung</a:t>
                </a:r>
                <a:endParaRPr lang="de-DE" dirty="0"/>
              </a:p>
              <a:p>
                <a:r>
                  <a:rPr lang="de-DE" dirty="0"/>
                  <a:t>Damit modelliert Chronos </a:t>
                </a:r>
                <a:r>
                  <a:rPr lang="de-DE" dirty="0" err="1"/>
                  <a:t>Forecasting</a:t>
                </a:r>
                <a:r>
                  <a:rPr lang="de-DE" dirty="0"/>
                  <a:t> als Klassifikationsproblem auf diskreten Bins</a:t>
                </a:r>
              </a:p>
              <a:p>
                <a:r>
                  <a:rPr lang="de-DE" dirty="0"/>
                  <a:t>Die Verlustfunktion wird im Paper als kategorische Cross </a:t>
                </a:r>
                <a:r>
                  <a:rPr lang="de-DE" dirty="0" err="1"/>
                  <a:t>Entropy</a:t>
                </a:r>
                <a:r>
                  <a:rPr lang="de-DE" dirty="0"/>
                  <a:t> formuliert: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de-DE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de-DE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de-DE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für die </a:t>
                </a:r>
                <a:r>
                  <a:rPr lang="de-DE" dirty="0" err="1"/>
                  <a:t>tokenisierte</a:t>
                </a:r>
                <a:r>
                  <a:rPr lang="de-DE" dirty="0"/>
                  <a:t> Sequenz</a:t>
                </a:r>
              </a:p>
              <a:p>
                <a:pPr marL="0" indent="0">
                  <a:buNone/>
                </a:pPr>
                <a:r>
                  <a:rPr lang="de-DE" dirty="0"/>
                  <a:t>Man kann sich Chronos also als Regression-via-Classification vorstellen: erst diskretisieren, dann </a:t>
                </a:r>
                <a:r>
                  <a:rPr lang="de-DE" dirty="0" err="1"/>
                  <a:t>Tokenwahrscheinlichkeiten</a:t>
                </a:r>
                <a:r>
                  <a:rPr lang="de-DE" dirty="0"/>
                  <a:t> lernen.</a:t>
                </a:r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618453A-382A-7983-874A-9F23EC12B8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521" r="-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076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03674-3DCF-64EC-A672-0177EF7C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Von Tokens zurück zu Prognosen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B8BB53-FD49-ACED-99EB-24A8D524A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/>
              <a:t>Bei der Inferenz sampelt Chronos autoregressiv zukünftige Tokens aus der gelernten Verteilung</a:t>
            </a:r>
          </a:p>
          <a:p>
            <a:r>
              <a:rPr lang="de-DE" dirty="0"/>
              <a:t>Diese Tokens werden </a:t>
            </a:r>
            <a:r>
              <a:rPr lang="de-DE" dirty="0" err="1"/>
              <a:t>dequantisiert</a:t>
            </a:r>
            <a:r>
              <a:rPr lang="de-DE" dirty="0"/>
              <a:t> und anschließend zurück auf die Originalskala transformiert</a:t>
            </a:r>
          </a:p>
          <a:p>
            <a:r>
              <a:rPr lang="de-DE" dirty="0"/>
              <a:t>Mehrere gesampelte Pfade ergeben eine prädiktive Verteilung, aus der Quantile und Unsicherheiten abgeleitet werden können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Damit bekommt man nicht nur einen Forecast, sondern viele mögliche Zukunftspfade — und genau daraus entsteht die Unsicherheitsinformation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176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AA2A1D-A0CE-185C-5490-6783D9D2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Warum Chronos viel Aufmerksamkeit bekommen hat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8C462C-25CA-CED1-0DF2-0B3F5B088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 Datensätzen aus dem Trainingskorpus übertraf Chronos andere Methoden signifikant, und auf neuen Datensätzen zeigte es vergleichbare oder teils bessere Zero-Shot-Leistung als speziell darauf trainierte Verfahren</a:t>
            </a:r>
          </a:p>
          <a:p>
            <a:pPr marL="0" indent="0">
              <a:buNone/>
            </a:pPr>
            <a:r>
              <a:rPr lang="de-DE" dirty="0"/>
              <a:t>Wird deshalb als wichtiges </a:t>
            </a:r>
            <a:r>
              <a:rPr lang="de-DE" dirty="0" err="1"/>
              <a:t>Foundation</a:t>
            </a:r>
            <a:r>
              <a:rPr lang="de-DE" dirty="0"/>
              <a:t>-Model-Ansatz für Zero-Shot-</a:t>
            </a:r>
            <a:r>
              <a:rPr lang="de-DE" dirty="0" err="1"/>
              <a:t>Forecasting</a:t>
            </a:r>
            <a:r>
              <a:rPr lang="de-DE" dirty="0"/>
              <a:t> angesehen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Vortraining auf vielen Zeitreihen kann Generalisierung auf neue </a:t>
            </a:r>
            <a:r>
              <a:rPr lang="de-DE" dirty="0" err="1"/>
              <a:t>Forecasting</a:t>
            </a:r>
            <a:r>
              <a:rPr lang="de-DE" dirty="0"/>
              <a:t>-Aufgaben ermöglichen</a:t>
            </a:r>
          </a:p>
        </p:txBody>
      </p:sp>
    </p:spTree>
    <p:extLst>
      <p:ext uri="{BB962C8B-B14F-4D97-AF65-F5344CB8AC3E}">
        <p14:creationId xmlns:p14="http://schemas.microsoft.com/office/powerpoint/2010/main" val="1930552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60F6D-89BD-6CD9-F544-0488315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Wichtige Einschränkungen von Chronos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941E3C-66FD-8702-4A9C-3FE6E4107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Originalversion fokussiert auf univariate </a:t>
            </a:r>
            <a:r>
              <a:rPr lang="de-DE" dirty="0" err="1"/>
              <a:t>Forecasting</a:t>
            </a:r>
            <a:r>
              <a:rPr lang="de-DE" dirty="0"/>
              <a:t>-Aufgaben</a:t>
            </a:r>
          </a:p>
          <a:p>
            <a:r>
              <a:rPr lang="de-DE" dirty="0"/>
              <a:t>Durch feste Quantisierungsbereiche kann die Modellierung starker Trends theoretisch eingeschränkt sein</a:t>
            </a:r>
          </a:p>
          <a:p>
            <a:r>
              <a:rPr lang="de-DE" dirty="0"/>
              <a:t>Zudem ist Chronos methodisch komplexer und schwerer erklärbar als klassische Verfahren wie Prophet 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Stakeholder-Kommunikation ist Chronos oft weniger intuitiv als Prophet, auch wenn es methodisch moderner ist</a:t>
            </a:r>
          </a:p>
        </p:txBody>
      </p:sp>
    </p:spTree>
    <p:extLst>
      <p:ext uri="{BB962C8B-B14F-4D97-AF65-F5344CB8AC3E}">
        <p14:creationId xmlns:p14="http://schemas.microsoft.com/office/powerpoint/2010/main" val="3374242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03EAA-F582-95F2-B91B-CE49AD37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71738" cy="1325563"/>
          </a:xfrm>
        </p:spPr>
        <p:txBody>
          <a:bodyPr>
            <a:normAutofit fontScale="90000"/>
          </a:bodyPr>
          <a:lstStyle/>
          <a:p>
            <a:r>
              <a:rPr lang="de-DE" b="1" dirty="0"/>
              <a:t>Chronos vs. klassische und andere DL-Methoden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14A21-255C-CFC5-B50D-6FB72620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Gegenüber Prophet oder ETS ist Chronos deutlich weniger regelbasiert und stärker datengetrieben vortrainiert</a:t>
            </a:r>
          </a:p>
          <a:p>
            <a:r>
              <a:rPr lang="de-DE" dirty="0"/>
              <a:t>Gegenüber vielen Deep-Learning-Ansätzen ist Chronos attraktiv, weil es Zero-Shot-Prognosen ohne erneutes Training auf dem Zieldatensatz ermöglicht</a:t>
            </a:r>
          </a:p>
        </p:txBody>
      </p:sp>
    </p:spTree>
    <p:extLst>
      <p:ext uri="{BB962C8B-B14F-4D97-AF65-F5344CB8AC3E}">
        <p14:creationId xmlns:p14="http://schemas.microsoft.com/office/powerpoint/2010/main" val="2425253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F84C1-1B9F-53BB-36EB-5B451F8A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Benchmarking Screenshots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6D921C-7A86-1FB8-870E-2AD98726D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Anwendungsbeispiel</a:t>
            </a:r>
          </a:p>
        </p:txBody>
      </p:sp>
    </p:spTree>
    <p:extLst>
      <p:ext uri="{BB962C8B-B14F-4D97-AF65-F5344CB8AC3E}">
        <p14:creationId xmlns:p14="http://schemas.microsoft.com/office/powerpoint/2010/main" val="921317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C52B-3924-1C8C-8D78-54AAD360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0A4652-8F97-7898-5309-72B5A4B5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378CB8-42CE-5499-A26A-344EDE0C4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838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35729-38E7-93AD-5F26-E2FE856E7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3D039-A881-F438-18F8-887E2D810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 on Übung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4457CB-9C91-6EF6-066A-3BE859DC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720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Microsoft Office PowerPoint</Application>
  <PresentationFormat>Breitbild</PresentationFormat>
  <Paragraphs>81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pplxSerif</vt:lpstr>
      <vt:lpstr>Office</vt:lpstr>
      <vt:lpstr>PowerPoint-Präsentation</vt:lpstr>
      <vt:lpstr>Warum Flugdaten didaktisch stark sind Klarer Business-Kontext: Nachfrage nach Flügen ist ein klassisches Forecasting-Thema (Kapazitätsplanung, Revenue Management, Personalplanung) und wird in FPP explizit als Beispiel erwähnt.otexts+1 Deutliche Struktur: Viele Flug-/Passagierdaten haben klaren Trend und starke Jahres‑ und ggf. Wochen‑Saisonalität; genau das wollen Prophet (Trend + Seasonality + Holidays) und Foundation‑Modelle wie Chronos ausnutzen.otexts+2 Bekannte Lehr-Datensätze: Das AirPassengers‑Dataset (monatliche Passagierzahlen 1949–1960) ist ein Standardbeispiel in der Literatur und wird u. a. in FPP für neuronale Netze verwendet.papers.ssrn+1 Facebook/Prophet nutzt genau diese Daten in der Doku als Beispiel für multiplikative Saisonalität.facebook.github Chronos‑2‑Beispiele nutzen ebenfalls AirPassengers als einfaches Demo‑Dataset.huggingface Damit habt ihr ein Szenario, das: für Prophet didaktisch ideal ist (Trend, Saison, multiplicative Seasonality), für Chronos perfekt als Zero‑Shot‑Beispiel taugt, und in FPP schon etabliert ist, was gut zu euren Kursanforderungen passt.otexts+1 Wie ihr Flugdaten einsetzen könnt Ich würde folgendes Setup empfehlen: Externer Datensatz: AirPassengers (Monatszahlen) oder ein moderner Air‑Traffic‑Datensatz (z. B. aus Kaggle).kaggle+1 Prophet: zeigen, wie additive vs. multiplicative Seasonality funktioniert (Prophet-Doku hat genau dazu ein AirPassengers‑Beispiel).facebook.github Chronos/Chronos‑2: Zero‑Shot‑Forecast über denselben Horizont mit quantilen Vorhersagen.huggingface Synthetische Flugdaten für Übungen: z. B. künstliche Passagierzeitreihe mit: sauberem Trend, klarer Jahres‑Saison, einem „Shock“ (z. B. plötzlicher Nachfrageeinbruch) oder Event. Vorteil: ihr kennt die „wahre“ Struktur und könnt sehr gezielt zeigen, wie Prophet und Chronos auf Trendbrüche, Events usw. reagieren. </vt:lpstr>
      <vt:lpstr>Chronos</vt:lpstr>
      <vt:lpstr>Warum wurde Chronos entwickelt?</vt:lpstr>
      <vt:lpstr>Typische Einsatzfelder für Chronos</vt:lpstr>
      <vt:lpstr>Von der Zeitreihe zur ‘Sprache der Zeitreihen’</vt:lpstr>
      <vt:lpstr>  Forecasting als Verteilungsprognose </vt:lpstr>
      <vt:lpstr>Scaling + Quantization  </vt:lpstr>
      <vt:lpstr>Transformer ohne spezielle Forecasting-Architektur</vt:lpstr>
      <vt:lpstr>Regression via Classification  </vt:lpstr>
      <vt:lpstr>Von Tokens zurück zu Prognosen</vt:lpstr>
      <vt:lpstr>Warum Chronos viel Aufmerksamkeit bekommen hat</vt:lpstr>
      <vt:lpstr>Wichtige Einschränkungen von Chronos</vt:lpstr>
      <vt:lpstr>Chronos vs. klassische und andere DL-Methoden  </vt:lpstr>
      <vt:lpstr>Benchmarking Screenshots</vt:lpstr>
      <vt:lpstr>Demo</vt:lpstr>
      <vt:lpstr>Hands on Übung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Steffen</dc:creator>
  <cp:lastModifiedBy>Kai Steffen</cp:lastModifiedBy>
  <cp:revision>6</cp:revision>
  <dcterms:created xsi:type="dcterms:W3CDTF">2026-06-04T10:10:15Z</dcterms:created>
  <dcterms:modified xsi:type="dcterms:W3CDTF">2026-06-04T14:31:03Z</dcterms:modified>
</cp:coreProperties>
</file>