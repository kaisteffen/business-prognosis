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389120" cy="438912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572000"/>
            <a:ext cx="2926080" cy="2926080"/>
          </a:xfrm>
          <a:prstGeom prst="ellipse">
            <a:avLst/>
          </a:prstGeom>
          <a:solidFill>
            <a:srgbClr val="0E1B3A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325880"/>
            <a:ext cx="960120" cy="9601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912" y="1585112"/>
            <a:ext cx="441655" cy="44165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011680" y="1325880"/>
            <a:ext cx="960120" cy="9601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912" y="1585112"/>
            <a:ext cx="441655" cy="44165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1248" y="2423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Prophet &amp; Chronos</a:t>
            </a:r>
            <a:endParaRPr lang="en-US" sz="5400" dirty="0"/>
          </a:p>
        </p:txBody>
      </p:sp>
      <p:sp>
        <p:nvSpPr>
          <p:cNvPr id="9" name="Text 5"/>
          <p:cNvSpPr/>
          <p:nvPr/>
        </p:nvSpPr>
        <p:spPr>
          <a:xfrm>
            <a:off x="877824" y="358444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Paradigmen der Zeitreihenprognose — Funktionsweise, Stärken und Grenzen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877824" y="43159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Klassisches additives Modell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pPr indent="0" marL="0">
              <a:buNone/>
            </a:pPr>
            <a:r>
              <a:rPr lang="en-US" sz="1500" b="1" dirty="0">
                <a:solidFill>
                  <a:srgbClr val="C4A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Foundation-Modell (Zero-Shot)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77824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Begleitmaterial zur Prophet-Demo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137160" cy="137160"/>
          </a:xfrm>
          <a:prstGeom prst="ellipse">
            <a:avLst/>
          </a:prstGeom>
          <a:solidFill>
            <a:srgbClr val="0D7C7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285232" cy="1060704"/>
          </a:xfrm>
          <a:prstGeom prst="roundRect">
            <a:avLst>
              <a:gd name="adj" fmla="val 6897"/>
            </a:avLst>
          </a:prstGeom>
          <a:solidFill>
            <a:srgbClr val="F4F6FB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609344"/>
            <a:ext cx="676656" cy="676656"/>
          </a:xfrm>
          <a:prstGeom prst="ellipse">
            <a:avLst/>
          </a:prstGeom>
          <a:solidFill>
            <a:srgbClr val="C9760A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793" y="1792041"/>
            <a:ext cx="311262" cy="311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91056" y="1572768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Prophet — Funktionsweise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91056" y="1993392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GAM, die vier Bausteine, Analyst-in-the-Loop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266944" y="160020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FE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548640" y="2660904"/>
            <a:ext cx="5285232" cy="1060704"/>
          </a:xfrm>
          <a:prstGeom prst="roundRect">
            <a:avLst>
              <a:gd name="adj" fmla="val 6897"/>
            </a:avLst>
          </a:prstGeom>
          <a:solidFill>
            <a:srgbClr val="F4F6FB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68096" y="2852928"/>
            <a:ext cx="676656" cy="676656"/>
          </a:xfrm>
          <a:prstGeom prst="ellipse">
            <a:avLst/>
          </a:prstGeom>
          <a:solidFill>
            <a:srgbClr val="C9760A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793" y="3035625"/>
            <a:ext cx="311262" cy="3112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91056" y="2816352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Prophet — Stärken &amp; gute Fälle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591056" y="3236976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das Modell glänzt — Beispiele &amp; Quellen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266944" y="2843784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FE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548640" y="3904488"/>
            <a:ext cx="5285232" cy="1060704"/>
          </a:xfrm>
          <a:prstGeom prst="roundRect">
            <a:avLst>
              <a:gd name="adj" fmla="val 6897"/>
            </a:avLst>
          </a:prstGeom>
          <a:solidFill>
            <a:srgbClr val="F4F6FB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68096" y="4096512"/>
            <a:ext cx="676656" cy="676656"/>
          </a:xfrm>
          <a:prstGeom prst="ellipse">
            <a:avLst/>
          </a:prstGeom>
          <a:solidFill>
            <a:srgbClr val="C9760A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793" y="4279209"/>
            <a:ext cx="311262" cy="3112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91056" y="4059936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Prophet — Grenzen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591056" y="448056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es scheitert — Beispiele &amp; Quellen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266944" y="4087368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FE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548640" y="5148072"/>
            <a:ext cx="5285232" cy="1060704"/>
          </a:xfrm>
          <a:prstGeom prst="roundRect">
            <a:avLst>
              <a:gd name="adj" fmla="val 6897"/>
            </a:avLst>
          </a:prstGeom>
          <a:solidFill>
            <a:srgbClr val="F4F6FB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68096" y="5340096"/>
            <a:ext cx="676656" cy="676656"/>
          </a:xfrm>
          <a:prstGeom prst="ellipse">
            <a:avLst/>
          </a:prstGeom>
          <a:solidFill>
            <a:srgbClr val="6D28D9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793" y="5522793"/>
            <a:ext cx="311262" cy="31126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91056" y="5303520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Chronos — Funktionsweise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591056" y="5724144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Tokenisierung, T5, Zero-Shot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5266944" y="5330952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FE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8" name="Shape 22"/>
          <p:cNvSpPr/>
          <p:nvPr/>
        </p:nvSpPr>
        <p:spPr>
          <a:xfrm>
            <a:off x="6355080" y="1417320"/>
            <a:ext cx="5285232" cy="1060704"/>
          </a:xfrm>
          <a:prstGeom prst="roundRect">
            <a:avLst>
              <a:gd name="adj" fmla="val 6897"/>
            </a:avLst>
          </a:prstGeom>
          <a:solidFill>
            <a:srgbClr val="F4F6FB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574536" y="1609344"/>
            <a:ext cx="676656" cy="676656"/>
          </a:xfrm>
          <a:prstGeom prst="ellipse">
            <a:avLst/>
          </a:prstGeom>
          <a:solidFill>
            <a:srgbClr val="6D28D9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233" y="1792041"/>
            <a:ext cx="311262" cy="31126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397496" y="1572768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Chronos — Stärken &amp; gute Fälle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7397496" y="1993392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Generalisierung — Beispiele &amp; Quellen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11073384" y="160020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FE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34" name="Shape 27"/>
          <p:cNvSpPr/>
          <p:nvPr/>
        </p:nvSpPr>
        <p:spPr>
          <a:xfrm>
            <a:off x="6355080" y="2660904"/>
            <a:ext cx="5285232" cy="1060704"/>
          </a:xfrm>
          <a:prstGeom prst="roundRect">
            <a:avLst>
              <a:gd name="adj" fmla="val 6897"/>
            </a:avLst>
          </a:prstGeom>
          <a:solidFill>
            <a:srgbClr val="F4F6FB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574536" y="2852928"/>
            <a:ext cx="676656" cy="676656"/>
          </a:xfrm>
          <a:prstGeom prst="ellipse">
            <a:avLst/>
          </a:prstGeom>
          <a:solidFill>
            <a:srgbClr val="6D28D9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7233" y="3035625"/>
            <a:ext cx="311262" cy="31126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397496" y="2816352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Chronos — Grenzen</a:t>
            </a:r>
            <a:endParaRPr lang="en-US" sz="1500" dirty="0"/>
          </a:p>
        </p:txBody>
      </p:sp>
      <p:sp>
        <p:nvSpPr>
          <p:cNvPr id="38" name="Text 30"/>
          <p:cNvSpPr/>
          <p:nvPr/>
        </p:nvSpPr>
        <p:spPr>
          <a:xfrm>
            <a:off x="7397496" y="3236976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Kovariaten, Speed, Kontext — Quellen</a:t>
            </a:r>
            <a:endParaRPr lang="en-US" sz="1150" dirty="0"/>
          </a:p>
        </p:txBody>
      </p:sp>
      <p:sp>
        <p:nvSpPr>
          <p:cNvPr id="39" name="Text 31"/>
          <p:cNvSpPr/>
          <p:nvPr/>
        </p:nvSpPr>
        <p:spPr>
          <a:xfrm>
            <a:off x="11073384" y="2843784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FE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40" name="Shape 32"/>
          <p:cNvSpPr/>
          <p:nvPr/>
        </p:nvSpPr>
        <p:spPr>
          <a:xfrm>
            <a:off x="6355080" y="3904488"/>
            <a:ext cx="5285232" cy="1060704"/>
          </a:xfrm>
          <a:prstGeom prst="roundRect">
            <a:avLst>
              <a:gd name="adj" fmla="val 6897"/>
            </a:avLst>
          </a:prstGeom>
          <a:solidFill>
            <a:srgbClr val="F4F6FB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6574536" y="4096512"/>
            <a:ext cx="676656" cy="676656"/>
          </a:xfrm>
          <a:prstGeom prst="ellipse">
            <a:avLst/>
          </a:prstGeom>
          <a:solidFill>
            <a:srgbClr val="0D7C74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7233" y="4279209"/>
            <a:ext cx="311262" cy="311262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7397496" y="4059936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Vergleich &amp; Entscheidungshilfe</a:t>
            </a:r>
            <a:endParaRPr lang="en-US" sz="1500" dirty="0"/>
          </a:p>
        </p:txBody>
      </p:sp>
      <p:sp>
        <p:nvSpPr>
          <p:cNvPr id="44" name="Text 35"/>
          <p:cNvSpPr/>
          <p:nvPr/>
        </p:nvSpPr>
        <p:spPr>
          <a:xfrm>
            <a:off x="7397496" y="448056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 nimmt man was?</a:t>
            </a:r>
            <a:endParaRPr lang="en-US" sz="1150" dirty="0"/>
          </a:p>
        </p:txBody>
      </p:sp>
      <p:sp>
        <p:nvSpPr>
          <p:cNvPr id="45" name="Text 36"/>
          <p:cNvSpPr/>
          <p:nvPr/>
        </p:nvSpPr>
        <p:spPr>
          <a:xfrm>
            <a:off x="11073384" y="4087368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FE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3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554480"/>
            <a:ext cx="4389120" cy="438912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663440"/>
            <a:ext cx="2743200" cy="2743200"/>
          </a:xfrm>
          <a:prstGeom prst="ellipse">
            <a:avLst/>
          </a:prstGeom>
          <a:solidFill>
            <a:srgbClr val="0E1B3A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240280"/>
            <a:ext cx="1371600" cy="1371600"/>
          </a:xfrm>
          <a:prstGeom prst="ellipse">
            <a:avLst/>
          </a:prstGeom>
          <a:solidFill>
            <a:srgbClr val="C9760A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012" y="2610612"/>
            <a:ext cx="630936" cy="6309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14600" y="2194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9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514600" y="260604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Prophet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2542032" y="361188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interpretierbare, additive Modell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542032" y="420624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 &amp; Letham (2018), „Forecasting at Scale", The American Statistician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Prophet — die Grundidee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137160" cy="137160"/>
          </a:xfrm>
          <a:prstGeom prst="ellipse">
            <a:avLst/>
          </a:prstGeom>
          <a:solidFill>
            <a:srgbClr val="C9760A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17320"/>
            <a:ext cx="6126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Generalisiertes additives Modell (GAM): die Zeitreihe wird in interpretierbare Komponenten zerlegt.</a:t>
            </a:r>
            <a:endParaRPr lang="en-US" sz="1450" dirty="0"/>
          </a:p>
          <a:p>
            <a:pPr marL="203200" indent="-2032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Kurven-Anpassung statt generativem Prozess (anders als ARIMA) — daher robust gegenüber fehlenden Daten und unregelmäßigen Abständen.</a:t>
            </a:r>
            <a:endParaRPr lang="en-US" sz="1450" dirty="0"/>
          </a:p>
          <a:p>
            <a:pPr marL="203200" indent="-2032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gegenüber Trendverschiebungen und Ausreißern; benötigt wenig Tuning.</a:t>
            </a:r>
            <a:endParaRPr lang="en-US" sz="1450" dirty="0"/>
          </a:p>
          <a:p>
            <a:pPr marL="203200" indent="-2032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Kernidee „Analyst-in-the-Loop": Domänenwissen fließt direkt über Feiertage und Regressoren ein.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040880" y="1481328"/>
            <a:ext cx="4572000" cy="3611880"/>
          </a:xfrm>
          <a:prstGeom prst="roundRect">
            <a:avLst>
              <a:gd name="adj" fmla="val 2532"/>
            </a:avLst>
          </a:prstGeom>
          <a:solidFill>
            <a:srgbClr val="13234B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69480" y="1691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Prophet-Gleichung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69480" y="22402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C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y(t) = g(t) + s(t) + h(t) + ε(t)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269480" y="292608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0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g(t)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8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Trend (Wachstum)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0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s(t)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8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Saisonalität (Fourier)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0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h(t)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8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Feiertage / Events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0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ε(t)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8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Fehlerterm (Rauschen)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69480" y="4526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EB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erweiterbar um einen Regressor-Term β·X(t).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126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Quellen: Taylor &amp; Letham (2018), Forecasting at Scale; facebook/prophet (GitHub-Doku).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Prophet — die vier Bausteine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137160" cy="137160"/>
          </a:xfrm>
          <a:prstGeom prst="ellipse">
            <a:avLst/>
          </a:prstGeom>
          <a:solidFill>
            <a:srgbClr val="C9760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285232" cy="1783080"/>
          </a:xfrm>
          <a:prstGeom prst="roundRect">
            <a:avLst>
              <a:gd name="adj" fmla="val 4615"/>
            </a:avLst>
          </a:prstGeom>
          <a:solidFill>
            <a:srgbClr val="FBF3E6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655064"/>
            <a:ext cx="658368" cy="658368"/>
          </a:xfrm>
          <a:prstGeom prst="ellipse">
            <a:avLst/>
          </a:prstGeom>
          <a:solidFill>
            <a:srgbClr val="C9760A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143" y="1832823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655064"/>
            <a:ext cx="4032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g(t) · Trend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1248" y="2350008"/>
            <a:ext cx="471830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Stückweise linear oder logistisch sättigend. Knickpunkte (Changepoints); changepoint_prior_scale steuert die Flexibilität.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1417320"/>
            <a:ext cx="5285232" cy="1783080"/>
          </a:xfrm>
          <a:prstGeom prst="roundRect">
            <a:avLst>
              <a:gd name="adj" fmla="val 4615"/>
            </a:avLst>
          </a:prstGeom>
          <a:solidFill>
            <a:srgbClr val="FBF3E6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92824" y="1655064"/>
            <a:ext cx="658368" cy="658368"/>
          </a:xfrm>
          <a:prstGeom prst="ellipse">
            <a:avLst/>
          </a:prstGeom>
          <a:solidFill>
            <a:srgbClr val="C9760A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583" y="1832823"/>
            <a:ext cx="302849" cy="3028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9208" y="1655064"/>
            <a:ext cx="4032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s(t) · Saisonalität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647688" y="2350008"/>
            <a:ext cx="471830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Fourier-Reihen für periodische Muster (jährlich ~10, wöchentlich ~3 Terme). Additiv oder multiplikativ.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383280"/>
            <a:ext cx="5285232" cy="1783080"/>
          </a:xfrm>
          <a:prstGeom prst="roundRect">
            <a:avLst>
              <a:gd name="adj" fmla="val 4615"/>
            </a:avLst>
          </a:prstGeom>
          <a:solidFill>
            <a:srgbClr val="FBF3E6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86384" y="3621024"/>
            <a:ext cx="658368" cy="658368"/>
          </a:xfrm>
          <a:prstGeom prst="ellipse">
            <a:avLst/>
          </a:prstGeom>
          <a:solidFill>
            <a:srgbClr val="C9760A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143" y="3798783"/>
            <a:ext cx="302849" cy="3028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72768" y="3621024"/>
            <a:ext cx="4032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h(t) · Feiertage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1248" y="4315968"/>
            <a:ext cx="471830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Feiertage/Events als Dummy-Impulse, mit Fenster (lower_/upper_window) über mehrere Tage.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55080" y="3383280"/>
            <a:ext cx="5285232" cy="1783080"/>
          </a:xfrm>
          <a:prstGeom prst="roundRect">
            <a:avLst>
              <a:gd name="adj" fmla="val 4615"/>
            </a:avLst>
          </a:prstGeom>
          <a:solidFill>
            <a:srgbClr val="FBF3E6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92824" y="3621024"/>
            <a:ext cx="658368" cy="658368"/>
          </a:xfrm>
          <a:prstGeom prst="ellipse">
            <a:avLst/>
          </a:prstGeom>
          <a:solidFill>
            <a:srgbClr val="C9760A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583" y="3798783"/>
            <a:ext cx="302849" cy="3028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9208" y="3621024"/>
            <a:ext cx="4032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β·X(t) · Regressoren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647688" y="4315968"/>
            <a:ext cx="471830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Externe, planbare Variablen (Promo, Preis, Wetter) via add_regressor — additiv oder multiplikativ.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66928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D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in Stan → liefert probabilistische Vorhersagen (Konfidenzintervalle).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66928" y="6263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Taylor &amp; Letham (2018), Forecasting at Scale.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Prophet — Stärken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137160" cy="13716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285232" cy="1691640"/>
          </a:xfrm>
          <a:prstGeom prst="roundRect">
            <a:avLst>
              <a:gd name="adj" fmla="val 4865"/>
            </a:avLst>
          </a:prstGeom>
          <a:solidFill>
            <a:srgbClr val="F4F6FB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655064"/>
            <a:ext cx="658368" cy="658368"/>
          </a:xfrm>
          <a:prstGeom prst="ellipse">
            <a:avLst/>
          </a:prstGeom>
          <a:solidFill>
            <a:srgbClr val="15803D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143" y="1832823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655064"/>
            <a:ext cx="4032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Interpretierbar &amp; zerlegbar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1248" y="2350008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Komponente einzeln sichtbar — ideal für Analyst-in-the-Loop und Erklärbarkeit.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1417320"/>
            <a:ext cx="5285232" cy="1691640"/>
          </a:xfrm>
          <a:prstGeom prst="roundRect">
            <a:avLst>
              <a:gd name="adj" fmla="val 4865"/>
            </a:avLst>
          </a:prstGeom>
          <a:solidFill>
            <a:srgbClr val="F4F6FB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92824" y="1655064"/>
            <a:ext cx="658368" cy="658368"/>
          </a:xfrm>
          <a:prstGeom prst="ellipse">
            <a:avLst/>
          </a:prstGeom>
          <a:solidFill>
            <a:srgbClr val="15803D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583" y="1832823"/>
            <a:ext cx="302849" cy="3028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9208" y="1655064"/>
            <a:ext cx="4032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647688" y="2350008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Verträgt fehlende Daten, Ausreißer und Trendverschiebungen ohne Vorverarbeitung.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291840"/>
            <a:ext cx="5285232" cy="1691640"/>
          </a:xfrm>
          <a:prstGeom prst="roundRect">
            <a:avLst>
              <a:gd name="adj" fmla="val 4865"/>
            </a:avLst>
          </a:prstGeom>
          <a:solidFill>
            <a:srgbClr val="F4F6FB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86384" y="3529584"/>
            <a:ext cx="658368" cy="658368"/>
          </a:xfrm>
          <a:prstGeom prst="ellipse">
            <a:avLst/>
          </a:prstGeom>
          <a:solidFill>
            <a:srgbClr val="15803D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143" y="3707343"/>
            <a:ext cx="302849" cy="3028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72768" y="3529584"/>
            <a:ext cx="4032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Saison + Feiertage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1248" y="4224528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Sehr stark, wenn ausgeprägte Saisonalität und mehrere Jahre Historie vorliegen.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55080" y="3291840"/>
            <a:ext cx="5285232" cy="1691640"/>
          </a:xfrm>
          <a:prstGeom prst="roundRect">
            <a:avLst>
              <a:gd name="adj" fmla="val 4865"/>
            </a:avLst>
          </a:prstGeom>
          <a:solidFill>
            <a:srgbClr val="F4F6FB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92824" y="3529584"/>
            <a:ext cx="658368" cy="658368"/>
          </a:xfrm>
          <a:prstGeom prst="ellipse">
            <a:avLst/>
          </a:prstGeom>
          <a:solidFill>
            <a:srgbClr val="15803D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583" y="3707343"/>
            <a:ext cx="302849" cy="3028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9208" y="3529584"/>
            <a:ext cx="4032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Schnell &amp; wenig Tuning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647688" y="4224528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Läuft auf der CPU, skaliert auf viele Reihen, sinnvolle Defaults.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66928" y="5349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Quellen: Taylor &amp; Letham (2018); facebook/prophet (GitHub): „funktioniert am besten bei starker Saisonalität und mehreren Saisons".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Prophet — wo es gut funktioniert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137160" cy="13716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FBF3E6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655064"/>
            <a:ext cx="658368" cy="658368"/>
          </a:xfrm>
          <a:prstGeom prst="ellipse">
            <a:avLst/>
          </a:prstGeom>
          <a:solidFill>
            <a:srgbClr val="15803D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143" y="1832823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655064"/>
            <a:ext cx="9811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Einzelhandel / Business-Umsatz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1248" y="2350008"/>
            <a:ext cx="10497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stabiler Saison und ≥ ~2 Jahren Historie schlug Prophet alle getesteten ARIMA-Varianten — solange die Annahmen zu den Daten passen.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138160" y="170992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Methodischer Guide, arXiv:2601.05929 (2026)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898648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FBF3E6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86384" y="3136392"/>
            <a:ext cx="658368" cy="658368"/>
          </a:xfrm>
          <a:prstGeom prst="ellipse">
            <a:avLst/>
          </a:prstGeom>
          <a:solidFill>
            <a:srgbClr val="15803D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143" y="3314151"/>
            <a:ext cx="302849" cy="3028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72768" y="3136392"/>
            <a:ext cx="9811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Versorgungs- / Stromausfalldaten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841248" y="3831336"/>
            <a:ext cx="10497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Wegen Robustheit gegenüber fehlenden Werten und Trendbrüchen gut geeignet; bildet saisonale Effekte zuverlässig ab.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8138160" y="319125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Anwendungsstudien zu Taylor &amp; Letham (2018)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48640" y="4379976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FBF3E6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86384" y="4617720"/>
            <a:ext cx="658368" cy="658368"/>
          </a:xfrm>
          <a:prstGeom prst="ellipse">
            <a:avLst/>
          </a:prstGeom>
          <a:solidFill>
            <a:srgbClr val="15803D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143" y="4795479"/>
            <a:ext cx="302849" cy="30284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72768" y="4617720"/>
            <a:ext cx="9811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Produkt-Portfolio-Prognose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41248" y="5312664"/>
            <a:ext cx="10497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Monats-/Quartalsprognosen über ganze Sortimente; mind. ~24 Monate Historie für stabile Trend-/Saisonschätzung empfohlen.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138160" y="4672584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Žunić et al. (2020), arXiv:2005.07575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Prophet — Grenzen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137160" cy="137160"/>
          </a:xfrm>
          <a:prstGeom prst="ellipse">
            <a:avLst/>
          </a:prstGeom>
          <a:solidFill>
            <a:srgbClr val="B4233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285232" cy="1691640"/>
          </a:xfrm>
          <a:prstGeom prst="roundRect">
            <a:avLst>
              <a:gd name="adj" fmla="val 4865"/>
            </a:avLst>
          </a:prstGeom>
          <a:solidFill>
            <a:srgbClr val="F4F6FB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655064"/>
            <a:ext cx="658368" cy="658368"/>
          </a:xfrm>
          <a:prstGeom prst="ellipse">
            <a:avLst/>
          </a:prstGeom>
          <a:solidFill>
            <a:srgbClr val="B4233C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143" y="1832823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655064"/>
            <a:ext cx="4032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Kein lokaler Kontext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1248" y="2350008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Nutzt die jüngsten Datenpunkte kaum — schwächere Kurzfristprognose, wenn Annahmen nicht passen.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1417320"/>
            <a:ext cx="5285232" cy="1691640"/>
          </a:xfrm>
          <a:prstGeom prst="roundRect">
            <a:avLst>
              <a:gd name="adj" fmla="val 4865"/>
            </a:avLst>
          </a:prstGeom>
          <a:solidFill>
            <a:srgbClr val="F4F6FB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92824" y="1655064"/>
            <a:ext cx="658368" cy="658368"/>
          </a:xfrm>
          <a:prstGeom prst="ellipse">
            <a:avLst/>
          </a:prstGeom>
          <a:solidFill>
            <a:srgbClr val="B4233C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583" y="1832823"/>
            <a:ext cx="302849" cy="3028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9208" y="1655064"/>
            <a:ext cx="4032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Trend-Über-/Unterfitting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647688" y="2350008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Level-Shift am Reihenende kann den Trend „ins Unendliche" schicken (über-/unteranpassend zugleich).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291840"/>
            <a:ext cx="5285232" cy="1691640"/>
          </a:xfrm>
          <a:prstGeom prst="roundRect">
            <a:avLst>
              <a:gd name="adj" fmla="val 4865"/>
            </a:avLst>
          </a:prstGeom>
          <a:solidFill>
            <a:srgbClr val="F4F6FB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86384" y="3529584"/>
            <a:ext cx="658368" cy="658368"/>
          </a:xfrm>
          <a:prstGeom prst="ellipse">
            <a:avLst/>
          </a:prstGeom>
          <a:solidFill>
            <a:srgbClr val="B4233C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143" y="3707343"/>
            <a:ext cx="302849" cy="3028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72768" y="3529584"/>
            <a:ext cx="4032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Schwach in Wettbewerben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1248" y="4224528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M-Wettbewerben (z.B. M4) durchweg schwache Genauigkeit — auch nach Trend-Dämpfung.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55080" y="3291840"/>
            <a:ext cx="5285232" cy="1691640"/>
          </a:xfrm>
          <a:prstGeom prst="roundRect">
            <a:avLst>
              <a:gd name="adj" fmla="val 4865"/>
            </a:avLst>
          </a:prstGeom>
          <a:solidFill>
            <a:srgbClr val="F4F6FB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92824" y="3529584"/>
            <a:ext cx="658368" cy="658368"/>
          </a:xfrm>
          <a:prstGeom prst="ellipse">
            <a:avLst/>
          </a:prstGeom>
          <a:solidFill>
            <a:srgbClr val="B4233C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583" y="3707343"/>
            <a:ext cx="302849" cy="3028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9208" y="3529584"/>
            <a:ext cx="4032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 / instationär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647688" y="4224528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Finanz- und stark schwankenden Reihen nur auf Benchmark-Niveau; dynamische Saison wird schlecht erfasst.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66928" y="5303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Und: Strukturbrüche (z.B. COVID) kann ein rein saisonales Modell nicht antizipieren — siehe Demo.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66928" y="5989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Quellen: NeuralProphet (arXiv:2111.15397); Blume, Towards Data Science (2023/25); methodischer Guide arXiv:2601.05929.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Prophet — wo es weniger gut funktioniert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137160" cy="137160"/>
          </a:xfrm>
          <a:prstGeom prst="ellipse">
            <a:avLst/>
          </a:prstGeom>
          <a:solidFill>
            <a:srgbClr val="B4233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F4F6FB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655064"/>
            <a:ext cx="658368" cy="658368"/>
          </a:xfrm>
          <a:prstGeom prst="ellipse">
            <a:avLst/>
          </a:prstGeom>
          <a:solidFill>
            <a:srgbClr val="B4233C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143" y="1832823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655064"/>
            <a:ext cx="9811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M4-Forecasting-Wettbewerb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1248" y="2350008"/>
            <a:ext cx="10497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Durchweg schwache Ergebnisse gegenüber etablierten Methoden; selbst mit gedämpftem Trend nur kleine Verbesserung — bleibt unterlegen.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138160" y="170992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Blume, Towards Data Science (2023 / 2025)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898648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F4F6FB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86384" y="3136392"/>
            <a:ext cx="658368" cy="658368"/>
          </a:xfrm>
          <a:prstGeom prst="ellipse">
            <a:avLst/>
          </a:prstGeom>
          <a:solidFill>
            <a:srgbClr val="B4233C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143" y="3314151"/>
            <a:ext cx="302849" cy="3028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72768" y="3136392"/>
            <a:ext cx="9811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Finanz- / volatile Reihen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841248" y="3831336"/>
            <a:ext cx="10497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Volatilität und Nichtstationarität fällt der Vorsprung weg — Leistung nur vergleichbar mit einfachen Benchmarks.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8138160" y="319125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Methodischer Guide, arXiv:2601.05929 (2026)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48640" y="4379976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F4F6FB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86384" y="4617720"/>
            <a:ext cx="658368" cy="658368"/>
          </a:xfrm>
          <a:prstGeom prst="ellipse">
            <a:avLst/>
          </a:prstGeom>
          <a:solidFill>
            <a:srgbClr val="B4233C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143" y="4795479"/>
            <a:ext cx="302849" cy="30284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72768" y="4617720"/>
            <a:ext cx="9811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mit unsteter Saison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41248" y="5312664"/>
            <a:ext cx="10497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Weil jüngste Datenpunkte ignoriert werden, leidet die Prognose, wenn Muster sich dynamisch ändern.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138160" y="4672584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„A Worrying Analysis", arXiv:2011.10715 (2020)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3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554480"/>
            <a:ext cx="4389120" cy="438912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663440"/>
            <a:ext cx="2743200" cy="2743200"/>
          </a:xfrm>
          <a:prstGeom prst="ellipse">
            <a:avLst/>
          </a:prstGeom>
          <a:solidFill>
            <a:srgbClr val="0E1B3A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240280"/>
            <a:ext cx="1371600" cy="1371600"/>
          </a:xfrm>
          <a:prstGeom prst="ellipse">
            <a:avLst/>
          </a:prstGeom>
          <a:solidFill>
            <a:srgbClr val="6D28D9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012" y="2610612"/>
            <a:ext cx="630936" cy="6309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14600" y="2194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9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514600" y="260604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Chronos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2542032" y="361188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Foundation-Modell für Zeitreihen (Zero-Shot)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542032" y="420624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Ansari et al. (2024), „Chronos: Learning the Language of Time Series", arXiv:2403.07815 (Amazon)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Chronos — die Grundidee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137160" cy="13716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17320"/>
            <a:ext cx="6126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Vortrainiertes, probabilistisches Foundation-Modell für Zeitreihen.</a:t>
            </a:r>
            <a:endParaRPr lang="en-US" sz="1450" dirty="0"/>
          </a:p>
          <a:p>
            <a:pPr marL="203200" indent="-2032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„Sprache der Zeitreihen": Messwerte werden per Skalierung + Quantisierung in Tokens eines festen Vokabulars übersetzt.</a:t>
            </a:r>
            <a:endParaRPr lang="en-US" sz="1450" dirty="0"/>
          </a:p>
          <a:p>
            <a:pPr marL="203200" indent="-2032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Trainiert ein Standard-Sprachmodell der T5-Familie (20M–710M Parameter) mit Cross-Entropy.</a:t>
            </a:r>
            <a:endParaRPr lang="en-US" sz="1450" dirty="0"/>
          </a:p>
          <a:p>
            <a:pPr marL="203200" indent="-2032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Zero-Shot: prognostiziert auch völlig ungesehene Reihen — ohne aufgabenspezifisches Training.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040880" y="1481328"/>
            <a:ext cx="4572000" cy="3291840"/>
          </a:xfrm>
          <a:prstGeom prst="roundRect">
            <a:avLst>
              <a:gd name="adj" fmla="val 2778"/>
            </a:avLst>
          </a:prstGeom>
          <a:solidFill>
            <a:srgbClr val="13234B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0" y="1737360"/>
            <a:ext cx="868680" cy="8686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9744" y="1971904"/>
            <a:ext cx="399593" cy="3995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66760" y="17830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als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Sprach-Modellierung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0" y="2880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A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Werte </a:t>
            </a:r>
            <a:pPr indent="0" marL="0">
              <a:buNone/>
            </a:pPr>
            <a:r>
              <a:rPr lang="en-US" sz="1500" dirty="0">
                <a:solidFill>
                  <a:srgbClr val="D8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Tokens → </a:t>
            </a:r>
            <a:pPr indent="0" marL="0">
              <a:buNone/>
            </a:pPr>
            <a:r>
              <a:rPr lang="en-US" sz="1500" b="1" dirty="0">
                <a:solidFill>
                  <a:srgbClr val="C4A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T5-LM </a:t>
            </a:r>
            <a:pPr indent="0" marL="0">
              <a:buNone/>
            </a:pPr>
            <a:r>
              <a:rPr lang="en-US" sz="1500" dirty="0">
                <a:solidFill>
                  <a:srgbClr val="D8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Vorhersage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0" y="338328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8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Pretraining auf großem öffentlichem Korpus plus synthetischen Daten aus Gauß-Prozessen (KernelSynth) für bessere Generalisierung.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66928" y="6126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Ansari et al. (2024), Chronos, arXiv:2403.07815; Amazon Science.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Chronos — wie es funktioniert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137160" cy="13716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5448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3EEFC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47088" y="1783080"/>
            <a:ext cx="914400" cy="914400"/>
          </a:xfrm>
          <a:prstGeom prst="ellipse">
            <a:avLst/>
          </a:prstGeom>
          <a:solidFill>
            <a:srgbClr val="6D28D9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3976" y="202996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889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Tokenisieren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04672" y="32004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Reihe skalieren und in diskrete Werte quantisieren → Tokens aus festem Vokabular.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005072" y="2331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4370832" y="155448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3EEFC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0" y="1783080"/>
            <a:ext cx="914400" cy="914400"/>
          </a:xfrm>
          <a:prstGeom prst="ellipse">
            <a:avLst/>
          </a:prstGeom>
          <a:solidFill>
            <a:srgbClr val="6D28D9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168" y="2029968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53712" y="27889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Sprachmodell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626864" y="32004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T5-Encoder-Decoder lernt die Token-Folgen auf riesigem Korpus + synthetischen GP-Daten.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827264" y="2331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Shape 12"/>
          <p:cNvSpPr/>
          <p:nvPr/>
        </p:nvSpPr>
        <p:spPr>
          <a:xfrm>
            <a:off x="8193024" y="155448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3EEFC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491472" y="1783080"/>
            <a:ext cx="914400" cy="914400"/>
          </a:xfrm>
          <a:prstGeom prst="ellipse">
            <a:avLst/>
          </a:prstGeom>
          <a:solidFill>
            <a:srgbClr val="6D28D9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0" y="2029968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75904" y="27889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Sampling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449056" y="32004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Folge-Tokens werden autoregressiv gezogen → ganze Verteilung statt Punktwert.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416052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F4F6FB"/>
          </a:solidFill>
          <a:ln w="12700">
            <a:solidFill>
              <a:srgbClr val="E6E9F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77240" y="431596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Bemerkenswert: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Kalender-, Zeit- oder Frequenz-Feature, kein Feature-Engineering — das Modell sieht die Reihe als reine Zahlenfolge. Genau das macht es universell, kostet aber den direkten Zugang zu Feiertags- und Kovariaten-Wissen.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66928" y="63093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Ansari et al. (2024), Chronos, arXiv:2403.07815.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Chronos — Stärken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137160" cy="13716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285232" cy="1691640"/>
          </a:xfrm>
          <a:prstGeom prst="roundRect">
            <a:avLst>
              <a:gd name="adj" fmla="val 4865"/>
            </a:avLst>
          </a:prstGeom>
          <a:solidFill>
            <a:srgbClr val="F4F6FB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655064"/>
            <a:ext cx="658368" cy="658368"/>
          </a:xfrm>
          <a:prstGeom prst="ellipse">
            <a:avLst/>
          </a:prstGeom>
          <a:solidFill>
            <a:srgbClr val="15803D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143" y="1832823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655064"/>
            <a:ext cx="4032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1248" y="2350008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aufgabenspezifische Schätzung nötig — neue Reihen sofort prognostizierbar, Pipelines stark vereinfacht.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1417320"/>
            <a:ext cx="5285232" cy="1691640"/>
          </a:xfrm>
          <a:prstGeom prst="roundRect">
            <a:avLst>
              <a:gd name="adj" fmla="val 4865"/>
            </a:avLst>
          </a:prstGeom>
          <a:solidFill>
            <a:srgbClr val="F4F6FB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92824" y="1655064"/>
            <a:ext cx="658368" cy="658368"/>
          </a:xfrm>
          <a:prstGeom prst="ellipse">
            <a:avLst/>
          </a:prstGeom>
          <a:solidFill>
            <a:srgbClr val="15803D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583" y="1832823"/>
            <a:ext cx="302849" cy="3028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9208" y="1655064"/>
            <a:ext cx="4032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Wettbewerbsfähig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647688" y="2350008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42 Datensätzen vergleichbar oder besser als Modelle, die eigens darauf trainiert wurden.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291840"/>
            <a:ext cx="5285232" cy="1691640"/>
          </a:xfrm>
          <a:prstGeom prst="roundRect">
            <a:avLst>
              <a:gd name="adj" fmla="val 4865"/>
            </a:avLst>
          </a:prstGeom>
          <a:solidFill>
            <a:srgbClr val="F4F6FB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86384" y="3529584"/>
            <a:ext cx="658368" cy="658368"/>
          </a:xfrm>
          <a:prstGeom prst="ellipse">
            <a:avLst/>
          </a:prstGeom>
          <a:solidFill>
            <a:srgbClr val="15803D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143" y="3707343"/>
            <a:ext cx="302849" cy="3028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72768" y="3529584"/>
            <a:ext cx="4032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„Weltwissen" über Formen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1248" y="4224528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Milliarden Reihen gelernt, wie reale Verläufe sich verhalten (z.B. dass ein Absturz abflacht).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55080" y="3291840"/>
            <a:ext cx="5285232" cy="1691640"/>
          </a:xfrm>
          <a:prstGeom prst="roundRect">
            <a:avLst>
              <a:gd name="adj" fmla="val 4865"/>
            </a:avLst>
          </a:prstGeom>
          <a:solidFill>
            <a:srgbClr val="F4F6FB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92824" y="3529584"/>
            <a:ext cx="658368" cy="658368"/>
          </a:xfrm>
          <a:prstGeom prst="ellipse">
            <a:avLst/>
          </a:prstGeom>
          <a:solidFill>
            <a:srgbClr val="15803D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583" y="3707343"/>
            <a:ext cx="302849" cy="3028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9208" y="3529584"/>
            <a:ext cx="4032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Probabilistisch &amp; kompakt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647688" y="4224528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Liefert ganze Verteilungen; relativ kleine Modelle, profitiert direkt von LLM-Fortschritten.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66928" y="5349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Quellen: Ansari et al. (2024), Chronos (42-Datensatz-Benchmark); Amazon Science.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Chronos — wo es gut funktioniert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137160" cy="13716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F3EEFC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655064"/>
            <a:ext cx="658368" cy="658368"/>
          </a:xfrm>
          <a:prstGeom prst="ellipse">
            <a:avLst/>
          </a:prstGeom>
          <a:solidFill>
            <a:srgbClr val="15803D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143" y="1832823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655064"/>
            <a:ext cx="9811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Breiter Benchmark (42 Datensätze)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1248" y="2350008"/>
            <a:ext cx="10497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Schlägt klassische und Deep-Learning-Modelle auf bekannten Daten; zero-shot vergleichbar bis überlegen gegenüber eigens trainierten Modellen.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0" y="1728216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Ansari et al. (2024), arXiv:2403.07815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898648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F3EEFC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86384" y="3136392"/>
            <a:ext cx="658368" cy="658368"/>
          </a:xfrm>
          <a:prstGeom prst="ellipse">
            <a:avLst/>
          </a:prstGeom>
          <a:solidFill>
            <a:srgbClr val="15803D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143" y="3314151"/>
            <a:ext cx="302849" cy="3028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72768" y="3136392"/>
            <a:ext cx="9811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Hydrologie (Everglades-Wasserstand)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841248" y="3831336"/>
            <a:ext cx="10497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Übertrifft 12 domänenspezifische Deep-Modelle und alle getesteten Foundation-Modelle; stark bei Extremereignissen.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8229600" y="320954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Rangaraj et al. (2025)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48640" y="4379976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F3EEFC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86384" y="4617720"/>
            <a:ext cx="658368" cy="658368"/>
          </a:xfrm>
          <a:prstGeom prst="ellipse">
            <a:avLst/>
          </a:prstGeom>
          <a:solidFill>
            <a:srgbClr val="15803D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143" y="4795479"/>
            <a:ext cx="302849" cy="30284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72768" y="4617720"/>
            <a:ext cx="9811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Astronomie (Sternlichtkurven)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41248" y="5312664"/>
            <a:ext cx="10497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 Generalisierung und gute OOD-Erkennung — ohne jegliches astronomisches Pretraining.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229600" y="469087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et al. (2025)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566928" y="6053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D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stärksten, wenn reichlich Historie vorhanden ist und die Aufgabe den Mustern aus dem Pretraining ähnelt.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Chronos — Grenzen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137160" cy="137160"/>
          </a:xfrm>
          <a:prstGeom prst="ellipse">
            <a:avLst/>
          </a:prstGeom>
          <a:solidFill>
            <a:srgbClr val="B4233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285232" cy="1691640"/>
          </a:xfrm>
          <a:prstGeom prst="roundRect">
            <a:avLst>
              <a:gd name="adj" fmla="val 4865"/>
            </a:avLst>
          </a:prstGeom>
          <a:solidFill>
            <a:srgbClr val="F4F6FB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655064"/>
            <a:ext cx="658368" cy="658368"/>
          </a:xfrm>
          <a:prstGeom prst="ellipse">
            <a:avLst/>
          </a:prstGeom>
          <a:solidFill>
            <a:srgbClr val="B4233C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143" y="1832823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655064"/>
            <a:ext cx="4032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Langsamer, GPU bevorzugt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1248" y="2350008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Größere Modelle inferieren langsamer als task-spezifische Netze; GPU empfohlen.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1417320"/>
            <a:ext cx="5285232" cy="1691640"/>
          </a:xfrm>
          <a:prstGeom prst="roundRect">
            <a:avLst>
              <a:gd name="adj" fmla="val 4865"/>
            </a:avLst>
          </a:prstGeom>
          <a:solidFill>
            <a:srgbClr val="F4F6FB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92824" y="1655064"/>
            <a:ext cx="658368" cy="658368"/>
          </a:xfrm>
          <a:prstGeom prst="ellipse">
            <a:avLst/>
          </a:prstGeom>
          <a:solidFill>
            <a:srgbClr val="B4233C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583" y="1832823"/>
            <a:ext cx="302849" cy="3028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9208" y="1655064"/>
            <a:ext cx="4032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Keine Kovariaten (Original)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647688" y="2350008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Promo, Preis, Feiertage lassen sich nicht direkt einspeisen — univariat, eine Reihe nach der anderen.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291840"/>
            <a:ext cx="5285232" cy="1691640"/>
          </a:xfrm>
          <a:prstGeom prst="roundRect">
            <a:avLst>
              <a:gd name="adj" fmla="val 4865"/>
            </a:avLst>
          </a:prstGeom>
          <a:solidFill>
            <a:srgbClr val="F4F6FB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86384" y="3529584"/>
            <a:ext cx="658368" cy="658368"/>
          </a:xfrm>
          <a:prstGeom prst="ellipse">
            <a:avLst/>
          </a:prstGeom>
          <a:solidFill>
            <a:srgbClr val="B4233C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143" y="3707343"/>
            <a:ext cx="302849" cy="3028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72768" y="3529584"/>
            <a:ext cx="4032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Kein Kalender-/Frequenzsignal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1248" y="4224528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Reihe = reine Zahlenfolge; Quantisierung/Patching ist zu niedrigen Frequenzen verzerrt.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55080" y="3291840"/>
            <a:ext cx="5285232" cy="1691640"/>
          </a:xfrm>
          <a:prstGeom prst="roundRect">
            <a:avLst>
              <a:gd name="adj" fmla="val 4865"/>
            </a:avLst>
          </a:prstGeom>
          <a:solidFill>
            <a:srgbClr val="F4F6FB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92824" y="3529584"/>
            <a:ext cx="658368" cy="658368"/>
          </a:xfrm>
          <a:prstGeom prst="ellipse">
            <a:avLst/>
          </a:prstGeom>
          <a:solidFill>
            <a:srgbClr val="B4233C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583" y="3707343"/>
            <a:ext cx="302849" cy="3028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9208" y="3529584"/>
            <a:ext cx="4032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Horizont, SNR, Komplexität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647688" y="4224528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Lange Horizonte → mehr Fehler; bei niedrigem SNR/spärlich/komplex schwindet der Zero-Shot-Vorteil.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66928" y="5303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D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Nachfolger adressieren dies: Chronos-Bolt (Speed), ChronosX / Chronos-2 (Kovariaten, multivariat).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66928" y="5989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Quellen: Ansari et al. (2024) §6.2; Towards Data Science (2025); aihorizonforecast (2026); ChronoGraph (2025).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Chronos — wo es weniger gut funktioniert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137160" cy="137160"/>
          </a:xfrm>
          <a:prstGeom prst="ellipse">
            <a:avLst/>
          </a:prstGeom>
          <a:solidFill>
            <a:srgbClr val="B4233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11064240" cy="1225296"/>
          </a:xfrm>
          <a:prstGeom prst="roundRect">
            <a:avLst>
              <a:gd name="adj" fmla="val 6716"/>
            </a:avLst>
          </a:prstGeom>
          <a:solidFill>
            <a:srgbClr val="F4F6FB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655064"/>
            <a:ext cx="658368" cy="658368"/>
          </a:xfrm>
          <a:prstGeom prst="ellipse">
            <a:avLst/>
          </a:prstGeom>
          <a:solidFill>
            <a:srgbClr val="B4233C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143" y="1832823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655064"/>
            <a:ext cx="9811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mit Events/Kovariaten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1248" y="2350008"/>
            <a:ext cx="10497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eigens trainiertes Modell (TiDE) schlug Chronos in mehreren Monaten — Chronos kann Promo/Preis nicht als Regressor nutzen.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321040" y="1691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zaai.ai (2024), TiDE vs. Chronos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788920"/>
            <a:ext cx="11064240" cy="1225296"/>
          </a:xfrm>
          <a:prstGeom prst="roundRect">
            <a:avLst>
              <a:gd name="adj" fmla="val 6716"/>
            </a:avLst>
          </a:prstGeom>
          <a:solidFill>
            <a:srgbClr val="F4F6FB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86384" y="3026664"/>
            <a:ext cx="658368" cy="658368"/>
          </a:xfrm>
          <a:prstGeom prst="ellipse">
            <a:avLst/>
          </a:prstGeom>
          <a:solidFill>
            <a:srgbClr val="B4233C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143" y="3204423"/>
            <a:ext cx="302849" cy="3028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72768" y="3026664"/>
            <a:ext cx="9811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Niedriges SNR / komplexe Signale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841248" y="3721608"/>
            <a:ext cx="10497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verrauschten, spärlichen oder sehr komplexen Mustern bricht der Zero-Shot-Vorteil ein; Fine-Tuning wird empfohlen.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321040" y="30632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Gupta (2025)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48640" y="4160520"/>
            <a:ext cx="11064240" cy="1225296"/>
          </a:xfrm>
          <a:prstGeom prst="roundRect">
            <a:avLst>
              <a:gd name="adj" fmla="val 6716"/>
            </a:avLst>
          </a:prstGeom>
          <a:solidFill>
            <a:srgbClr val="F4F6FB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86384" y="4398264"/>
            <a:ext cx="658368" cy="658368"/>
          </a:xfrm>
          <a:prstGeom prst="ellipse">
            <a:avLst/>
          </a:prstGeom>
          <a:solidFill>
            <a:srgbClr val="B4233C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143" y="4576023"/>
            <a:ext cx="302849" cy="30284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72768" y="4398264"/>
            <a:ext cx="9811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Lange Horizonte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41248" y="5093208"/>
            <a:ext cx="10497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lange Vorhersagefenster steigt der Fehler deutlich — fehlende langreichweitige Dynamik.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321040" y="44348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ChronoGraph (2025), arXiv:2509.04449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566928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Praxisbezug: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der Rossmann-Promo-Frage half Prophet gerade über den Regressor — das kann Original-Chronos nicht.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Direkter Vergleich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137160" cy="137160"/>
          </a:xfrm>
          <a:prstGeom prst="ellipse">
            <a:avLst/>
          </a:prstGeom>
          <a:solidFill>
            <a:srgbClr val="0D7C74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931920"/>
                <a:gridCol w="3931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Dimension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Prophet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6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Chronos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3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Paradigma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 / Kurven-Anpassung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LLM-Foundation-Modell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3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Reihe neu gefittet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vortrainiert, Zero-Shot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3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Feiertage / Kovariaten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 — h(t) &amp; Regressoren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 (Original); erst Chronos-2/X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3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Interpretierbarkeit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hoch — zerlegbar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niedrig — Black Box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3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Probabilistisch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3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Rechenbedarf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leicht, CPU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bevorzugt, langsamer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3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Strukturbruch / Black Swan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schwach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robuster („Weltwissen")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3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Domänenwissen einbauen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einfach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schwer (im Original)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Wann nimmt man was?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137160" cy="137160"/>
          </a:xfrm>
          <a:prstGeom prst="ellipse">
            <a:avLst/>
          </a:prstGeom>
          <a:solidFill>
            <a:srgbClr val="0D7C7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440680" cy="3794760"/>
          </a:xfrm>
          <a:prstGeom prst="roundRect">
            <a:avLst>
              <a:gd name="adj" fmla="val 2410"/>
            </a:avLst>
          </a:prstGeom>
          <a:solidFill>
            <a:srgbClr val="FBF3E6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731520" cy="731520"/>
          </a:xfrm>
          <a:prstGeom prst="ellipse">
            <a:avLst/>
          </a:prstGeom>
          <a:solidFill>
            <a:srgbClr val="C9760A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889150"/>
            <a:ext cx="336499" cy="336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373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76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Nimm Prophet, wenn 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514600"/>
            <a:ext cx="4846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Feiertage, Promotionen oder Domänenwissen entscheidend sind.</a:t>
            </a:r>
            <a:endParaRPr lang="en-US" sz="1350" dirty="0"/>
          </a:p>
          <a:p>
            <a:pPr marL="203200" indent="-2032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Erklärbarkeit / Analyst-in-the-Loop gefragt ist.</a:t>
            </a:r>
            <a:endParaRPr lang="en-US" sz="1350" dirty="0"/>
          </a:p>
          <a:p>
            <a:pPr marL="203200" indent="-2032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ausgeprägte Saison und mehrere Jahre Historie vorliegen.</a:t>
            </a:r>
            <a:endParaRPr lang="en-US" sz="1350" dirty="0"/>
          </a:p>
          <a:p>
            <a:pPr marL="203200" indent="-2032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schnelle, leichte CPU-Pipelines genügen müssen.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99632" y="1417320"/>
            <a:ext cx="5440680" cy="3794760"/>
          </a:xfrm>
          <a:prstGeom prst="roundRect">
            <a:avLst>
              <a:gd name="adj" fmla="val 2410"/>
            </a:avLst>
          </a:prstGeom>
          <a:solidFill>
            <a:srgbClr val="F3EEFC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3952" y="1691640"/>
            <a:ext cx="731520" cy="731520"/>
          </a:xfrm>
          <a:prstGeom prst="ellipse">
            <a:avLst/>
          </a:prstGeom>
          <a:solidFill>
            <a:srgbClr val="6D28D9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462" y="1889150"/>
            <a:ext cx="336499" cy="33649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42632" y="17373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Nimm Chronos, wenn …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65392" y="2514600"/>
            <a:ext cx="4846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 heterogene Reihen ohne Zeit fürs Tuning vorliegen.</a:t>
            </a:r>
            <a:endParaRPr lang="en-US" sz="1350" dirty="0"/>
          </a:p>
          <a:p>
            <a:pPr marL="203200" indent="-2032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neue/ungesehene Reihen sofort prognostiziert werden sollen (Zero-Shot).</a:t>
            </a:r>
            <a:endParaRPr lang="en-US" sz="1350" dirty="0"/>
          </a:p>
          <a:p>
            <a:pPr marL="203200" indent="-2032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Strukturbrüche auftreten und „Weltwissen" hilft.</a:t>
            </a:r>
            <a:endParaRPr lang="en-US" sz="1350" dirty="0"/>
          </a:p>
          <a:p>
            <a:pPr marL="203200" indent="-2032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möglichst wenig Feature-Engineering gewünscht ist.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3234B"/>
          </a:solidFill>
          <a:ln/>
        </p:spPr>
      </p:sp>
      <p:sp>
        <p:nvSpPr>
          <p:cNvPr id="15" name="Text 11"/>
          <p:cNvSpPr/>
          <p:nvPr/>
        </p:nvSpPr>
        <p:spPr>
          <a:xfrm>
            <a:off x="914400" y="5440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 am besten: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kombinieren (Ensemble) — oder Chronos-2/ChronosX, wenn Kovariaten gebraucht werden.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Bezug zur Demo (Rossmann &amp; Flugdaten)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137160" cy="137160"/>
          </a:xfrm>
          <a:prstGeom prst="ellipse">
            <a:avLst/>
          </a:prstGeom>
          <a:solidFill>
            <a:srgbClr val="0D7C7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BF3E6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655064"/>
            <a:ext cx="658368" cy="658368"/>
          </a:xfrm>
          <a:prstGeom prst="ellipse">
            <a:avLst/>
          </a:prstGeom>
          <a:solidFill>
            <a:srgbClr val="C9760A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143" y="1832823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655064"/>
            <a:ext cx="9811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Rossmann: Feiertage &amp; Promotionen → Prophet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1248" y="2350008"/>
            <a:ext cx="104973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hier zählt Analyst-in-the-Loop: Ostermontag, 1. Mai und Promo werden über h(t) und Regressoren eingebaut. Original-Chronos kann diese bekannten Treiber nicht direkt nutzen.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3EEFC"/>
          </a:solidFill>
          <a:ln w="12700">
            <a:solidFill>
              <a:srgbClr val="E6E9F0"/>
            </a:solidFill>
            <a:prstDash val="solid"/>
          </a:ln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86384" y="3209544"/>
            <a:ext cx="658368" cy="658368"/>
          </a:xfrm>
          <a:prstGeom prst="ellipse">
            <a:avLst/>
          </a:prstGeom>
          <a:solidFill>
            <a:srgbClr val="6D28D9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143" y="3387303"/>
            <a:ext cx="302849" cy="3028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72768" y="3209544"/>
            <a:ext cx="9811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Flugdaten &amp; COVID: Strukturbruch → Chronos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41248" y="3904488"/>
            <a:ext cx="104973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rein saisonales Modell schreibt die „heile Welt" fort und scheitert am Lockdown. Das vortrainierte „Weltwissen" von Chronos fängt solche Brüche eher ab.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57200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4F6FB"/>
          </a:solidFill>
          <a:ln w="12700">
            <a:solidFill>
              <a:srgbClr val="E6E9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68680" y="45720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D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Lehre: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Werkzeug zum Problem wählen — nicht umgekehrt. Bekannte, planbare Treiber → Prophet; unbekannte Schocks und schnelle Generalisierung → Chronos.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323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463040"/>
            <a:ext cx="4023360" cy="402336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57200"/>
            <a:ext cx="914400" cy="914400"/>
          </a:xfrm>
          <a:prstGeom prst="ellipse">
            <a:avLst/>
          </a:prstGeom>
          <a:solidFill>
            <a:srgbClr val="C9760A"/>
          </a:solidFill>
          <a:ln/>
          <a:effectLst>
            <a:outerShdw sx="100000" sy="100000" kx="0" ky="0" algn="bl" rotWithShape="0" blurRad="88900" dist="38100" dir="2700000">
              <a:srgbClr val="9AA3B2">
                <a:alpha val="13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704088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8308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Kernbotschaften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10881360" cy="1170432"/>
          </a:xfrm>
          <a:prstGeom prst="roundRect">
            <a:avLst>
              <a:gd name="adj" fmla="val 7031"/>
            </a:avLst>
          </a:prstGeom>
          <a:solidFill>
            <a:srgbClr val="1B2E5A"/>
          </a:solidFill>
          <a:ln/>
        </p:spPr>
      </p:sp>
      <p:sp>
        <p:nvSpPr>
          <p:cNvPr id="7" name="Shape 4"/>
          <p:cNvSpPr/>
          <p:nvPr/>
        </p:nvSpPr>
        <p:spPr>
          <a:xfrm>
            <a:off x="914400" y="1965960"/>
            <a:ext cx="411480" cy="411480"/>
          </a:xfrm>
          <a:prstGeom prst="ellipse">
            <a:avLst/>
          </a:prstGeom>
          <a:solidFill>
            <a:srgbClr val="F0C27A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54480" y="1709928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= transparentes, additives Modell.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5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 bei Saison + Feiertagen und Domänenwissen; schwach bei Strukturbrüchen, Wettbewerben und lokalem Kontext.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971800"/>
            <a:ext cx="10881360" cy="1170432"/>
          </a:xfrm>
          <a:prstGeom prst="roundRect">
            <a:avLst>
              <a:gd name="adj" fmla="val 7031"/>
            </a:avLst>
          </a:prstGeom>
          <a:solidFill>
            <a:srgbClr val="1B2E5A"/>
          </a:solidFill>
          <a:ln/>
        </p:spPr>
      </p:sp>
      <p:sp>
        <p:nvSpPr>
          <p:cNvPr id="11" name="Shape 8"/>
          <p:cNvSpPr/>
          <p:nvPr/>
        </p:nvSpPr>
        <p:spPr>
          <a:xfrm>
            <a:off x="914400" y="3337560"/>
            <a:ext cx="411480" cy="411480"/>
          </a:xfrm>
          <a:prstGeom prst="ellipse">
            <a:avLst/>
          </a:prstGeom>
          <a:solidFill>
            <a:srgbClr val="C4A8F2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554480" y="3081528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= Zero-Shot-Foundation-Modell.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5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 bei Generalisierung und unbekannten Schocks; schwach bei Kovariaten, Geschwindigkeit und explizitem Kalender.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4343400"/>
            <a:ext cx="10881360" cy="1170432"/>
          </a:xfrm>
          <a:prstGeom prst="roundRect">
            <a:avLst>
              <a:gd name="adj" fmla="val 7031"/>
            </a:avLst>
          </a:prstGeom>
          <a:solidFill>
            <a:srgbClr val="1B2E5A"/>
          </a:solidFill>
          <a:ln/>
        </p:spPr>
      </p:sp>
      <p:sp>
        <p:nvSpPr>
          <p:cNvPr id="15" name="Shape 12"/>
          <p:cNvSpPr/>
          <p:nvPr/>
        </p:nvSpPr>
        <p:spPr>
          <a:xfrm>
            <a:off x="914400" y="4709160"/>
            <a:ext cx="411480" cy="411480"/>
          </a:xfrm>
          <a:prstGeom prst="ellipse">
            <a:avLst/>
          </a:prstGeom>
          <a:solidFill>
            <a:srgbClr val="7FE0D2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554480" y="4453128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Modell ist universell.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5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Datencharakter entscheidet — bekannte Treiber vs. unbekannte Brüche. Im Zweifel kombinieren.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Quellen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137160" cy="137160"/>
          </a:xfrm>
          <a:prstGeom prst="ellipse">
            <a:avLst/>
          </a:prstGeom>
          <a:solidFill>
            <a:srgbClr val="66708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54864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Taylor, S. J. &amp; Letham, B. (2018). Forecasting at Scale. The American Statistician 72(1), 37–45. (Prophet-Paper)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facebook/prophet — offizielle GitHub-Dokumentation.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Triebe et al. (2021). NeuralProphet: Explainable Forecasting at Scale. arXiv:2111.15397.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Blume, T. (2023/2025). Fixing Prophet's Forecasting Issue. Towards Data Science.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as a Reproducible Forecasting Framework (2026). arXiv:2601.05929.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Worrying Analysis of Probabilistic Time-series Models for Sales Forecasting (2020). arXiv:2011.10715.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309360" y="1417320"/>
            <a:ext cx="54864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Žunić, E. et al. (2020). Application of Facebook's Prophet Algorithm. arXiv:2005.07575.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Ansari, A. F. et al. (2024). Chronos: Learning the Language of Time Series. arXiv:2403.07815; Amazon Science.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Foundation Models — Strengths &amp; Limitations (2026). aihorizonforecast (Substack).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Chronos: The Rise of Foundation Models for Time Series (2024/25). Towards Data Science / zaai.ai.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ChronoGraph (2025). arXiv:2509.04449. (Langhorizont-Verschlechterung bei FMs)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Domänenbeispiele: Rangaraj et al. (2025, Hydrologie); Li et al. (2025, Astronomie); Gupta (2025, periodische Signale).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Prophet &amp; Chronos</dc:title>
  <dc:subject>PptxGenJS Presentation</dc:subject>
  <dc:creator>Prophet &amp; Chronos Demo</dc:creator>
  <cp:lastModifiedBy>Prophet &amp; Chronos Demo</cp:lastModifiedBy>
  <cp:revision>1</cp:revision>
  <dcterms:created xsi:type="dcterms:W3CDTF">2026-06-20T19:29:54Z</dcterms:created>
  <dcterms:modified xsi:type="dcterms:W3CDTF">2026-06-20T19:29:54Z</dcterms:modified>
</cp:coreProperties>
</file>