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618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DF516110-05F4-46BB-9165-FB41E1AA018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Stoffsammlung" id="{72CF4EF2-1A67-4308-ACC7-5AC41801B1A8}">
          <p14:sldIdLst>
            <p14:sldId id="266"/>
            <p14:sldId id="267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0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176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Titelfolie. Platzhalter (Team, Kurs, Datum) ersetzen. Selbst gestaltete Smog-Skyline-Grafik.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Überblick der sechs CRISP-DM-Phasen. Phase 04 (Modeling) als Projekt-Schwerpunkt farblich hervorgehoben.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 01 – Geschäftsverständnis (Business Understanding). Platzhalter mit Projektinhalten füllen; rechte Karte für Leitfragen/Notizen.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 02 – Datenverständnis (Data Understanding). Platzhalter mit Projektinhalten füllen; rechte Karte für Leitfragen/Notizen.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 03 – Datenaufbereitung (Data Preparation). Platzhalter mit Projektinhalten füllen; rechte Karte für Leitfragen/Notizen.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 04 – Modellierung (Modeling). Platzhalter mit Projektinhalten füllen; rechte Karte für Leitfragen/Notizen.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 05 – Evaluation (Evaluation). Platzhalter mit Projektinhalten füllen; rechte Karte für Leitfragen/Notizen.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 06 – Bereitstellung (Deployment). Platzhalter mit Projektinhalten füllen; rechte Karte für Leitfragen/Notizen.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Abschlussfolie</a:t>
            </a:r>
            <a:r>
              <a:rPr dirty="0"/>
              <a:t>. </a:t>
            </a:r>
            <a:r>
              <a:rPr dirty="0" err="1"/>
              <a:t>Kontakt</a:t>
            </a:r>
            <a:r>
              <a:rPr dirty="0"/>
              <a:t>/Team-</a:t>
            </a:r>
            <a:r>
              <a:rPr dirty="0" err="1"/>
              <a:t>Platzhalter</a:t>
            </a:r>
            <a:r>
              <a:rPr dirty="0"/>
              <a:t> </a:t>
            </a:r>
            <a:r>
              <a:rPr dirty="0" err="1"/>
              <a:t>ersetzen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8" y="11613"/>
            <a:ext cx="12161520" cy="683477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1082" y="19283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 dirty="0">
                <a:solidFill>
                  <a:srgbClr val="E9D9BE"/>
                </a:solidFill>
                <a:latin typeface="Calibri"/>
              </a:rPr>
              <a:t>CAPSTONE-PROJEKT  ·  BUSINESS PROGNOSIS</a:t>
            </a:r>
            <a:r>
              <a:rPr lang="de-DE" sz="1400" b="1" i="0" spc="300" dirty="0">
                <a:solidFill>
                  <a:srgbClr val="E9D9BE"/>
                </a:solidFill>
                <a:latin typeface="Calibri"/>
              </a:rPr>
              <a:t> SS 2026</a:t>
            </a:r>
            <a:endParaRPr sz="1400" b="1" i="0" spc="300" dirty="0">
              <a:solidFill>
                <a:srgbClr val="E9D9B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3229036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 i="0" dirty="0" err="1">
                <a:solidFill>
                  <a:srgbClr val="FFFFFF"/>
                </a:solidFill>
                <a:latin typeface="Cambria"/>
              </a:rPr>
              <a:t>Luftverschmutzung</a:t>
            </a:r>
            <a:r>
              <a:rPr sz="5200" b="1" i="0" dirty="0">
                <a:solidFill>
                  <a:srgbClr val="FFFFFF"/>
                </a:solidFill>
                <a:latin typeface="Cambria"/>
              </a:rPr>
              <a:t> in Beijing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18546"/>
            <a:ext cx="10972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dirty="0">
                <a:solidFill>
                  <a:srgbClr val="F0E4CE"/>
                </a:solidFill>
                <a:latin typeface="Calibri"/>
              </a:rPr>
              <a:t>PM2.5-Prognose </a:t>
            </a:r>
            <a:r>
              <a:rPr sz="2400" b="0" i="0" dirty="0" err="1">
                <a:solidFill>
                  <a:srgbClr val="F0E4CE"/>
                </a:solidFill>
                <a:latin typeface="Calibri"/>
              </a:rPr>
              <a:t>mit</a:t>
            </a:r>
            <a:r>
              <a:rPr sz="2400" b="0" i="0" dirty="0">
                <a:solidFill>
                  <a:srgbClr val="F0E4CE"/>
                </a:solidFill>
                <a:latin typeface="Calibri"/>
              </a:rPr>
              <a:t> Prophet</a:t>
            </a:r>
            <a:r>
              <a:rPr lang="de-DE" sz="2400" dirty="0">
                <a:solidFill>
                  <a:srgbClr val="F0E4CE"/>
                </a:solidFill>
                <a:latin typeface="Calibri"/>
              </a:rPr>
              <a:t>, </a:t>
            </a:r>
            <a:r>
              <a:rPr sz="2400" b="0" i="0" dirty="0">
                <a:solidFill>
                  <a:srgbClr val="F0E4CE"/>
                </a:solidFill>
                <a:latin typeface="Calibri"/>
              </a:rPr>
              <a:t>Chronos</a:t>
            </a:r>
            <a:r>
              <a:rPr lang="de-DE" sz="2400" dirty="0">
                <a:solidFill>
                  <a:srgbClr val="F0E4CE"/>
                </a:solidFill>
                <a:latin typeface="Calibri"/>
              </a:rPr>
              <a:t> &amp; </a:t>
            </a:r>
            <a:r>
              <a:rPr lang="de-DE" sz="2400" dirty="0" err="1">
                <a:solidFill>
                  <a:srgbClr val="F0E4CE"/>
                </a:solidFill>
                <a:latin typeface="Calibri"/>
              </a:rPr>
              <a:t>PatchTST</a:t>
            </a:r>
            <a:endParaRPr sz="2400" b="0" i="0" dirty="0">
              <a:solidFill>
                <a:srgbClr val="F0E4CE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1082" y="5130152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405" y="513015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dirty="0" err="1">
                <a:solidFill>
                  <a:srgbClr val="22272B"/>
                </a:solidFill>
                <a:latin typeface="Calibri"/>
              </a:rPr>
              <a:t>Strukturiert</a:t>
            </a:r>
            <a:r>
              <a:rPr sz="1300" b="1" i="0" dirty="0">
                <a:solidFill>
                  <a:srgbClr val="22272B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22272B"/>
                </a:solidFill>
                <a:latin typeface="Calibri"/>
              </a:rPr>
              <a:t>nach</a:t>
            </a:r>
            <a:r>
              <a:rPr sz="1300" b="1" i="0" dirty="0">
                <a:solidFill>
                  <a:srgbClr val="22272B"/>
                </a:solidFill>
                <a:latin typeface="Calibri"/>
              </a:rPr>
              <a:t> CRISP-DM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200" dirty="0">
                <a:solidFill>
                  <a:srgbClr val="D7CBB6"/>
                </a:solidFill>
              </a:rPr>
              <a:t>Bettina </a:t>
            </a:r>
            <a:r>
              <a:rPr lang="de-DE" sz="1200" dirty="0" err="1">
                <a:solidFill>
                  <a:srgbClr val="D7CBB6"/>
                </a:solidFill>
              </a:rPr>
              <a:t>Gertjerenken</a:t>
            </a:r>
            <a:r>
              <a:rPr lang="de-DE" sz="1200" dirty="0">
                <a:solidFill>
                  <a:srgbClr val="D7CBB6"/>
                </a:solidFill>
              </a:rPr>
              <a:t>   ·   Kai Steffen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2272B"/>
                </a:solidFill>
                <a:latin typeface="Cambria"/>
              </a:rPr>
              <a:t>Der CRISP-DM-Prozess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051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C7278"/>
                </a:solidFill>
                <a:latin typeface="Calibri"/>
              </a:rPr>
              <a:t>Unser Projekt gliedert sich in die sechs Phasen von CRISP-DM.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68503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1920240"/>
            <a:ext cx="777240" cy="777240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1956816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22272B"/>
                </a:solidFill>
                <a:latin typeface="Cambria"/>
              </a:rPr>
              <a:t>Geschäftsverständnis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377440"/>
            <a:ext cx="22677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12F"/>
                </a:solidFill>
                <a:latin typeface="Calibri"/>
              </a:rPr>
              <a:t>Business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80360"/>
            <a:ext cx="31363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6C7278"/>
                </a:solidFill>
                <a:latin typeface="Calibri"/>
              </a:rPr>
              <a:t>Welches Problem lösen wir?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645920"/>
            <a:ext cx="368503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44568" y="1920240"/>
            <a:ext cx="777240" cy="777240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9202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7256" y="1956816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22272B"/>
                </a:solidFill>
                <a:latin typeface="Cambria"/>
              </a:rPr>
              <a:t>Datenverständnis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7256" y="2377440"/>
            <a:ext cx="22677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12F"/>
                </a:solidFill>
                <a:latin typeface="Calibri"/>
              </a:rPr>
              <a:t>Data Understanding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880360"/>
            <a:ext cx="31363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6C7278"/>
                </a:solidFill>
                <a:latin typeface="Calibri"/>
              </a:rPr>
              <a:t>Welche Daten liegen vor?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45920"/>
            <a:ext cx="368503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57616" y="1920240"/>
            <a:ext cx="777240" cy="777240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57616" y="19202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956816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22272B"/>
                </a:solidFill>
                <a:latin typeface="Cambria"/>
              </a:rPr>
              <a:t>Datenaufbereitung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2377440"/>
            <a:ext cx="22677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12F"/>
                </a:solidFill>
                <a:latin typeface="Calibri"/>
              </a:rPr>
              <a:t>Data Preparation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880360"/>
            <a:ext cx="31363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6C7278"/>
                </a:solidFill>
                <a:latin typeface="Calibri"/>
              </a:rPr>
              <a:t>Wie werden die Daten modellfertig?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41648"/>
            <a:ext cx="368503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1520" y="4315968"/>
            <a:ext cx="777240" cy="777240"/>
          </a:xfrm>
          <a:prstGeom prst="ellipse">
            <a:avLst/>
          </a:prstGeom>
          <a:solidFill>
            <a:srgbClr val="C44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315968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4352544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22272B"/>
                </a:solidFill>
                <a:latin typeface="Cambria"/>
              </a:rPr>
              <a:t>Modellierung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4208" y="4773168"/>
            <a:ext cx="22677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12F"/>
                </a:solidFill>
                <a:latin typeface="Calibri"/>
              </a:rPr>
              <a:t>Modeling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276088"/>
            <a:ext cx="31363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6C7278"/>
                </a:solidFill>
                <a:latin typeface="Calibri"/>
              </a:rPr>
              <a:t>Welche Modelle vergleichen wir?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0248" y="4041648"/>
            <a:ext cx="368503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44568" y="4315968"/>
            <a:ext cx="777240" cy="777240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44568" y="4315968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7256" y="4352544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22272B"/>
                </a:solidFill>
                <a:latin typeface="Cambria"/>
              </a:rPr>
              <a:t>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77256" y="4773168"/>
            <a:ext cx="22677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12F"/>
                </a:solidFill>
                <a:latin typeface="Calibri"/>
              </a:rPr>
              <a:t>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5276088"/>
            <a:ext cx="31363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6C7278"/>
                </a:solidFill>
                <a:latin typeface="Calibri"/>
              </a:rPr>
              <a:t>Erreichen wir die Projektziele?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4041648"/>
            <a:ext cx="368503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57616" y="4315968"/>
            <a:ext cx="777240" cy="777240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57616" y="4315968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0304" y="4352544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22272B"/>
                </a:solidFill>
                <a:latin typeface="Cambria"/>
              </a:rPr>
              <a:t>Bereitstellung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0304" y="4773168"/>
            <a:ext cx="22677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12F"/>
                </a:solidFill>
                <a:latin typeface="Calibri"/>
              </a:rPr>
              <a:t>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5276088"/>
            <a:ext cx="31363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6C7278"/>
                </a:solidFill>
                <a:latin typeface="Calibri"/>
              </a:rPr>
              <a:t>Wie wird das Ergebnis nutzbar?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1908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>
                <a:solidFill>
                  <a:srgbClr val="6C7278"/>
                </a:solidFill>
                <a:latin typeface="Calibri"/>
              </a:rPr>
              <a:t>PM2.5-Prognose Beijing  ·  Prophet</a:t>
            </a:r>
            <a:r>
              <a:rPr lang="de-DE" sz="900" b="0" i="0" dirty="0">
                <a:solidFill>
                  <a:srgbClr val="6C7278"/>
                </a:solidFill>
                <a:latin typeface="Calibri"/>
              </a:rPr>
              <a:t>, </a:t>
            </a:r>
            <a:r>
              <a:rPr sz="900" b="0" i="0" dirty="0">
                <a:solidFill>
                  <a:srgbClr val="6C7278"/>
                </a:solidFill>
                <a:latin typeface="Calibri"/>
              </a:rPr>
              <a:t>Chronos</a:t>
            </a:r>
            <a:r>
              <a:rPr lang="de-DE" sz="900" b="0" i="0" dirty="0">
                <a:solidFill>
                  <a:srgbClr val="6C7278"/>
                </a:solidFill>
                <a:latin typeface="Calibri"/>
              </a:rPr>
              <a:t> &amp; </a:t>
            </a:r>
            <a:r>
              <a:rPr lang="de-DE" sz="900" b="0" i="0" dirty="0" err="1">
                <a:solidFill>
                  <a:srgbClr val="6C7278"/>
                </a:solidFill>
                <a:latin typeface="Calibri"/>
              </a:rPr>
              <a:t>PatchTST</a:t>
            </a:r>
            <a:r>
              <a:rPr sz="900" b="0" i="0" dirty="0">
                <a:solidFill>
                  <a:srgbClr val="6C7278"/>
                </a:solidFill>
                <a:latin typeface="Calibri"/>
              </a:rPr>
              <a:t>  ·  CRISP-DM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1051560" cy="1051560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457200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22272B"/>
                </a:solidFill>
                <a:latin typeface="Cambria"/>
              </a:rPr>
              <a:t>Geschäftsverständnis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9928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0912F"/>
                </a:solidFill>
                <a:latin typeface="Calibri"/>
              </a:rPr>
              <a:t>CRISP-DM  ·  Business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6C7278"/>
                </a:solidFill>
                <a:latin typeface="Calibri"/>
              </a:rPr>
              <a:t>INHALT DIESER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68580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72B"/>
                </a:solidFill>
                <a:latin typeface="Calibri"/>
              </a:rPr>
              <a:t>•   Ziel &amp; Fragestellung des Projekts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72B"/>
                </a:solidFill>
                <a:latin typeface="Calibri"/>
              </a:rPr>
              <a:t>•   Warum PM2.5-Prognose in Beijing relevant ist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72B"/>
                </a:solidFill>
                <a:latin typeface="Calibri"/>
              </a:rPr>
              <a:t>•   Nutzen · Stakeholder · Erfolgskriterien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828800"/>
            <a:ext cx="3977639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46719" y="2148840"/>
            <a:ext cx="548640" cy="548640"/>
          </a:xfrm>
          <a:prstGeom prst="ellipse">
            <a:avLst/>
          </a:prstGeom>
          <a:solidFill>
            <a:srgbClr val="F3E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9" y="21305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0912F"/>
                </a:solidFill>
                <a:latin typeface="Cambria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19" y="219456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72B"/>
                </a:solidFill>
                <a:latin typeface="Cambria"/>
              </a:rPr>
              <a:t>Leitfragen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926080"/>
            <a:ext cx="3337559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6C7278"/>
                </a:solidFill>
                <a:latin typeface="Calibri"/>
              </a:rPr>
              <a:t>→   Welches Problem lösen wir?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6C7278"/>
                </a:solidFill>
                <a:latin typeface="Calibri"/>
              </a:rPr>
              <a:t>→   Was ist ein Erfolg?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4315968"/>
            <a:ext cx="3337559" cy="10972"/>
          </a:xfrm>
          <a:prstGeom prst="rect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9" y="4434840"/>
            <a:ext cx="3337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6C7278"/>
                </a:solidFill>
                <a:latin typeface="Calibri"/>
              </a:rPr>
              <a:t>NOTIZEN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4754880"/>
            <a:ext cx="33375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8A8F94"/>
                </a:solidFill>
                <a:latin typeface="Calibri"/>
              </a:rPr>
              <a:t>Platzhalter für eigene Notizen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1908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>
                <a:solidFill>
                  <a:srgbClr val="6C7278"/>
                </a:solidFill>
                <a:latin typeface="Calibri"/>
              </a:rPr>
              <a:t>PM2.5-Prognose Beijing  ·  Prophet</a:t>
            </a:r>
            <a:r>
              <a:rPr lang="de-DE" sz="900" b="0" i="0" dirty="0">
                <a:solidFill>
                  <a:srgbClr val="6C7278"/>
                </a:solidFill>
                <a:latin typeface="Calibri"/>
              </a:rPr>
              <a:t>, </a:t>
            </a:r>
            <a:r>
              <a:rPr sz="900" b="0" i="0" dirty="0">
                <a:solidFill>
                  <a:srgbClr val="6C7278"/>
                </a:solidFill>
                <a:latin typeface="Calibri"/>
              </a:rPr>
              <a:t>Chronos</a:t>
            </a:r>
            <a:r>
              <a:rPr lang="de-DE" sz="900" b="0" i="0" dirty="0">
                <a:solidFill>
                  <a:srgbClr val="6C7278"/>
                </a:solidFill>
                <a:latin typeface="Calibri"/>
              </a:rPr>
              <a:t> &amp; </a:t>
            </a:r>
            <a:r>
              <a:rPr lang="de-DE" sz="900" b="0" i="0" dirty="0" err="1">
                <a:solidFill>
                  <a:srgbClr val="6C7278"/>
                </a:solidFill>
                <a:latin typeface="Calibri"/>
              </a:rPr>
              <a:t>PatchTST</a:t>
            </a:r>
            <a:r>
              <a:rPr sz="900" b="0" i="0" dirty="0">
                <a:solidFill>
                  <a:srgbClr val="6C7278"/>
                </a:solidFill>
                <a:latin typeface="Calibri"/>
              </a:rPr>
              <a:t>  ·  CRISP-DM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0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60152" y="6473952"/>
            <a:ext cx="146304" cy="146304"/>
          </a:xfrm>
          <a:prstGeom prst="ellipse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661904" y="6473952"/>
            <a:ext cx="146304" cy="146304"/>
          </a:xfrm>
          <a:prstGeom prst="ellipse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63656" y="6473952"/>
            <a:ext cx="146304" cy="146304"/>
          </a:xfrm>
          <a:prstGeom prst="ellipse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265408" y="6473952"/>
            <a:ext cx="146304" cy="146304"/>
          </a:xfrm>
          <a:prstGeom prst="ellipse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567160" y="6473952"/>
            <a:ext cx="146304" cy="146304"/>
          </a:xfrm>
          <a:prstGeom prst="ellipse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1051560" cy="1051560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457200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22272B"/>
                </a:solidFill>
                <a:latin typeface="Cambria"/>
              </a:rPr>
              <a:t>Datenverständnis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9928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0912F"/>
                </a:solidFill>
                <a:latin typeface="Calibri"/>
              </a:rPr>
              <a:t>CRISP-DM  ·  Data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6C7278"/>
                </a:solidFill>
                <a:latin typeface="Calibri"/>
              </a:rPr>
              <a:t>INHALT DIESER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68580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72B"/>
                </a:solidFill>
                <a:latin typeface="Calibri"/>
              </a:rPr>
              <a:t>•   Datenquelle &amp; Zeitraum (Stunden-/Stationsdaten)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72B"/>
                </a:solidFill>
                <a:latin typeface="Calibri"/>
              </a:rPr>
              <a:t>•   Variablen: PM2.5, Wetter, Station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72B"/>
                </a:solidFill>
                <a:latin typeface="Calibri"/>
              </a:rPr>
              <a:t>•   Erste Exploration, Muster &amp; Datenlücken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828800"/>
            <a:ext cx="3977639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46719" y="2148840"/>
            <a:ext cx="548640" cy="548640"/>
          </a:xfrm>
          <a:prstGeom prst="ellipse">
            <a:avLst/>
          </a:prstGeom>
          <a:solidFill>
            <a:srgbClr val="F3E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9" y="21305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0912F"/>
                </a:solidFill>
                <a:latin typeface="Cambria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19" y="219456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72B"/>
                </a:solidFill>
                <a:latin typeface="Cambria"/>
              </a:rPr>
              <a:t>Leitfragen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926080"/>
            <a:ext cx="3337559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6C7278"/>
                </a:solidFill>
                <a:latin typeface="Calibri"/>
              </a:rPr>
              <a:t>→   Welche Daten liegen vor?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6C7278"/>
                </a:solidFill>
                <a:latin typeface="Calibri"/>
              </a:rPr>
              <a:t>→   Welche Qualität haben sie?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4315968"/>
            <a:ext cx="3337559" cy="10972"/>
          </a:xfrm>
          <a:prstGeom prst="rect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9" y="4434840"/>
            <a:ext cx="3337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6C7278"/>
                </a:solidFill>
                <a:latin typeface="Calibri"/>
              </a:rPr>
              <a:t>NOTIZEN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4754880"/>
            <a:ext cx="33375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8A8F94"/>
                </a:solidFill>
                <a:latin typeface="Calibri"/>
              </a:rPr>
              <a:t>Platzhalter für eigene Notizen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1908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900" dirty="0">
                <a:solidFill>
                  <a:srgbClr val="6C7278"/>
                </a:solidFill>
              </a:rPr>
              <a:t>PM2.5-Prognose Beijing  ·  Prophet, Chronos &amp; </a:t>
            </a:r>
            <a:r>
              <a:rPr lang="de-DE" sz="900" dirty="0" err="1">
                <a:solidFill>
                  <a:srgbClr val="6C7278"/>
                </a:solidFill>
              </a:rPr>
              <a:t>PatchTST</a:t>
            </a:r>
            <a:r>
              <a:rPr lang="de-DE" sz="900" dirty="0">
                <a:solidFill>
                  <a:srgbClr val="6C7278"/>
                </a:solidFill>
              </a:rPr>
              <a:t>  ·  CRISP-DM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0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60152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661904" y="6473952"/>
            <a:ext cx="146304" cy="146304"/>
          </a:xfrm>
          <a:prstGeom prst="ellipse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63656" y="6473952"/>
            <a:ext cx="146304" cy="146304"/>
          </a:xfrm>
          <a:prstGeom prst="ellipse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265408" y="6473952"/>
            <a:ext cx="146304" cy="146304"/>
          </a:xfrm>
          <a:prstGeom prst="ellipse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567160" y="6473952"/>
            <a:ext cx="146304" cy="146304"/>
          </a:xfrm>
          <a:prstGeom prst="ellipse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1051560" cy="1051560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457200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22272B"/>
                </a:solidFill>
                <a:latin typeface="Cambria"/>
              </a:rPr>
              <a:t>Datenaufbereitung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9928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0912F"/>
                </a:solidFill>
                <a:latin typeface="Calibri"/>
              </a:rPr>
              <a:t>CRISP-DM  ·  Data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6C7278"/>
                </a:solidFill>
                <a:latin typeface="Calibri"/>
              </a:rPr>
              <a:t>INHALT DIESER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68580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72B"/>
                </a:solidFill>
                <a:latin typeface="Calibri"/>
              </a:rPr>
              <a:t>•   Fehlende Werte &amp; Ausreißer behandeln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72B"/>
                </a:solidFill>
                <a:latin typeface="Calibri"/>
              </a:rPr>
              <a:t>•   Feature Engineering &amp; exogene Regressoren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72B"/>
                </a:solidFill>
                <a:latin typeface="Calibri"/>
              </a:rPr>
              <a:t>•   Leakage-freier chronologischer Train/Test-Split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828800"/>
            <a:ext cx="3977639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46719" y="2148840"/>
            <a:ext cx="548640" cy="548640"/>
          </a:xfrm>
          <a:prstGeom prst="ellipse">
            <a:avLst/>
          </a:prstGeom>
          <a:solidFill>
            <a:srgbClr val="F3E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9" y="21305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0912F"/>
                </a:solidFill>
                <a:latin typeface="Cambria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19" y="219456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72B"/>
                </a:solidFill>
                <a:latin typeface="Cambria"/>
              </a:rPr>
              <a:t>Leitfragen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926080"/>
            <a:ext cx="3337559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6C7278"/>
                </a:solidFill>
                <a:latin typeface="Calibri"/>
              </a:rPr>
              <a:t>→   Wie werden die Daten modellfertig?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6C7278"/>
                </a:solidFill>
                <a:latin typeface="Calibri"/>
              </a:rPr>
              <a:t>→   Vermeiden wir Data Leakage?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4315968"/>
            <a:ext cx="3337559" cy="10972"/>
          </a:xfrm>
          <a:prstGeom prst="rect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9" y="4434840"/>
            <a:ext cx="3337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6C7278"/>
                </a:solidFill>
                <a:latin typeface="Calibri"/>
              </a:rPr>
              <a:t>NOTIZEN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4754880"/>
            <a:ext cx="33375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8A8F94"/>
                </a:solidFill>
                <a:latin typeface="Calibri"/>
              </a:rPr>
              <a:t>Platzhalter für eigene Notizen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1908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900" dirty="0">
                <a:solidFill>
                  <a:srgbClr val="6C7278"/>
                </a:solidFill>
              </a:rPr>
              <a:t>PM2.5-Prognose Beijing  ·  Prophet, Chronos &amp; </a:t>
            </a:r>
            <a:r>
              <a:rPr lang="de-DE" sz="900" dirty="0" err="1">
                <a:solidFill>
                  <a:srgbClr val="6C7278"/>
                </a:solidFill>
              </a:rPr>
              <a:t>PatchTST</a:t>
            </a:r>
            <a:r>
              <a:rPr lang="de-DE" sz="900" dirty="0">
                <a:solidFill>
                  <a:srgbClr val="6C7278"/>
                </a:solidFill>
              </a:rPr>
              <a:t>  ·  CRISP-DM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0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60152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661904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63656" y="6473952"/>
            <a:ext cx="146304" cy="146304"/>
          </a:xfrm>
          <a:prstGeom prst="ellipse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265408" y="6473952"/>
            <a:ext cx="146304" cy="146304"/>
          </a:xfrm>
          <a:prstGeom prst="ellipse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567160" y="6473952"/>
            <a:ext cx="146304" cy="146304"/>
          </a:xfrm>
          <a:prstGeom prst="ellipse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1051560" cy="1051560"/>
          </a:xfrm>
          <a:prstGeom prst="ellipse">
            <a:avLst/>
          </a:prstGeom>
          <a:solidFill>
            <a:srgbClr val="C44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457200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22272B"/>
                </a:solidFill>
                <a:latin typeface="Cambria"/>
              </a:rPr>
              <a:t>Modellierung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9928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0912F"/>
                </a:solidFill>
                <a:latin typeface="Calibri"/>
              </a:rPr>
              <a:t>CRISP-DM  · 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6C7278"/>
                </a:solidFill>
                <a:latin typeface="Calibri"/>
              </a:rPr>
              <a:t>INHALT DIESER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68580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72B"/>
                </a:solidFill>
                <a:latin typeface="Calibri"/>
              </a:rPr>
              <a:t>•   Prophet: Trend, Saisonalität, Regressoren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72B"/>
                </a:solidFill>
                <a:latin typeface="Calibri"/>
              </a:rPr>
              <a:t>•   Chronos: Foundation-Model, zero-shot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72B"/>
                </a:solidFill>
                <a:latin typeface="Calibri"/>
              </a:rPr>
              <a:t>•   Hyperparameter &amp; Prognose-Horizont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828800"/>
            <a:ext cx="3977639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46719" y="2148840"/>
            <a:ext cx="548640" cy="548640"/>
          </a:xfrm>
          <a:prstGeom prst="ellipse">
            <a:avLst/>
          </a:prstGeom>
          <a:solidFill>
            <a:srgbClr val="F3E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9" y="21305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0912F"/>
                </a:solidFill>
                <a:latin typeface="Cambria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19" y="219456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72B"/>
                </a:solidFill>
                <a:latin typeface="Cambria"/>
              </a:rPr>
              <a:t>Leitfragen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926080"/>
            <a:ext cx="3337559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6C7278"/>
                </a:solidFill>
                <a:latin typeface="Calibri"/>
              </a:rPr>
              <a:t>→   Welche Modelle vergleichen wir?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6C7278"/>
                </a:solidFill>
                <a:latin typeface="Calibri"/>
              </a:rPr>
              <a:t>→   Welche Annahmen treffen wir?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4315968"/>
            <a:ext cx="3337559" cy="10972"/>
          </a:xfrm>
          <a:prstGeom prst="rect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9" y="4434840"/>
            <a:ext cx="3337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6C7278"/>
                </a:solidFill>
                <a:latin typeface="Calibri"/>
              </a:rPr>
              <a:t>NOTIZEN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4754880"/>
            <a:ext cx="33375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8A8F94"/>
                </a:solidFill>
                <a:latin typeface="Calibri"/>
              </a:rPr>
              <a:t>Platzhalter für eigene Notizen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1908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900" dirty="0">
                <a:solidFill>
                  <a:srgbClr val="6C7278"/>
                </a:solidFill>
              </a:rPr>
              <a:t>PM2.5-Prognose Beijing  ·  Prophet, Chronos &amp; </a:t>
            </a:r>
            <a:r>
              <a:rPr lang="de-DE" sz="900" dirty="0" err="1">
                <a:solidFill>
                  <a:srgbClr val="6C7278"/>
                </a:solidFill>
              </a:rPr>
              <a:t>PatchTST</a:t>
            </a:r>
            <a:r>
              <a:rPr lang="de-DE" sz="900" dirty="0">
                <a:solidFill>
                  <a:srgbClr val="6C7278"/>
                </a:solidFill>
              </a:rPr>
              <a:t>  ·  CRISP-DM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0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60152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661904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63656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265408" y="6473952"/>
            <a:ext cx="146304" cy="146304"/>
          </a:xfrm>
          <a:prstGeom prst="ellipse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567160" y="6473952"/>
            <a:ext cx="146304" cy="146304"/>
          </a:xfrm>
          <a:prstGeom prst="ellipse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1051560" cy="1051560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457200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22272B"/>
                </a:solidFill>
                <a:latin typeface="Cambria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9928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0912F"/>
                </a:solidFill>
                <a:latin typeface="Calibri"/>
              </a:rPr>
              <a:t>CRISP-DM  · 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6C7278"/>
                </a:solidFill>
                <a:latin typeface="Calibri"/>
              </a:rPr>
              <a:t>INHALT DIESER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68580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72B"/>
                </a:solidFill>
                <a:latin typeface="Calibri"/>
              </a:rPr>
              <a:t>•   Metriken: MAE &amp; RMSE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72B"/>
                </a:solidFill>
                <a:latin typeface="Calibri"/>
              </a:rPr>
              <a:t>•   Prophet vs. Chronos – Ergebnisvergleich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2272B"/>
                </a:solidFill>
                <a:latin typeface="Calibri"/>
              </a:rPr>
              <a:t>•   Laufzeit, Interpretierbarkeit, Grenzen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828800"/>
            <a:ext cx="3977639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46719" y="2148840"/>
            <a:ext cx="548640" cy="548640"/>
          </a:xfrm>
          <a:prstGeom prst="ellipse">
            <a:avLst/>
          </a:prstGeom>
          <a:solidFill>
            <a:srgbClr val="F3E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9" y="21305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0912F"/>
                </a:solidFill>
                <a:latin typeface="Cambria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19" y="219456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72B"/>
                </a:solidFill>
                <a:latin typeface="Cambria"/>
              </a:rPr>
              <a:t>Leitfragen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926080"/>
            <a:ext cx="3337559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6C7278"/>
                </a:solidFill>
                <a:latin typeface="Calibri"/>
              </a:rPr>
              <a:t>→   Erreichen wir die Projektziele?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6C7278"/>
                </a:solidFill>
                <a:latin typeface="Calibri"/>
              </a:rPr>
              <a:t>→   Welches Modell gewinnt wofür?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4315968"/>
            <a:ext cx="3337559" cy="10972"/>
          </a:xfrm>
          <a:prstGeom prst="rect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9" y="4434840"/>
            <a:ext cx="3337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6C7278"/>
                </a:solidFill>
                <a:latin typeface="Calibri"/>
              </a:rPr>
              <a:t>NOTIZEN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4754880"/>
            <a:ext cx="33375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8A8F94"/>
                </a:solidFill>
                <a:latin typeface="Calibri"/>
              </a:rPr>
              <a:t>Platzhalter für eigene Notizen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1908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900" dirty="0">
                <a:solidFill>
                  <a:srgbClr val="6C7278"/>
                </a:solidFill>
              </a:rPr>
              <a:t>PM2.5-Prognose Beijing  ·  Prophet, Chronos &amp; </a:t>
            </a:r>
            <a:r>
              <a:rPr lang="de-DE" sz="900" dirty="0" err="1">
                <a:solidFill>
                  <a:srgbClr val="6C7278"/>
                </a:solidFill>
              </a:rPr>
              <a:t>PatchTST</a:t>
            </a:r>
            <a:r>
              <a:rPr lang="de-DE" sz="900" dirty="0">
                <a:solidFill>
                  <a:srgbClr val="6C7278"/>
                </a:solidFill>
              </a:rPr>
              <a:t>  ·  CRISP-DM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0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60152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661904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63656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265408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567160" y="6473952"/>
            <a:ext cx="146304" cy="146304"/>
          </a:xfrm>
          <a:prstGeom prst="ellipse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1051560" cy="1051560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457200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22272B"/>
                </a:solidFill>
                <a:latin typeface="Cambria"/>
              </a:rPr>
              <a:t>Bereitstellung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9928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0912F"/>
                </a:solidFill>
                <a:latin typeface="Calibri"/>
              </a:rPr>
              <a:t>CRISP-DM  · 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6C7278"/>
                </a:solidFill>
                <a:latin typeface="Calibri"/>
              </a:rPr>
              <a:t>INHALT DIESER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68580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 dirty="0">
                <a:solidFill>
                  <a:srgbClr val="22272B"/>
                </a:solidFill>
                <a:latin typeface="Calibri"/>
              </a:rPr>
              <a:t>•   </a:t>
            </a:r>
            <a:r>
              <a:rPr sz="1600" b="0" i="0" dirty="0" err="1">
                <a:solidFill>
                  <a:srgbClr val="22272B"/>
                </a:solidFill>
                <a:latin typeface="Calibri"/>
              </a:rPr>
              <a:t>Reproduzierbarkeit</a:t>
            </a:r>
            <a:r>
              <a:rPr sz="1600" b="0" i="0" dirty="0">
                <a:solidFill>
                  <a:srgbClr val="22272B"/>
                </a:solidFill>
                <a:latin typeface="Calibri"/>
              </a:rPr>
              <a:t> (Notebook / </a:t>
            </a:r>
            <a:r>
              <a:rPr sz="1600" b="0" i="0" dirty="0" err="1">
                <a:solidFill>
                  <a:srgbClr val="22272B"/>
                </a:solidFill>
                <a:latin typeface="Calibri"/>
              </a:rPr>
              <a:t>Skript</a:t>
            </a:r>
            <a:r>
              <a:rPr sz="1600" b="0" i="0" dirty="0">
                <a:solidFill>
                  <a:srgbClr val="22272B"/>
                </a:solidFill>
                <a:latin typeface="Calibri"/>
              </a:rPr>
              <a:t>)</a:t>
            </a:r>
          </a:p>
          <a:p>
            <a:pPr algn="l">
              <a:spcAft>
                <a:spcPts val="1200"/>
              </a:spcAft>
            </a:pPr>
            <a:r>
              <a:rPr sz="1600" b="0" i="0" dirty="0">
                <a:solidFill>
                  <a:srgbClr val="22272B"/>
                </a:solidFill>
                <a:latin typeface="Calibri"/>
              </a:rPr>
              <a:t>•   </a:t>
            </a:r>
            <a:r>
              <a:rPr sz="1600" b="0" i="0" dirty="0" err="1">
                <a:solidFill>
                  <a:srgbClr val="22272B"/>
                </a:solidFill>
                <a:latin typeface="Calibri"/>
              </a:rPr>
              <a:t>Ausblick</a:t>
            </a:r>
            <a:r>
              <a:rPr sz="1600" b="0" i="0" dirty="0">
                <a:solidFill>
                  <a:srgbClr val="22272B"/>
                </a:solidFill>
                <a:latin typeface="Calibri"/>
              </a:rPr>
              <a:t> &amp; </a:t>
            </a:r>
            <a:r>
              <a:rPr sz="1600" b="0" i="0" dirty="0" err="1">
                <a:solidFill>
                  <a:srgbClr val="22272B"/>
                </a:solidFill>
                <a:latin typeface="Calibri"/>
              </a:rPr>
              <a:t>nächste</a:t>
            </a:r>
            <a:r>
              <a:rPr sz="1600" b="0" i="0" dirty="0">
                <a:solidFill>
                  <a:srgbClr val="22272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2272B"/>
                </a:solidFill>
                <a:latin typeface="Calibri"/>
              </a:rPr>
              <a:t>Schritte</a:t>
            </a:r>
            <a:endParaRPr sz="1600" b="0" i="0" dirty="0">
              <a:solidFill>
                <a:srgbClr val="22272B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26679" y="1828800"/>
            <a:ext cx="3977639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46719" y="2148840"/>
            <a:ext cx="548640" cy="548640"/>
          </a:xfrm>
          <a:prstGeom prst="ellipse">
            <a:avLst/>
          </a:prstGeom>
          <a:solidFill>
            <a:srgbClr val="F3E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9" y="21305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0912F"/>
                </a:solidFill>
                <a:latin typeface="Cambria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19" y="219456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72B"/>
                </a:solidFill>
                <a:latin typeface="Cambria"/>
              </a:rPr>
              <a:t>Leitfragen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926080"/>
            <a:ext cx="3337559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6C7278"/>
                </a:solidFill>
                <a:latin typeface="Calibri"/>
              </a:rPr>
              <a:t>→   Wie wird das Ergebnis nutzbar?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6C7278"/>
                </a:solidFill>
                <a:latin typeface="Calibri"/>
              </a:rPr>
              <a:t>→   Was übergeben wir?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4315968"/>
            <a:ext cx="3337559" cy="10972"/>
          </a:xfrm>
          <a:prstGeom prst="rect">
            <a:avLst/>
          </a:prstGeom>
          <a:solidFill>
            <a:srgbClr val="E1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9" y="4434840"/>
            <a:ext cx="3337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6C7278"/>
                </a:solidFill>
                <a:latin typeface="Calibri"/>
              </a:rPr>
              <a:t>NOTIZEN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4754880"/>
            <a:ext cx="33375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8A8F94"/>
                </a:solidFill>
                <a:latin typeface="Calibri"/>
              </a:rPr>
              <a:t>Platzhalter für eigene Notizen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1908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900" dirty="0">
                <a:solidFill>
                  <a:srgbClr val="6C7278"/>
                </a:solidFill>
              </a:rPr>
              <a:t>PM2.5-Prognose Beijing  ·  Prophet, Chronos &amp; </a:t>
            </a:r>
            <a:r>
              <a:rPr lang="de-DE" sz="900" dirty="0" err="1">
                <a:solidFill>
                  <a:srgbClr val="6C7278"/>
                </a:solidFill>
              </a:rPr>
              <a:t>PatchTST</a:t>
            </a:r>
            <a:r>
              <a:rPr lang="de-DE" sz="900" dirty="0">
                <a:solidFill>
                  <a:srgbClr val="6C7278"/>
                </a:solidFill>
              </a:rPr>
              <a:t>  ·  CRISP-DM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0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60152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661904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63656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265408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567160" y="6473952"/>
            <a:ext cx="146304" cy="146304"/>
          </a:xfrm>
          <a:prstGeom prst="ellipse">
            <a:avLst/>
          </a:prstGeom>
          <a:solidFill>
            <a:srgbClr val="E0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8" y="6754"/>
            <a:ext cx="12161520" cy="68444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519" y="4974956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 dirty="0" err="1">
                <a:solidFill>
                  <a:srgbClr val="FFFFFF"/>
                </a:solidFill>
                <a:latin typeface="Cambria"/>
              </a:rPr>
              <a:t>Vielen</a:t>
            </a:r>
            <a:r>
              <a:rPr sz="4600" b="1" i="0" dirty="0">
                <a:solidFill>
                  <a:srgbClr val="FFFFFF"/>
                </a:solidFill>
                <a:latin typeface="Cambria"/>
              </a:rPr>
              <a:t> Dank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9398" y="6259766"/>
            <a:ext cx="109728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0" i="0" dirty="0" err="1">
                <a:solidFill>
                  <a:srgbClr val="F0E4CE"/>
                </a:solidFill>
                <a:latin typeface="Calibri"/>
              </a:rPr>
              <a:t>Fragen</a:t>
            </a:r>
            <a:r>
              <a:rPr sz="2000" b="0" i="0" dirty="0">
                <a:solidFill>
                  <a:srgbClr val="F0E4CE"/>
                </a:solidFill>
                <a:latin typeface="Calibri"/>
              </a:rPr>
              <a:t> &amp; </a:t>
            </a:r>
            <a:r>
              <a:rPr sz="2000" b="0" i="0" dirty="0" err="1">
                <a:solidFill>
                  <a:srgbClr val="F0E4CE"/>
                </a:solidFill>
                <a:latin typeface="Calibri"/>
              </a:rPr>
              <a:t>Diskussion</a:t>
            </a:r>
            <a:r>
              <a:rPr sz="2000" b="0" i="0" dirty="0">
                <a:solidFill>
                  <a:srgbClr val="F0E4CE"/>
                </a:solidFill>
                <a:latin typeface="Calibri"/>
              </a:rPr>
              <a:t>   ·   </a:t>
            </a:r>
            <a:r>
              <a:rPr lang="de-DE" sz="2000" dirty="0">
                <a:solidFill>
                  <a:srgbClr val="D7CBB6"/>
                </a:solidFill>
              </a:rPr>
              <a:t>Bettina </a:t>
            </a:r>
            <a:r>
              <a:rPr lang="de-DE" sz="2000" dirty="0" err="1">
                <a:solidFill>
                  <a:srgbClr val="D7CBB6"/>
                </a:solidFill>
              </a:rPr>
              <a:t>Gertjerenken</a:t>
            </a:r>
            <a:r>
              <a:rPr lang="de-DE" sz="2000" dirty="0">
                <a:solidFill>
                  <a:srgbClr val="D7CBB6"/>
                </a:solidFill>
              </a:rPr>
              <a:t>   ·   Kai Steffen</a:t>
            </a:r>
          </a:p>
          <a:p>
            <a:pPr algn="l"/>
            <a:endParaRPr sz="2000" b="0" i="0" dirty="0">
              <a:solidFill>
                <a:srgbClr val="F0E4C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5B2A760-C0DA-4A60-8710-2D77BC185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598" y="1449010"/>
            <a:ext cx="6855286" cy="4721522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4B5C7DD0-3546-9DB9-68C1-D03398AAE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Grenzwerte – WHO Air Quality Guidelines</a:t>
            </a:r>
          </a:p>
        </p:txBody>
      </p:sp>
    </p:spTree>
    <p:extLst>
      <p:ext uri="{BB962C8B-B14F-4D97-AF65-F5344CB8AC3E}">
        <p14:creationId xmlns:p14="http://schemas.microsoft.com/office/powerpoint/2010/main" val="2389352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27E48-6976-9156-C167-9C5DC1F74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 </a:t>
            </a:r>
            <a:r>
              <a:rPr lang="de-DE" dirty="0" err="1"/>
              <a:t>statistics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AFB761B-50B3-0A45-B631-34E024BF1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792" y="1497042"/>
            <a:ext cx="4988254" cy="498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92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0C9980D-1605-A0B9-6A40-B38DD4677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441" y="1095255"/>
            <a:ext cx="5962956" cy="466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023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</Words>
  <Application>Microsoft Office PowerPoint</Application>
  <PresentationFormat>Benutzerdefiniert</PresentationFormat>
  <Paragraphs>128</Paragraphs>
  <Slides>12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Grenzwerte – WHO Air Quality Guidelines</vt:lpstr>
      <vt:lpstr>Dataset statistics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Kai Steffen</dc:creator>
  <cp:keywords/>
  <dc:description>generated using python-pptx</dc:description>
  <cp:lastModifiedBy>Kai Steffen</cp:lastModifiedBy>
  <cp:revision>4</cp:revision>
  <dcterms:created xsi:type="dcterms:W3CDTF">2013-01-27T09:14:16Z</dcterms:created>
  <dcterms:modified xsi:type="dcterms:W3CDTF">2026-07-12T20:10:04Z</dcterms:modified>
  <cp:category/>
</cp:coreProperties>
</file>